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1" r:id="rId5"/>
    <p:sldMasterId id="2147483674" r:id="rId6"/>
    <p:sldMasterId id="2147483687" r:id="rId7"/>
    <p:sldMasterId id="2147483700"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80" r:id="rId39"/>
    <p:sldId id="276" r:id="rId30"/>
    <p:sldId id="277" r:id="rId31"/>
    <p:sldId id="278" r:id="rId32"/>
    <p:sldId id="279" r:id="rId33"/>
  </p:sldIdLst>
  <p:sldSz cy="6858000" cx="12192000"/>
  <p:notesSz cx="7559675" cy="10691800"/>
  <p:embeddedFontLst>
    <p:embeddedFont>
      <p:font typeface="Lato"/>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8" roundtripDataSignature="AMtx7mgXQraAuAWRmcV1gLDXp1oObC+v3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0BF76A3-E3C1-4D28-9EA3-6F8B04578915}">
  <a:tblStyle styleId="{A0BF76A3-E3C1-4D28-9EA3-6F8B0457891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b="off" i="off"/>
      <a:tcStyle>
        <a:fill>
          <a:solidFill>
            <a:srgbClr val="CDD4EA"/>
          </a:solidFill>
        </a:fill>
      </a:tcStyle>
    </a:band1H>
    <a:band2H>
      <a:tcTxStyle b="off" i="off"/>
    </a:band2H>
    <a:band1V>
      <a:tcTxStyle b="off" i="off"/>
      <a:tcStyle>
        <a:fill>
          <a:solidFill>
            <a:srgbClr val="CDD4EA"/>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font" Target="fonts/Lato-regular.fntdata"/><Relationship Id="rId35" Type="http://schemas.openxmlformats.org/officeDocument/2006/relationships/font" Target="fonts/Lato-bold.fntdata"/><Relationship Id="rId36" Type="http://schemas.openxmlformats.org/officeDocument/2006/relationships/font" Target="fonts/Lato-italic.fntdata"/><Relationship Id="rId37" Type="http://schemas.openxmlformats.org/officeDocument/2006/relationships/font" Target="fonts/Lato-boldItalic.fntdata"/><Relationship Id="rId38" Type="http://customschemas.google.com/relationships/presentationmetadata" Target="metadata"/><Relationship Id="rId3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1 - Title] Suggested speaker: P1 (Kiet). Time: about 30 s.</a:t>
            </a:r>
          </a:p>
          <a:p/>
          <a:p>
            <a:r>
              <a:t>Good morning, everyone.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262" name="Google Shape;262;p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p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2 - Outline] Suggested speaker: P1 (Kiet).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p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3 - Outline - Introduction] Suggested speaker: P1 (Kiet). Time: about 5 s.</a:t>
            </a:r>
          </a:p>
          <a:p/>
          <a:p>
            <a:r>
              <a:t>We start with the introduction: the problem and our objectives.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4 - Problem: GitHub Issue Classification] Suggested speaker: P1 (Kiet).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290" name="Google Shape;290;p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5 - Project Objectives] Suggested speaker: P1 (Kiet).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303" name="Google Shape;303;p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p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6 - Outline - Dataset] Suggested speaker: P1 (Kiet). Time: about 5 s.</a:t>
            </a:r>
          </a:p>
          <a:p/>
          <a:p>
            <a:r>
              <a:t>Next, the dataset.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7 - Dataset NLBSE'24] Suggested speaker: P1 (Kiet).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323" name="Google Shape;323;p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8 - Dataset Challenges] Suggested speaker: P1 (Kiet).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333" name="Google Shape;333;p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p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9 - Outline - Methodology] Suggested speaker: P1 (Kiet). Time: about 5 s.</a:t>
            </a:r>
          </a:p>
          <a:p/>
          <a:p>
            <a:r>
              <a:t>Now the methodology: the model families, some background, the evaluation protocols and the pipeline.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10 - Three Model Families] Suggested speaker: P1 (Kiet).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All of them are evaluated under all four protocols: repository-specific cross-validation, pooled cross-validation, leave-one-repository-out and the official test.</a:t>
            </a:r>
          </a:p>
          <a:p/>
          <a:p>
            <a:r>
              <a:t>The second family is RoBERTa-base with a maximum of 160 tokens. We train it with full fine-tuning and with LoRA adapters of rank 48, and it is also evaluated under all four protocols.</a:t>
            </a:r>
          </a:p>
          <a:p/>
          <a:p>
            <a:r>
              <a:t>The third family is SetFit, with MPNet and MiniLM sentence encoders. It is a few-shot method, so we study 8, 16 and 32 examples per class and between 5 and 80 contrastive iterations. SetFit was evaluated under cross-validation, and MPNet also on the official test.</a:t>
            </a:r>
          </a:p>
          <a:p/>
          <a:p>
            <a:r>
              <a:t>All three families use exactly the same data and evaluation pipeline.</a:t>
            </a:r>
          </a:p>
        </p:txBody>
      </p:sp>
      <p:sp>
        <p:nvSpPr>
          <p:cNvPr id="355" name="Google Shape;355;p1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11 - Background: Transformer and RoBERTa] Suggested speaker: P3 (Anh).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365" name="Google Shape;365;p1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12 - LoRA and SetFit] Suggested speaker: P3 (Anh) for LoRA, P4 (Nam) for SetFit.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p:txBody>
      </p:sp>
      <p:sp>
        <p:nvSpPr>
          <p:cNvPr id="374" name="Google Shape;374;p1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13 - Four Evaluation Protocols] Suggested speaker: P1 (Kiet).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ran this protocol for Logistic Regression, the sparse models and RoBERTa, but not for SetFit.</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400" name="Google Shape;400;p1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14 - System Pipeline and Contributions] Suggested speaker: P1 (Kiet).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4" name="Google Shape;514;p1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1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8" name="Google Shape;538;p1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15 - Outline - Experiments &amp; Results] Suggested speaker: P1 (Kiet). Time: about 5 s.</a:t>
            </a:r>
          </a:p>
          <a:p/>
          <a:p>
            <a:r>
              <a:t>Now the experiments and results, starting with the baseline.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1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16 - Baseline: TF-IDF + Logistic Regression] Suggested speaker: P1 (Kiet).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48" name="Google Shape;548;p1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17 - Lightweight Models] Suggested speaker: P2 (Hieu). Time: about 80 s.</a:t>
            </a:r>
          </a:p>
          <a:p/>
          <a:p>
            <a:r>
              <a:t>Hieu's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p:txBody>
      </p:sp>
      <p:sp>
        <p:nvSpPr>
          <p:cNvPr id="558" name="Google Shape;558;p1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18 - RoBERTa: Full fine-tuning vs LoRA] Suggested speaker: P3 (Anh). Time: about 100 s.</a:t>
            </a:r>
          </a:p>
          <a:p/>
          <a:p>
            <a:r>
              <a:t>Anh's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We also ran RoBERTa under the other three protocols. Under pooled cross-validation, LoRA reaches 0.7994 and full fine-tuning 0.7924. Under leave-one-repository-out, on repositories the model has never seen, the scores are 0.6867 for full fine-tuning and 0.6896 for LoRA, which is far above the sparse models. On the official test, full fine-tuning reaches 0.8033 and LoRA 0.7937. The official setting trains on all 300 issues of a repository, 25 percent more than a cross-validation fold, which partly explains why the scores are higher than under cross-validation. We report each protocol separately and never rank across them.</a:t>
            </a:r>
          </a:p>
          <a:p/>
          <a:p>
            <a:r>
              <a:t>Finally, the two training recipes differ: full fine-tuning uses a learning rate of 2e-5 and LoRA 3e-4, with different weight decay. So we cannot attribute the differences only to the adapter mechanism.</a:t>
            </a:r>
          </a:p>
        </p:txBody>
      </p:sp>
      <p:sp>
        <p:nvSpPr>
          <p:cNvPr id="567" name="Google Shape;567;p1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1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19 - SetFit: Data Size and Contrastive Iterations] Suggested speaker: P4 (Nam). Time: about 90 s.</a:t>
            </a:r>
          </a:p>
          <a:p/>
          <a:p>
            <a:r>
              <a:t>Nam's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a:p/>
          <a:p>
            <a:r>
              <a:t>On the official test, SetFit MPNet with 20 iterations reaches 0.8033, compared with 0.7953 under cross-validation. SetFit was not run under leave-one-repository-out or pooled cross-validation, so we make no claim about its transfer to unseen repositories.</a:t>
            </a:r>
          </a:p>
        </p:txBody>
      </p:sp>
      <p:sp>
        <p:nvSpPr>
          <p:cNvPr id="575" name="Google Shape;575;p1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2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20 - Overall Comparison (repo-specific CV)] Suggested speaker: P5 (Dung). Time: about 80 s.</a:t>
            </a:r>
          </a:p>
          <a:p/>
          <a:p>
            <a:r>
              <a:t>Dung's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leave-one-repository-out and the official test are shown on the next slide. Please do not rank those numbers against this chart.</a:t>
            </a:r>
          </a:p>
        </p:txBody>
      </p:sp>
      <p:sp>
        <p:nvSpPr>
          <p:cNvPr id="584" name="Google Shape;584;p2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4" name="Google Shape;594;p2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22 - Outline - Conclusion] Suggested speaker: P5 (Dung). Time: about 5 s.</a:t>
            </a:r>
          </a:p>
          <a:p/>
          <a:p>
            <a:r>
              <a:t>Finally, the conclusion.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2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23 - Conclusion] Suggested speaker: P5 (Dung).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are the strongest under every protocol they were run. The gain is moderate under cross-validation, about 0.03 for SetFit MPNet over Logistic Regression. It is larger on the official test, 0.8033 against 0.7591 for the best sparse model, and larger again under LOO, where RoBERTa reaches about 0.69 against at most 0.62 for the sparse models. Sparse models stay attractive when simplicity and low cost matter and the target repository is in the training data.</a:t>
            </a:r>
          </a:p>
          <a:p/>
          <a:p>
            <a:r>
              <a:t>Third, a simple hard-vote ensemble of Logistic Regression and MPNet, 0.7885, does not beat MPNet alone.</a:t>
            </a:r>
          </a:p>
          <a:p/>
          <a:p>
            <a:r>
              <a:t>Now the limitations, which we consider part of the result. All results use a single seed, and configurations were selected using cross-validation, so those scores can be optimistic. Hardware and measurement conditions differ across runs, so our cost numbers are descriptive and not a controlled Pareto comparison. And SetFit was not run under pooled cross-validation or LOO, and MiniLM not on the official test, so we make no claim about SetFit on unseen repositories.</a:t>
            </a:r>
          </a:p>
          <a:p/>
          <a:p>
            <a:r>
              <a:t>Future work: run the remaining SetFit protocols with consistent seeds, benchmark cost on one documented hardware setup, and extend the class-level error analysis beyond Logistic Regression.</a:t>
            </a:r>
          </a:p>
        </p:txBody>
      </p:sp>
      <p:sp>
        <p:nvSpPr>
          <p:cNvPr id="604" name="Google Shape;604;p2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24 - Thank you / Q&amp;A] Suggested speaker: All.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the dense models lose less under LOO? We did not test the reason. A plausible hypothesis is that pretrained representations depend less on repository-specific vocabulary than TF-IDF features, but that is a hypothesis, not a result.</a:t>
            </a:r>
          </a:p>
          <a:p/>
          <a:p>
            <a:r>
              <a:t>Why does SetFit have no LOO or pooled results? SetFit was run under cross-validation, and MPNet also on the official test. The remaining runs did not fit in the time available. The results table marks them as not run, never as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 and every result is a single seed.</a:t>
            </a:r>
          </a:p>
          <a:p/>
          <a:p>
            <a:r>
              <a:t>Why is there no Pareto front of cost versus accuracy? The runs were done on different machines and the hardware and measurement conditions are not comparable, so we only describe costs and do not claim a controlled comparison.</a:t>
            </a:r>
          </a:p>
          <a:p/>
          <a:p>
            <a:r>
              <a:t>Is the official test used for model selection? No. Configurations were frozen using cross-validation, and the official test was run once per configuration.</a:t>
            </a:r>
          </a:p>
          <a:p/>
          <a:p>
            <a:r>
              <a:t>What about the duplicate issues between train and test? There are 3 shared keys, 1 with conflicting labels. We kept the official split for comparability and did not report a de-duplicated score.</a:t>
            </a:r>
          </a:p>
        </p:txBody>
      </p:sp>
      <p:sp>
        <p:nvSpPr>
          <p:cNvPr id="610" name="Google Shape;610;p2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2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25 - Closing slide] Suggested speaker: All.</a:t>
            </a:r>
          </a:p>
          <a:p/>
          <a:p>
            <a:r>
              <a:t>End of the presentation. Keep this slide up during questions, or go back to slide 22 (conclusion) or slide 13 (protocols) if a question needs it.</a:t>
            </a:r>
          </a:p>
        </p:txBody>
      </p:sp>
      <p:sp>
        <p:nvSpPr>
          <p:cNvPr id="615" name="Google Shape;615;p2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21 - Results Across All Four Protocols] Suggested speaker: P5 (Dung). Time: about 110 s.</a:t>
            </a:r>
          </a:p>
          <a:p/>
          <a:p>
            <a:r>
              <a:t>This slide puts every frozen configuration under every protocol it was run under. The table is generated automatically from the result artifacts, so it cannot drift from the data. Read it column by column: each protocol trains and evaluates differently, so we never compare across columns. A cell that says not run means no artifacts exist; nothing is imputed.</a:t>
            </a:r>
          </a:p>
          <a:p/>
          <a:p>
            <a:r>
              <a:t>Official test, the right-hand column. RoBERTa full fine-tuning and SetFit MPNet both reach 0.8033, RoBERTa LoRA 0.7937. The best sparse model, word-plus-character LinearSVC, reaches 0.7591 and Logistic Regression 0.7495. So on the official split the dense advantage is about 0.04 to 0.05, larger than the 0.03 we saw under cross-validation. The two top scores differ only in the sixth decimal, so we do not rank them.</a:t>
            </a:r>
          </a:p>
          <a:p/>
          <a:p>
            <a:r>
              <a:t>Leave-one-repository-out. Every model drops sharply when the repository is unseen. But RoBERTa, at about 0.69, loses much less than the sparse models, which score between 0.49 and 0.62. Logistic Regression falls by 0.176 relative to cross-validation, RoBERTa by about 0.09 to 0.10.</a:t>
            </a:r>
          </a:p>
          <a:p/>
          <a:p>
            <a:r>
              <a:t>Pooled cross-validation shows no consistent effect: relative to repository-specific cross-validation it ranges from minus 0.03 for Complement Naive Bayes to plus 0.043 for hashed SGD.</a:t>
            </a:r>
          </a:p>
          <a:p/>
          <a:p>
            <a:r>
              <a:t>The gaps are stated on the slide: SetFit was not run under pooled cross-validation or LOO, and MiniLM not on the official test. Everything is a single seed, and the new runs were produced on one laptop, so timings from different machines are not comparable.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8"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9" name="Shape 9"/>
        <p:cNvGrpSpPr/>
        <p:nvPr/>
      </p:nvGrpSpPr>
      <p:grpSpPr>
        <a:xfrm>
          <a:off x="0" y="0"/>
          <a:ext cx="0" cy="0"/>
          <a:chOff x="0" y="0"/>
          <a:chExt cx="0" cy="0"/>
        </a:xfrm>
      </p:grpSpPr>
      <p:sp>
        <p:nvSpPr>
          <p:cNvPr id="10" name="Google Shape;10;p3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35"/>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 name="Shape 12"/>
        <p:cNvGrpSpPr/>
        <p:nvPr/>
      </p:nvGrpSpPr>
      <p:grpSpPr>
        <a:xfrm>
          <a:off x="0" y="0"/>
          <a:ext cx="0" cy="0"/>
          <a:chOff x="0" y="0"/>
          <a:chExt cx="0" cy="0"/>
        </a:xfrm>
      </p:grpSpPr>
      <p:sp>
        <p:nvSpPr>
          <p:cNvPr id="13" name="Google Shape;13;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5" name="Shape 15"/>
        <p:cNvGrpSpPr/>
        <p:nvPr/>
      </p:nvGrpSpPr>
      <p:grpSpPr>
        <a:xfrm>
          <a:off x="0" y="0"/>
          <a:ext cx="0" cy="0"/>
          <a:chOff x="0" y="0"/>
          <a:chExt cx="0" cy="0"/>
        </a:xfrm>
      </p:grpSpPr>
      <p:sp>
        <p:nvSpPr>
          <p:cNvPr id="16" name="Google Shape;16;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 name="Google Shape;18;p3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 name="Shape 19"/>
        <p:cNvGrpSpPr/>
        <p:nvPr/>
      </p:nvGrpSpPr>
      <p:grpSpPr>
        <a:xfrm>
          <a:off x="0" y="0"/>
          <a:ext cx="0" cy="0"/>
          <a:chOff x="0" y="0"/>
          <a:chExt cx="0" cy="0"/>
        </a:xfrm>
      </p:grpSpPr>
      <p:sp>
        <p:nvSpPr>
          <p:cNvPr id="20" name="Google Shape;20;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1" name="Shape 21"/>
        <p:cNvGrpSpPr/>
        <p:nvPr/>
      </p:nvGrpSpPr>
      <p:grpSpPr>
        <a:xfrm>
          <a:off x="0" y="0"/>
          <a:ext cx="0" cy="0"/>
          <a:chOff x="0" y="0"/>
          <a:chExt cx="0" cy="0"/>
        </a:xfrm>
      </p:grpSpPr>
      <p:sp>
        <p:nvSpPr>
          <p:cNvPr id="22" name="Google Shape;22;p39"/>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4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 name="Google Shape;26;p4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 name="Google Shape;27;p4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4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4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 name="Google Shape;32;p41"/>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4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 name="Google Shape;36;p4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42"/>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8" name="Shape 38"/>
        <p:cNvGrpSpPr/>
        <p:nvPr/>
      </p:nvGrpSpPr>
      <p:grpSpPr>
        <a:xfrm>
          <a:off x="0" y="0"/>
          <a:ext cx="0" cy="0"/>
          <a:chOff x="0" y="0"/>
          <a:chExt cx="0" cy="0"/>
        </a:xfrm>
      </p:grpSpPr>
      <p:sp>
        <p:nvSpPr>
          <p:cNvPr id="39" name="Google Shape;39;p4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3"/>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 name="Google Shape;41;p43"/>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2" name="Shape 42"/>
        <p:cNvGrpSpPr/>
        <p:nvPr/>
      </p:nvGrpSpPr>
      <p:grpSpPr>
        <a:xfrm>
          <a:off x="0" y="0"/>
          <a:ext cx="0" cy="0"/>
          <a:chOff x="0" y="0"/>
          <a:chExt cx="0" cy="0"/>
        </a:xfrm>
      </p:grpSpPr>
      <p:sp>
        <p:nvSpPr>
          <p:cNvPr id="43" name="Google Shape;43;p4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4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5" name="Google Shape;45;p4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6" name="Google Shape;46;p4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7" name="Google Shape;47;p44"/>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8" name="Shape 48"/>
        <p:cNvGrpSpPr/>
        <p:nvPr/>
      </p:nvGrpSpPr>
      <p:grpSpPr>
        <a:xfrm>
          <a:off x="0" y="0"/>
          <a:ext cx="0" cy="0"/>
          <a:chOff x="0" y="0"/>
          <a:chExt cx="0" cy="0"/>
        </a:xfrm>
      </p:grpSpPr>
      <p:sp>
        <p:nvSpPr>
          <p:cNvPr id="49" name="Google Shape;49;p4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45"/>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1" name="Google Shape;51;p45"/>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2" name="Google Shape;52;p45"/>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3" name="Google Shape;53;p45"/>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4" name="Google Shape;54;p45"/>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5" name="Google Shape;55;p45"/>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0" name="Shape 60"/>
        <p:cNvGrpSpPr/>
        <p:nvPr/>
      </p:nvGrpSpPr>
      <p:grpSpPr>
        <a:xfrm>
          <a:off x="0" y="0"/>
          <a:ext cx="0" cy="0"/>
          <a:chOff x="0" y="0"/>
          <a:chExt cx="0" cy="0"/>
        </a:xfrm>
      </p:grpSpPr>
      <p:sp>
        <p:nvSpPr>
          <p:cNvPr id="61" name="Google Shape;61;p4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46"/>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3" name="Shape 63"/>
        <p:cNvGrpSpPr/>
        <p:nvPr/>
      </p:nvGrpSpPr>
      <p:grpSpPr>
        <a:xfrm>
          <a:off x="0" y="0"/>
          <a:ext cx="0" cy="0"/>
          <a:chOff x="0" y="0"/>
          <a:chExt cx="0" cy="0"/>
        </a:xfrm>
      </p:grpSpPr>
      <p:sp>
        <p:nvSpPr>
          <p:cNvPr id="64" name="Google Shape;64;p4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4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66" name="Shape 66"/>
        <p:cNvGrpSpPr/>
        <p:nvPr/>
      </p:nvGrpSpPr>
      <p:grpSpPr>
        <a:xfrm>
          <a:off x="0" y="0"/>
          <a:ext cx="0" cy="0"/>
          <a:chOff x="0" y="0"/>
          <a:chExt cx="0" cy="0"/>
        </a:xfrm>
      </p:grpSpPr>
      <p:sp>
        <p:nvSpPr>
          <p:cNvPr id="67" name="Google Shape;67;p4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4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9" name="Google Shape;69;p4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4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72" name="Shape 72"/>
        <p:cNvGrpSpPr/>
        <p:nvPr/>
      </p:nvGrpSpPr>
      <p:grpSpPr>
        <a:xfrm>
          <a:off x="0" y="0"/>
          <a:ext cx="0" cy="0"/>
          <a:chOff x="0" y="0"/>
          <a:chExt cx="0" cy="0"/>
        </a:xfrm>
      </p:grpSpPr>
      <p:sp>
        <p:nvSpPr>
          <p:cNvPr id="73" name="Google Shape;73;p50"/>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74" name="Shape 74"/>
        <p:cNvGrpSpPr/>
        <p:nvPr/>
      </p:nvGrpSpPr>
      <p:grpSpPr>
        <a:xfrm>
          <a:off x="0" y="0"/>
          <a:ext cx="0" cy="0"/>
          <a:chOff x="0" y="0"/>
          <a:chExt cx="0" cy="0"/>
        </a:xfrm>
      </p:grpSpPr>
      <p:sp>
        <p:nvSpPr>
          <p:cNvPr id="75" name="Google Shape;75;p5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7" name="Google Shape;77;p5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8" name="Google Shape;78;p5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79" name="Shape 79"/>
        <p:cNvGrpSpPr/>
        <p:nvPr/>
      </p:nvGrpSpPr>
      <p:grpSpPr>
        <a:xfrm>
          <a:off x="0" y="0"/>
          <a:ext cx="0" cy="0"/>
          <a:chOff x="0" y="0"/>
          <a:chExt cx="0" cy="0"/>
        </a:xfrm>
      </p:grpSpPr>
      <p:sp>
        <p:nvSpPr>
          <p:cNvPr id="80" name="Google Shape;80;p5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52"/>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2" name="Google Shape;82;p5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3" name="Google Shape;83;p52"/>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84" name="Shape 84"/>
        <p:cNvGrpSpPr/>
        <p:nvPr/>
      </p:nvGrpSpPr>
      <p:grpSpPr>
        <a:xfrm>
          <a:off x="0" y="0"/>
          <a:ext cx="0" cy="0"/>
          <a:chOff x="0" y="0"/>
          <a:chExt cx="0" cy="0"/>
        </a:xfrm>
      </p:grpSpPr>
      <p:sp>
        <p:nvSpPr>
          <p:cNvPr id="85" name="Google Shape;85;p5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5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7" name="Google Shape;87;p5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8" name="Google Shape;88;p53"/>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89" name="Shape 89"/>
        <p:cNvGrpSpPr/>
        <p:nvPr/>
      </p:nvGrpSpPr>
      <p:grpSpPr>
        <a:xfrm>
          <a:off x="0" y="0"/>
          <a:ext cx="0" cy="0"/>
          <a:chOff x="0" y="0"/>
          <a:chExt cx="0" cy="0"/>
        </a:xfrm>
      </p:grpSpPr>
      <p:sp>
        <p:nvSpPr>
          <p:cNvPr id="90" name="Google Shape;90;p5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4"/>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2" name="Google Shape;92;p54"/>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93" name="Shape 93"/>
        <p:cNvGrpSpPr/>
        <p:nvPr/>
      </p:nvGrpSpPr>
      <p:grpSpPr>
        <a:xfrm>
          <a:off x="0" y="0"/>
          <a:ext cx="0" cy="0"/>
          <a:chOff x="0" y="0"/>
          <a:chExt cx="0" cy="0"/>
        </a:xfrm>
      </p:grpSpPr>
      <p:sp>
        <p:nvSpPr>
          <p:cNvPr id="94" name="Google Shape;94;p5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5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6" name="Google Shape;96;p5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55"/>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55"/>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99" name="Shape 99"/>
        <p:cNvGrpSpPr/>
        <p:nvPr/>
      </p:nvGrpSpPr>
      <p:grpSpPr>
        <a:xfrm>
          <a:off x="0" y="0"/>
          <a:ext cx="0" cy="0"/>
          <a:chOff x="0" y="0"/>
          <a:chExt cx="0" cy="0"/>
        </a:xfrm>
      </p:grpSpPr>
      <p:sp>
        <p:nvSpPr>
          <p:cNvPr id="100" name="Google Shape;100;p5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6"/>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2" name="Google Shape;102;p56"/>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3" name="Google Shape;103;p56"/>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4" name="Google Shape;104;p56"/>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5" name="Google Shape;105;p56"/>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6" name="Google Shape;106;p56"/>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10"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11" name="Shape 111"/>
        <p:cNvGrpSpPr/>
        <p:nvPr/>
      </p:nvGrpSpPr>
      <p:grpSpPr>
        <a:xfrm>
          <a:off x="0" y="0"/>
          <a:ext cx="0" cy="0"/>
          <a:chOff x="0" y="0"/>
          <a:chExt cx="0" cy="0"/>
        </a:xfrm>
      </p:grpSpPr>
      <p:sp>
        <p:nvSpPr>
          <p:cNvPr id="112" name="Google Shape;112;p5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7"/>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14" name="Shape 114"/>
        <p:cNvGrpSpPr/>
        <p:nvPr/>
      </p:nvGrpSpPr>
      <p:grpSpPr>
        <a:xfrm>
          <a:off x="0" y="0"/>
          <a:ext cx="0" cy="0"/>
          <a:chOff x="0" y="0"/>
          <a:chExt cx="0" cy="0"/>
        </a:xfrm>
      </p:grpSpPr>
      <p:sp>
        <p:nvSpPr>
          <p:cNvPr id="115" name="Google Shape;115;p5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58"/>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17" name="Shape 117"/>
        <p:cNvGrpSpPr/>
        <p:nvPr/>
      </p:nvGrpSpPr>
      <p:grpSpPr>
        <a:xfrm>
          <a:off x="0" y="0"/>
          <a:ext cx="0" cy="0"/>
          <a:chOff x="0" y="0"/>
          <a:chExt cx="0" cy="0"/>
        </a:xfrm>
      </p:grpSpPr>
      <p:sp>
        <p:nvSpPr>
          <p:cNvPr id="118" name="Google Shape;118;p5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59"/>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0" name="Google Shape;120;p59"/>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1" name="Shape 121"/>
        <p:cNvGrpSpPr/>
        <p:nvPr/>
      </p:nvGrpSpPr>
      <p:grpSpPr>
        <a:xfrm>
          <a:off x="0" y="0"/>
          <a:ext cx="0" cy="0"/>
          <a:chOff x="0" y="0"/>
          <a:chExt cx="0" cy="0"/>
        </a:xfrm>
      </p:grpSpPr>
      <p:sp>
        <p:nvSpPr>
          <p:cNvPr id="122" name="Google Shape;122;p6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23" name="Shape 123"/>
        <p:cNvGrpSpPr/>
        <p:nvPr/>
      </p:nvGrpSpPr>
      <p:grpSpPr>
        <a:xfrm>
          <a:off x="0" y="0"/>
          <a:ext cx="0" cy="0"/>
          <a:chOff x="0" y="0"/>
          <a:chExt cx="0" cy="0"/>
        </a:xfrm>
      </p:grpSpPr>
      <p:sp>
        <p:nvSpPr>
          <p:cNvPr id="124" name="Google Shape;124;p61"/>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25" name="Shape 125"/>
        <p:cNvGrpSpPr/>
        <p:nvPr/>
      </p:nvGrpSpPr>
      <p:grpSpPr>
        <a:xfrm>
          <a:off x="0" y="0"/>
          <a:ext cx="0" cy="0"/>
          <a:chOff x="0" y="0"/>
          <a:chExt cx="0" cy="0"/>
        </a:xfrm>
      </p:grpSpPr>
      <p:sp>
        <p:nvSpPr>
          <p:cNvPr id="126" name="Google Shape;126;p6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8" name="Google Shape;128;p62"/>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9" name="Google Shape;129;p62"/>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30" name="Shape 130"/>
        <p:cNvGrpSpPr/>
        <p:nvPr/>
      </p:nvGrpSpPr>
      <p:grpSpPr>
        <a:xfrm>
          <a:off x="0" y="0"/>
          <a:ext cx="0" cy="0"/>
          <a:chOff x="0" y="0"/>
          <a:chExt cx="0" cy="0"/>
        </a:xfrm>
      </p:grpSpPr>
      <p:sp>
        <p:nvSpPr>
          <p:cNvPr id="131" name="Google Shape;131;p6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6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3" name="Google Shape;133;p6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4" name="Google Shape;134;p63"/>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35" name="Shape 135"/>
        <p:cNvGrpSpPr/>
        <p:nvPr/>
      </p:nvGrpSpPr>
      <p:grpSpPr>
        <a:xfrm>
          <a:off x="0" y="0"/>
          <a:ext cx="0" cy="0"/>
          <a:chOff x="0" y="0"/>
          <a:chExt cx="0" cy="0"/>
        </a:xfrm>
      </p:grpSpPr>
      <p:sp>
        <p:nvSpPr>
          <p:cNvPr id="136" name="Google Shape;136;p6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8" name="Google Shape;138;p6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9" name="Google Shape;139;p64"/>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40" name="Shape 140"/>
        <p:cNvGrpSpPr/>
        <p:nvPr/>
      </p:nvGrpSpPr>
      <p:grpSpPr>
        <a:xfrm>
          <a:off x="0" y="0"/>
          <a:ext cx="0" cy="0"/>
          <a:chOff x="0" y="0"/>
          <a:chExt cx="0" cy="0"/>
        </a:xfrm>
      </p:grpSpPr>
      <p:sp>
        <p:nvSpPr>
          <p:cNvPr id="141" name="Google Shape;141;p6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5"/>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3" name="Google Shape;143;p65"/>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44" name="Shape 144"/>
        <p:cNvGrpSpPr/>
        <p:nvPr/>
      </p:nvGrpSpPr>
      <p:grpSpPr>
        <a:xfrm>
          <a:off x="0" y="0"/>
          <a:ext cx="0" cy="0"/>
          <a:chOff x="0" y="0"/>
          <a:chExt cx="0" cy="0"/>
        </a:xfrm>
      </p:grpSpPr>
      <p:sp>
        <p:nvSpPr>
          <p:cNvPr id="145" name="Google Shape;145;p6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6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7" name="Google Shape;147;p6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8" name="Google Shape;148;p6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9" name="Google Shape;149;p66"/>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50" name="Shape 150"/>
        <p:cNvGrpSpPr/>
        <p:nvPr/>
      </p:nvGrpSpPr>
      <p:grpSpPr>
        <a:xfrm>
          <a:off x="0" y="0"/>
          <a:ext cx="0" cy="0"/>
          <a:chOff x="0" y="0"/>
          <a:chExt cx="0" cy="0"/>
        </a:xfrm>
      </p:grpSpPr>
      <p:sp>
        <p:nvSpPr>
          <p:cNvPr id="151" name="Google Shape;151;p6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67"/>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3" name="Google Shape;153;p67"/>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4" name="Google Shape;154;p67"/>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5" name="Google Shape;155;p67"/>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6" name="Google Shape;156;p67"/>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7" name="Google Shape;157;p67"/>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62" name="Shape 162"/>
        <p:cNvGrpSpPr/>
        <p:nvPr/>
      </p:nvGrpSpPr>
      <p:grpSpPr>
        <a:xfrm>
          <a:off x="0" y="0"/>
          <a:ext cx="0" cy="0"/>
          <a:chOff x="0" y="0"/>
          <a:chExt cx="0" cy="0"/>
        </a:xfrm>
      </p:grpSpPr>
      <p:sp>
        <p:nvSpPr>
          <p:cNvPr id="163" name="Google Shape;163;p6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p68"/>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5" name="Shape 165"/>
        <p:cNvGrpSpPr/>
        <p:nvPr/>
      </p:nvGrpSpPr>
      <p:grpSpPr>
        <a:xfrm>
          <a:off x="0" y="0"/>
          <a:ext cx="0" cy="0"/>
          <a:chOff x="0" y="0"/>
          <a:chExt cx="0" cy="0"/>
        </a:xfrm>
      </p:grpSpPr>
      <p:sp>
        <p:nvSpPr>
          <p:cNvPr id="166" name="Google Shape;166;p6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7" name="Google Shape;167;p6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68" name="Shape 168"/>
        <p:cNvGrpSpPr/>
        <p:nvPr/>
      </p:nvGrpSpPr>
      <p:grpSpPr>
        <a:xfrm>
          <a:off x="0" y="0"/>
          <a:ext cx="0" cy="0"/>
          <a:chOff x="0" y="0"/>
          <a:chExt cx="0" cy="0"/>
        </a:xfrm>
      </p:grpSpPr>
      <p:sp>
        <p:nvSpPr>
          <p:cNvPr id="169" name="Google Shape;169;p7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p7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1" name="Google Shape;171;p7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p7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74" name="Shape 174"/>
        <p:cNvGrpSpPr/>
        <p:nvPr/>
      </p:nvGrpSpPr>
      <p:grpSpPr>
        <a:xfrm>
          <a:off x="0" y="0"/>
          <a:ext cx="0" cy="0"/>
          <a:chOff x="0" y="0"/>
          <a:chExt cx="0" cy="0"/>
        </a:xfrm>
      </p:grpSpPr>
      <p:sp>
        <p:nvSpPr>
          <p:cNvPr id="175" name="Google Shape;175;p72"/>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76" name="Shape 176"/>
        <p:cNvGrpSpPr/>
        <p:nvPr/>
      </p:nvGrpSpPr>
      <p:grpSpPr>
        <a:xfrm>
          <a:off x="0" y="0"/>
          <a:ext cx="0" cy="0"/>
          <a:chOff x="0" y="0"/>
          <a:chExt cx="0" cy="0"/>
        </a:xfrm>
      </p:grpSpPr>
      <p:sp>
        <p:nvSpPr>
          <p:cNvPr id="177" name="Google Shape;177;p7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8" name="Google Shape;178;p7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9" name="Google Shape;179;p7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0" name="Google Shape;180;p7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81" name="Shape 181"/>
        <p:cNvGrpSpPr/>
        <p:nvPr/>
      </p:nvGrpSpPr>
      <p:grpSpPr>
        <a:xfrm>
          <a:off x="0" y="0"/>
          <a:ext cx="0" cy="0"/>
          <a:chOff x="0" y="0"/>
          <a:chExt cx="0" cy="0"/>
        </a:xfrm>
      </p:grpSpPr>
      <p:sp>
        <p:nvSpPr>
          <p:cNvPr id="182" name="Google Shape;182;p7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7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4" name="Google Shape;184;p7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5" name="Google Shape;185;p74"/>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86" name="Shape 186"/>
        <p:cNvGrpSpPr/>
        <p:nvPr/>
      </p:nvGrpSpPr>
      <p:grpSpPr>
        <a:xfrm>
          <a:off x="0" y="0"/>
          <a:ext cx="0" cy="0"/>
          <a:chOff x="0" y="0"/>
          <a:chExt cx="0" cy="0"/>
        </a:xfrm>
      </p:grpSpPr>
      <p:sp>
        <p:nvSpPr>
          <p:cNvPr id="187" name="Google Shape;187;p7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7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9" name="Google Shape;189;p7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0" name="Google Shape;190;p75"/>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91" name="Shape 191"/>
        <p:cNvGrpSpPr/>
        <p:nvPr/>
      </p:nvGrpSpPr>
      <p:grpSpPr>
        <a:xfrm>
          <a:off x="0" y="0"/>
          <a:ext cx="0" cy="0"/>
          <a:chOff x="0" y="0"/>
          <a:chExt cx="0" cy="0"/>
        </a:xfrm>
      </p:grpSpPr>
      <p:sp>
        <p:nvSpPr>
          <p:cNvPr id="192" name="Google Shape;192;p7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3" name="Google Shape;193;p76"/>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4" name="Google Shape;194;p76"/>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95" name="Shape 195"/>
        <p:cNvGrpSpPr/>
        <p:nvPr/>
      </p:nvGrpSpPr>
      <p:grpSpPr>
        <a:xfrm>
          <a:off x="0" y="0"/>
          <a:ext cx="0" cy="0"/>
          <a:chOff x="0" y="0"/>
          <a:chExt cx="0" cy="0"/>
        </a:xfrm>
      </p:grpSpPr>
      <p:sp>
        <p:nvSpPr>
          <p:cNvPr id="196" name="Google Shape;196;p7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p7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8" name="Google Shape;198;p7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9" name="Google Shape;199;p7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0" name="Google Shape;200;p77"/>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01" name="Shape 201"/>
        <p:cNvGrpSpPr/>
        <p:nvPr/>
      </p:nvGrpSpPr>
      <p:grpSpPr>
        <a:xfrm>
          <a:off x="0" y="0"/>
          <a:ext cx="0" cy="0"/>
          <a:chOff x="0" y="0"/>
          <a:chExt cx="0" cy="0"/>
        </a:xfrm>
      </p:grpSpPr>
      <p:sp>
        <p:nvSpPr>
          <p:cNvPr id="202" name="Google Shape;202;p7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3" name="Google Shape;203;p78"/>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4" name="Google Shape;204;p78"/>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5" name="Google Shape;205;p78"/>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6" name="Google Shape;206;p78"/>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7" name="Google Shape;207;p78"/>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8" name="Google Shape;208;p78"/>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12"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13" name="Shape 213"/>
        <p:cNvGrpSpPr/>
        <p:nvPr/>
      </p:nvGrpSpPr>
      <p:grpSpPr>
        <a:xfrm>
          <a:off x="0" y="0"/>
          <a:ext cx="0" cy="0"/>
          <a:chOff x="0" y="0"/>
          <a:chExt cx="0" cy="0"/>
        </a:xfrm>
      </p:grpSpPr>
      <p:sp>
        <p:nvSpPr>
          <p:cNvPr id="214" name="Google Shape;214;p7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5" name="Google Shape;215;p79"/>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16" name="Shape 216"/>
        <p:cNvGrpSpPr/>
        <p:nvPr/>
      </p:nvGrpSpPr>
      <p:grpSpPr>
        <a:xfrm>
          <a:off x="0" y="0"/>
          <a:ext cx="0" cy="0"/>
          <a:chOff x="0" y="0"/>
          <a:chExt cx="0" cy="0"/>
        </a:xfrm>
      </p:grpSpPr>
      <p:sp>
        <p:nvSpPr>
          <p:cNvPr id="217" name="Google Shape;217;p8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8" name="Google Shape;218;p80"/>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19" name="Shape 219"/>
        <p:cNvGrpSpPr/>
        <p:nvPr/>
      </p:nvGrpSpPr>
      <p:grpSpPr>
        <a:xfrm>
          <a:off x="0" y="0"/>
          <a:ext cx="0" cy="0"/>
          <a:chOff x="0" y="0"/>
          <a:chExt cx="0" cy="0"/>
        </a:xfrm>
      </p:grpSpPr>
      <p:sp>
        <p:nvSpPr>
          <p:cNvPr id="220" name="Google Shape;220;p8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1" name="Google Shape;221;p8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22" name="Google Shape;222;p8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3" name="Shape 223"/>
        <p:cNvGrpSpPr/>
        <p:nvPr/>
      </p:nvGrpSpPr>
      <p:grpSpPr>
        <a:xfrm>
          <a:off x="0" y="0"/>
          <a:ext cx="0" cy="0"/>
          <a:chOff x="0" y="0"/>
          <a:chExt cx="0" cy="0"/>
        </a:xfrm>
      </p:grpSpPr>
      <p:sp>
        <p:nvSpPr>
          <p:cNvPr id="224" name="Google Shape;224;p8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25" name="Shape 225"/>
        <p:cNvGrpSpPr/>
        <p:nvPr/>
      </p:nvGrpSpPr>
      <p:grpSpPr>
        <a:xfrm>
          <a:off x="0" y="0"/>
          <a:ext cx="0" cy="0"/>
          <a:chOff x="0" y="0"/>
          <a:chExt cx="0" cy="0"/>
        </a:xfrm>
      </p:grpSpPr>
      <p:sp>
        <p:nvSpPr>
          <p:cNvPr id="226" name="Google Shape;226;p83"/>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27" name="Shape 227"/>
        <p:cNvGrpSpPr/>
        <p:nvPr/>
      </p:nvGrpSpPr>
      <p:grpSpPr>
        <a:xfrm>
          <a:off x="0" y="0"/>
          <a:ext cx="0" cy="0"/>
          <a:chOff x="0" y="0"/>
          <a:chExt cx="0" cy="0"/>
        </a:xfrm>
      </p:grpSpPr>
      <p:sp>
        <p:nvSpPr>
          <p:cNvPr id="228" name="Google Shape;228;p8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9" name="Google Shape;229;p8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0" name="Google Shape;230;p8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1" name="Google Shape;231;p8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32" name="Shape 232"/>
        <p:cNvGrpSpPr/>
        <p:nvPr/>
      </p:nvGrpSpPr>
      <p:grpSpPr>
        <a:xfrm>
          <a:off x="0" y="0"/>
          <a:ext cx="0" cy="0"/>
          <a:chOff x="0" y="0"/>
          <a:chExt cx="0" cy="0"/>
        </a:xfrm>
      </p:grpSpPr>
      <p:sp>
        <p:nvSpPr>
          <p:cNvPr id="233" name="Google Shape;233;p8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4" name="Google Shape;234;p8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5" name="Google Shape;235;p8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6" name="Google Shape;236;p85"/>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37" name="Shape 237"/>
        <p:cNvGrpSpPr/>
        <p:nvPr/>
      </p:nvGrpSpPr>
      <p:grpSpPr>
        <a:xfrm>
          <a:off x="0" y="0"/>
          <a:ext cx="0" cy="0"/>
          <a:chOff x="0" y="0"/>
          <a:chExt cx="0" cy="0"/>
        </a:xfrm>
      </p:grpSpPr>
      <p:sp>
        <p:nvSpPr>
          <p:cNvPr id="238" name="Google Shape;238;p8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9" name="Google Shape;239;p8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0" name="Google Shape;240;p8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1" name="Google Shape;241;p86"/>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42" name="Shape 242"/>
        <p:cNvGrpSpPr/>
        <p:nvPr/>
      </p:nvGrpSpPr>
      <p:grpSpPr>
        <a:xfrm>
          <a:off x="0" y="0"/>
          <a:ext cx="0" cy="0"/>
          <a:chOff x="0" y="0"/>
          <a:chExt cx="0" cy="0"/>
        </a:xfrm>
      </p:grpSpPr>
      <p:sp>
        <p:nvSpPr>
          <p:cNvPr id="243" name="Google Shape;243;p8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4" name="Google Shape;244;p87"/>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5" name="Google Shape;245;p87"/>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46" name="Shape 246"/>
        <p:cNvGrpSpPr/>
        <p:nvPr/>
      </p:nvGrpSpPr>
      <p:grpSpPr>
        <a:xfrm>
          <a:off x="0" y="0"/>
          <a:ext cx="0" cy="0"/>
          <a:chOff x="0" y="0"/>
          <a:chExt cx="0" cy="0"/>
        </a:xfrm>
      </p:grpSpPr>
      <p:sp>
        <p:nvSpPr>
          <p:cNvPr id="247" name="Google Shape;247;p8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8" name="Google Shape;248;p8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9" name="Google Shape;249;p8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0" name="Google Shape;250;p8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1" name="Google Shape;251;p88"/>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52" name="Shape 252"/>
        <p:cNvGrpSpPr/>
        <p:nvPr/>
      </p:nvGrpSpPr>
      <p:grpSpPr>
        <a:xfrm>
          <a:off x="0" y="0"/>
          <a:ext cx="0" cy="0"/>
          <a:chOff x="0" y="0"/>
          <a:chExt cx="0" cy="0"/>
        </a:xfrm>
      </p:grpSpPr>
      <p:sp>
        <p:nvSpPr>
          <p:cNvPr id="253" name="Google Shape;253;p8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4" name="Google Shape;254;p89"/>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5" name="Google Shape;255;p89"/>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6" name="Google Shape;256;p89"/>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7" name="Google Shape;257;p89"/>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8" name="Google Shape;258;p89"/>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9" name="Google Shape;259;p89"/>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 Id="rId14"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5"/>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6" name="Shape 56"/>
        <p:cNvGrpSpPr/>
        <p:nvPr/>
      </p:nvGrpSpPr>
      <p:grpSpPr>
        <a:xfrm>
          <a:off x="0" y="0"/>
          <a:ext cx="0" cy="0"/>
          <a:chOff x="0" y="0"/>
          <a:chExt cx="0" cy="0"/>
        </a:xfrm>
      </p:grpSpPr>
      <p:sp>
        <p:nvSpPr>
          <p:cNvPr id="57" name="Google Shape;57;p27"/>
          <p:cNvSpPr txBox="1"/>
          <p:nvPr>
            <p:ph idx="1" type="body"/>
          </p:nvPr>
        </p:nvSpPr>
        <p:spPr>
          <a:xfrm>
            <a:off x="4558320" y="1248480"/>
            <a:ext cx="7391160" cy="5204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27"/>
          <p:cNvSpPr txBox="1"/>
          <p:nvPr>
            <p:ph type="title"/>
          </p:nvPr>
        </p:nvSpPr>
        <p:spPr>
          <a:xfrm>
            <a:off x="4558320" y="404280"/>
            <a:ext cx="739116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07" name="Shape 107"/>
        <p:cNvGrpSpPr/>
        <p:nvPr/>
      </p:nvGrpSpPr>
      <p:grpSpPr>
        <a:xfrm>
          <a:off x="0" y="0"/>
          <a:ext cx="0" cy="0"/>
          <a:chOff x="0" y="0"/>
          <a:chExt cx="0" cy="0"/>
        </a:xfrm>
      </p:grpSpPr>
      <p:sp>
        <p:nvSpPr>
          <p:cNvPr id="108" name="Google Shape;108;p29"/>
          <p:cNvSpPr txBox="1"/>
          <p:nvPr>
            <p:ph idx="1" type="body"/>
          </p:nvPr>
        </p:nvSpPr>
        <p:spPr>
          <a:xfrm>
            <a:off x="338760" y="1058760"/>
            <a:ext cx="11514240" cy="490860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9" name="Google Shape;109;p29"/>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8" name="Shape 158"/>
        <p:cNvGrpSpPr/>
        <p:nvPr/>
      </p:nvGrpSpPr>
      <p:grpSpPr>
        <a:xfrm>
          <a:off x="0" y="0"/>
          <a:ext cx="0" cy="0"/>
          <a:chOff x="0" y="0"/>
          <a:chExt cx="0" cy="0"/>
        </a:xfrm>
      </p:grpSpPr>
      <p:sp>
        <p:nvSpPr>
          <p:cNvPr id="159" name="Google Shape;159;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31"/>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09" name="Shape 209"/>
        <p:cNvGrpSpPr/>
        <p:nvPr/>
      </p:nvGrpSpPr>
      <p:grpSpPr>
        <a:xfrm>
          <a:off x="0" y="0"/>
          <a:ext cx="0" cy="0"/>
          <a:chOff x="0" y="0"/>
          <a:chExt cx="0" cy="0"/>
        </a:xfrm>
      </p:grpSpPr>
      <p:sp>
        <p:nvSpPr>
          <p:cNvPr id="210" name="Google Shape;210;p3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1" name="Google Shape;211;p33"/>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descr="Text&#10;&#10;Description automatically generated" id="264" name="Google Shape;264;p1"/>
          <p:cNvPicPr preferRelativeResize="0"/>
          <p:nvPr/>
        </p:nvPicPr>
        <p:blipFill rotWithShape="1">
          <a:blip r:embed="rId3">
            <a:alphaModFix/>
          </a:blip>
          <a:srcRect b="0" l="0" r="0" t="0"/>
          <a:stretch/>
        </p:blipFill>
        <p:spPr>
          <a:xfrm>
            <a:off x="392040" y="271440"/>
            <a:ext cx="3174120" cy="1153080"/>
          </a:xfrm>
          <a:prstGeom prst="rect">
            <a:avLst/>
          </a:prstGeom>
          <a:noFill/>
          <a:ln>
            <a:noFill/>
          </a:ln>
        </p:spPr>
      </p:pic>
      <p:sp>
        <p:nvSpPr>
          <p:cNvPr id="265" name="Google Shape;265;p1"/>
          <p:cNvSpPr/>
          <p:nvPr/>
        </p:nvSpPr>
        <p:spPr>
          <a:xfrm>
            <a:off x="695520" y="2269440"/>
            <a:ext cx="8251560" cy="84852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600"/>
              </a:spcAft>
              <a:buClr>
                <a:srgbClr val="000000"/>
              </a:buClr>
              <a:buSzPts val="3800"/>
              <a:buFont typeface="Arial"/>
              <a:buNone/>
            </a:pPr>
            <a:r>
              <a:rPr b="1" i="0" lang="en-US" sz="3800" u="none" cap="none" strike="noStrike">
                <a:solidFill>
                  <a:srgbClr val="0B2E63"/>
                </a:solidFill>
                <a:latin typeface="Calibri"/>
                <a:ea typeface="Calibri"/>
                <a:cs typeface="Calibri"/>
                <a:sym typeface="Calibri"/>
              </a:rPr>
              <a:t>NLBSE'24 GitHub Issue Classification</a:t>
            </a:r>
            <a:endParaRPr b="0" i="0" sz="1400" u="none" cap="none" strike="noStrike">
              <a:solidFill>
                <a:srgbClr val="000000"/>
              </a:solidFill>
              <a:latin typeface="Arial"/>
              <a:ea typeface="Arial"/>
              <a:cs typeface="Arial"/>
              <a:sym typeface="Arial"/>
            </a:endParaRPr>
          </a:p>
        </p:txBody>
      </p:sp>
      <p:sp>
        <p:nvSpPr>
          <p:cNvPr id="266" name="Google Shape;266;p1"/>
          <p:cNvSpPr/>
          <p:nvPr/>
        </p:nvSpPr>
        <p:spPr>
          <a:xfrm>
            <a:off x="695525" y="3150000"/>
            <a:ext cx="8251560" cy="38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en-US" sz="1400" u="none" cap="none" strike="noStrike">
                <a:solidFill>
                  <a:srgbClr val="000000"/>
                </a:solidFill>
                <a:latin typeface="Arial"/>
                <a:ea typeface="Arial"/>
                <a:cs typeface="Arial"/>
                <a:sym typeface="Arial"/>
              </a:rPr>
              <a:t>Seminar 2 · AI for Software Engineering (AI4SE)</a:t>
            </a:r>
            <a:endParaRPr b="0" i="0" sz="1400" u="none" cap="none" strike="noStrike">
              <a:solidFill>
                <a:srgbClr val="000000"/>
              </a:solidFill>
              <a:latin typeface="Arial"/>
              <a:ea typeface="Arial"/>
              <a:cs typeface="Arial"/>
              <a:sym typeface="Arial"/>
            </a:endParaRPr>
          </a:p>
        </p:txBody>
      </p:sp>
      <p:sp>
        <p:nvSpPr>
          <p:cNvPr id="267" name="Google Shape;267;p1"/>
          <p:cNvSpPr/>
          <p:nvPr/>
        </p:nvSpPr>
        <p:spPr>
          <a:xfrm>
            <a:off x="695525" y="3650000"/>
            <a:ext cx="4329000" cy="1369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Pham Tuan Kiet · 20252751M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Trung Hieu · 20261059M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Le Ngoc Anh · 20252275M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Hoang Nam · 20261081M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Bui Tien Dung · 20261204M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73" name="Google Shape;273;p2"/>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74" name="Google Shape;274;p2"/>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275" name="Google Shape;275;p2"/>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276" name="Google Shape;276;p2"/>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277" name="Google Shape;277;p2"/>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83" name="Google Shape;283;p3"/>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84" name="Google Shape;284;p3"/>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285" name="Google Shape;285;p3"/>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286" name="Google Shape;286;p3"/>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287" name="Google Shape;287;p3"/>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Problem: GitHub Issue Classification</a:t>
            </a:r>
            <a:endParaRPr b="0" i="0" sz="1800" u="none" cap="none" strike="noStrike">
              <a:solidFill>
                <a:srgbClr val="000000"/>
              </a:solidFill>
              <a:latin typeface="Calibri"/>
              <a:ea typeface="Calibri"/>
              <a:cs typeface="Calibri"/>
              <a:sym typeface="Calibri"/>
            </a:endParaRPr>
          </a:p>
        </p:txBody>
      </p:sp>
      <p:sp>
        <p:nvSpPr>
          <p:cNvPr id="293" name="Google Shape;293;p4"/>
          <p:cNvSpPr txBox="1"/>
          <p:nvPr/>
        </p:nvSpPr>
        <p:spPr>
          <a:xfrm>
            <a:off x="4553712" y="1234440"/>
            <a:ext cx="7223760" cy="23774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Maintainers need to classify issues before prioritizing and assigning them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Manual labeling is time-consuming and can be inconsistent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Issues contain a mix of text, code, stack traces, URLs, and versions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Each repository has its own terminology and templates</a:t>
            </a:r>
            <a:endParaRPr b="0" i="0" sz="1400" u="none" cap="none" strike="noStrike">
              <a:solidFill>
                <a:srgbClr val="000000"/>
              </a:solidFill>
              <a:latin typeface="Arial"/>
              <a:ea typeface="Arial"/>
              <a:cs typeface="Arial"/>
              <a:sym typeface="Arial"/>
            </a:endParaRPr>
          </a:p>
        </p:txBody>
      </p:sp>
      <p:sp>
        <p:nvSpPr>
          <p:cNvPr id="294" name="Google Shape;294;p4"/>
          <p:cNvSpPr/>
          <p:nvPr/>
        </p:nvSpPr>
        <p:spPr>
          <a:xfrm>
            <a:off x="4553712" y="3840480"/>
            <a:ext cx="210312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Issue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title + body</a:t>
            </a:r>
            <a:endParaRPr b="0" i="0" sz="1400" u="none" cap="none" strike="noStrike">
              <a:solidFill>
                <a:srgbClr val="000000"/>
              </a:solidFill>
              <a:latin typeface="Arial"/>
              <a:ea typeface="Arial"/>
              <a:cs typeface="Arial"/>
              <a:sym typeface="Arial"/>
            </a:endParaRPr>
          </a:p>
        </p:txBody>
      </p:sp>
      <p:sp>
        <p:nvSpPr>
          <p:cNvPr id="295" name="Google Shape;295;p4"/>
          <p:cNvSpPr txBox="1"/>
          <p:nvPr/>
        </p:nvSpPr>
        <p:spPr>
          <a:xfrm>
            <a:off x="667512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6" name="Google Shape;296;p4"/>
          <p:cNvSpPr/>
          <p:nvPr/>
        </p:nvSpPr>
        <p:spPr>
          <a:xfrm>
            <a:off x="7269480" y="3840480"/>
            <a:ext cx="182880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Classifier</a:t>
            </a:r>
            <a:endParaRPr b="0" i="0" sz="1400" u="none" cap="none" strike="noStrike">
              <a:solidFill>
                <a:srgbClr val="000000"/>
              </a:solidFill>
              <a:latin typeface="Arial"/>
              <a:ea typeface="Arial"/>
              <a:cs typeface="Arial"/>
              <a:sym typeface="Arial"/>
            </a:endParaRPr>
          </a:p>
        </p:txBody>
      </p:sp>
      <p:sp>
        <p:nvSpPr>
          <p:cNvPr id="297" name="Google Shape;297;p4"/>
          <p:cNvSpPr txBox="1"/>
          <p:nvPr/>
        </p:nvSpPr>
        <p:spPr>
          <a:xfrm>
            <a:off x="909828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8" name="Google Shape;298;p4"/>
          <p:cNvSpPr/>
          <p:nvPr/>
        </p:nvSpPr>
        <p:spPr>
          <a:xfrm>
            <a:off x="9646920" y="3611880"/>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bug  ·  incorrect behavior or defect</a:t>
            </a:r>
            <a:endParaRPr b="0" i="0" sz="1400" u="none" cap="none" strike="noStrike">
              <a:solidFill>
                <a:srgbClr val="000000"/>
              </a:solidFill>
              <a:latin typeface="Arial"/>
              <a:ea typeface="Arial"/>
              <a:cs typeface="Arial"/>
              <a:sym typeface="Arial"/>
            </a:endParaRPr>
          </a:p>
        </p:txBody>
      </p:sp>
      <p:sp>
        <p:nvSpPr>
          <p:cNvPr id="299" name="Google Shape;299;p4"/>
          <p:cNvSpPr/>
          <p:nvPr/>
        </p:nvSpPr>
        <p:spPr>
          <a:xfrm>
            <a:off x="9646920" y="4178808"/>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feature  ·  feature request</a:t>
            </a:r>
            <a:endParaRPr b="0" i="0" sz="1400" u="none" cap="none" strike="noStrike">
              <a:solidFill>
                <a:srgbClr val="000000"/>
              </a:solidFill>
              <a:latin typeface="Arial"/>
              <a:ea typeface="Arial"/>
              <a:cs typeface="Arial"/>
              <a:sym typeface="Arial"/>
            </a:endParaRPr>
          </a:p>
        </p:txBody>
      </p:sp>
      <p:sp>
        <p:nvSpPr>
          <p:cNvPr id="300" name="Google Shape;300;p4"/>
          <p:cNvSpPr/>
          <p:nvPr/>
        </p:nvSpPr>
        <p:spPr>
          <a:xfrm>
            <a:off x="9646920" y="4745736"/>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question  ·  question or help request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Project Objectives</a:t>
            </a:r>
            <a:endParaRPr b="0" i="0" sz="1800" u="none" cap="none" strike="noStrike">
              <a:solidFill>
                <a:srgbClr val="000000"/>
              </a:solidFill>
              <a:latin typeface="Calibri"/>
              <a:ea typeface="Calibri"/>
              <a:cs typeface="Calibri"/>
              <a:sym typeface="Calibri"/>
            </a:endParaRPr>
          </a:p>
        </p:txBody>
      </p:sp>
      <p:sp>
        <p:nvSpPr>
          <p:cNvPr id="306" name="Google Shape;306;p5"/>
          <p:cNvSpPr/>
          <p:nvPr/>
        </p:nvSpPr>
        <p:spPr>
          <a:xfrm>
            <a:off x="45720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1. Model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From TF-IDF to dense encoders (RoBERTa, SetFit)</a:t>
            </a:r>
            <a:endParaRPr b="0" i="0" sz="1400" u="none" cap="none" strike="noStrike">
              <a:solidFill>
                <a:srgbClr val="000000"/>
              </a:solidFill>
              <a:latin typeface="Arial"/>
              <a:ea typeface="Arial"/>
              <a:cs typeface="Arial"/>
              <a:sym typeface="Arial"/>
            </a:endParaRPr>
          </a:p>
        </p:txBody>
      </p:sp>
      <p:sp>
        <p:nvSpPr>
          <p:cNvPr id="307" name="Google Shape;307;p5"/>
          <p:cNvSpPr/>
          <p:nvPr/>
        </p:nvSpPr>
        <p:spPr>
          <a:xfrm>
            <a:off x="429768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2. Multiple Evaluation Protocols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Repo-specific CV, Pooled CV, LOO, Official Test</a:t>
            </a:r>
            <a:endParaRPr b="0" i="0" sz="1400" u="none" cap="none" strike="noStrike">
              <a:solidFill>
                <a:srgbClr val="000000"/>
              </a:solidFill>
              <a:latin typeface="Arial"/>
              <a:ea typeface="Arial"/>
              <a:cs typeface="Arial"/>
              <a:sym typeface="Arial"/>
            </a:endParaRPr>
          </a:p>
        </p:txBody>
      </p:sp>
      <p:sp>
        <p:nvSpPr>
          <p:cNvPr id="308" name="Google Shape;308;p5"/>
          <p:cNvSpPr/>
          <p:nvPr/>
        </p:nvSpPr>
        <p:spPr>
          <a:xfrm>
            <a:off x="813816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3. Performance and Cost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Consider fitting time, inference time, and implementation complexity</a:t>
            </a:r>
            <a:endParaRPr b="0" i="0" sz="1400" u="none" cap="none" strike="noStrike">
              <a:solidFill>
                <a:srgbClr val="000000"/>
              </a:solidFill>
              <a:latin typeface="Arial"/>
              <a:ea typeface="Arial"/>
              <a:cs typeface="Arial"/>
              <a:sym typeface="Arial"/>
            </a:endParaRPr>
          </a:p>
        </p:txBody>
      </p:sp>
      <p:sp>
        <p:nvSpPr>
          <p:cNvPr id="309" name="Google Shape;309;p5"/>
          <p:cNvSpPr/>
          <p:nvPr/>
        </p:nvSpPr>
        <p:spPr>
          <a:xfrm>
            <a:off x="457200" y="4114800"/>
            <a:ext cx="1129284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Primary Metric: Macro-F1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2000"/>
              <a:buFont typeface="Arial"/>
              <a:buNone/>
            </a:pPr>
            <a:r>
              <a:rPr b="0" i="0" lang="en-US" sz="2000" u="none" cap="none" strike="noStrike">
                <a:solidFill>
                  <a:srgbClr val="FFFFFF"/>
                </a:solidFill>
                <a:latin typeface="Calibri"/>
                <a:ea typeface="Calibri"/>
                <a:cs typeface="Calibri"/>
                <a:sym typeface="Calibri"/>
              </a:rPr>
              <a:t>Computed per repository and then averaged across 5 repositories; predictions are not pooled across repositories</a:t>
            </a:r>
            <a:endParaRPr b="0" i="0" sz="1400" u="none" cap="none" strike="noStrike">
              <a:solidFill>
                <a:srgbClr val="000000"/>
              </a:solidFill>
              <a:latin typeface="Arial"/>
              <a:ea typeface="Arial"/>
              <a:cs typeface="Arial"/>
              <a:sym typeface="Arial"/>
            </a:endParaRPr>
          </a:p>
        </p:txBody>
      </p:sp>
      <p:sp>
        <p:nvSpPr>
          <p:cNvPr id="310" name="Google Shape;310;p5"/>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6"/>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16" name="Google Shape;316;p6"/>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17" name="Google Shape;317;p6"/>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318" name="Google Shape;318;p6"/>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319" name="Google Shape;319;p6"/>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20" name="Google Shape;320;p6"/>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NLBSE'24</a:t>
            </a:r>
            <a:endParaRPr b="0" i="0" sz="1800" u="none" cap="none" strike="noStrike">
              <a:solidFill>
                <a:srgbClr val="000000"/>
              </a:solidFill>
              <a:latin typeface="Calibri"/>
              <a:ea typeface="Calibri"/>
              <a:cs typeface="Calibri"/>
              <a:sym typeface="Calibri"/>
            </a:endParaRPr>
          </a:p>
        </p:txBody>
      </p:sp>
      <p:sp>
        <p:nvSpPr>
          <p:cNvPr id="326" name="Google Shape;326;p7"/>
          <p:cNvSpPr/>
          <p:nvPr/>
        </p:nvSpPr>
        <p:spPr>
          <a:xfrm>
            <a:off x="457200" y="128016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training issues</a:t>
            </a:r>
            <a:endParaRPr b="0" i="0" sz="1400" u="none" cap="none" strike="noStrike">
              <a:solidFill>
                <a:srgbClr val="000000"/>
              </a:solidFill>
              <a:latin typeface="Arial"/>
              <a:ea typeface="Arial"/>
              <a:cs typeface="Arial"/>
              <a:sym typeface="Arial"/>
            </a:endParaRPr>
          </a:p>
        </p:txBody>
      </p:sp>
      <p:sp>
        <p:nvSpPr>
          <p:cNvPr id="327" name="Google Shape;327;p7"/>
          <p:cNvSpPr/>
          <p:nvPr/>
        </p:nvSpPr>
        <p:spPr>
          <a:xfrm>
            <a:off x="457200" y="274320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official test issues</a:t>
            </a:r>
            <a:endParaRPr b="0" i="0" sz="1400" u="none" cap="none" strike="noStrike">
              <a:solidFill>
                <a:srgbClr val="000000"/>
              </a:solidFill>
              <a:latin typeface="Arial"/>
              <a:ea typeface="Arial"/>
              <a:cs typeface="Arial"/>
              <a:sym typeface="Arial"/>
            </a:endParaRPr>
          </a:p>
        </p:txBody>
      </p:sp>
      <p:sp>
        <p:nvSpPr>
          <p:cNvPr id="328" name="Google Shape;328;p7"/>
          <p:cNvSpPr/>
          <p:nvPr/>
        </p:nvSpPr>
        <p:spPr>
          <a:xfrm>
            <a:off x="457200" y="420624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5 × 3 × 100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repositories × labels × samples per split</a:t>
            </a:r>
            <a:endParaRPr b="0" i="0" sz="1400" u="none" cap="none" strike="noStrike">
              <a:solidFill>
                <a:srgbClr val="000000"/>
              </a:solidFill>
              <a:latin typeface="Arial"/>
              <a:ea typeface="Arial"/>
              <a:cs typeface="Arial"/>
              <a:sym typeface="Arial"/>
            </a:endParaRPr>
          </a:p>
        </p:txBody>
      </p:sp>
      <p:graphicFrame>
        <p:nvGraphicFramePr>
          <p:cNvPr id="329" name="Google Shape;329;p7"/>
          <p:cNvGraphicFramePr/>
          <p:nvPr/>
        </p:nvGraphicFramePr>
        <p:xfrm>
          <a:off x="4206240" y="1280160"/>
          <a:ext cx="3000000" cy="3000000"/>
        </p:xfrm>
        <a:graphic>
          <a:graphicData uri="http://schemas.openxmlformats.org/drawingml/2006/table">
            <a:tbl>
              <a:tblPr bandRow="1" firstRow="1">
                <a:noFill/>
                <a:tableStyleId>{A0BF76A3-E3C1-4D28-9EA3-6F8B04578915}</a:tableStyleId>
              </a:tblPr>
              <a:tblGrid>
                <a:gridCol w="2194550"/>
                <a:gridCol w="5349250"/>
              </a:tblGrid>
              <a:tr h="6583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Property</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Value</a:t>
                      </a:r>
                      <a:endParaRPr sz="1400" u="none" cap="none" strike="noStrike"/>
                    </a:p>
                  </a:txBody>
                  <a:tcPr marT="45725" marB="45725" marR="91450" marL="91450" anchor="ctr">
                    <a:solidFill>
                      <a:srgbClr val="0B2E63"/>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Train / Test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1,500 / 1,500 issue</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Repositories</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bitcoin, react, vscode, opencv, tensorflow</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Labels</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bug; feature; question</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Class balance</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100 samples per label, per repository, per split</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Input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title and body</a:t>
                      </a:r>
                      <a:endParaRPr sz="1400" u="none" cap="none" strike="noStrike"/>
                    </a:p>
                  </a:txBody>
                  <a:tcPr marT="45725" marB="45725" marR="91450" marL="91450" anchor="ctr">
                    <a:solidFill>
                      <a:srgbClr val="EEF2F8"/>
                    </a:solidFill>
                  </a:tcPr>
                </a:tc>
              </a:tr>
            </a:tbl>
          </a:graphicData>
        </a:graphic>
      </p:graphicFrame>
      <p:sp>
        <p:nvSpPr>
          <p:cNvPr id="330" name="Google Shape;330;p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Challenges</a:t>
            </a:r>
            <a:endParaRPr b="0" i="0" sz="1800" u="none" cap="none" strike="noStrike">
              <a:solidFill>
                <a:srgbClr val="000000"/>
              </a:solidFill>
              <a:latin typeface="Calibri"/>
              <a:ea typeface="Calibri"/>
              <a:cs typeface="Calibri"/>
              <a:sym typeface="Calibri"/>
            </a:endParaRPr>
          </a:p>
        </p:txBody>
      </p:sp>
      <p:sp>
        <p:nvSpPr>
          <p:cNvPr id="336" name="Google Shape;336;p8"/>
          <p:cNvSpPr/>
          <p:nvPr/>
        </p:nvSpPr>
        <p:spPr>
          <a:xfrm>
            <a:off x="45720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Repository-specific language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Different templates and terminology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 to transfer to unseen repositories</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429768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Duplicate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3 shared normalized keys between train and test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1 pair has conflicting labels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CV keeps identical texts in the same fold</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813816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Technical content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Code, paths, and version strings are retained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Because they may carry predictive signals</a:t>
            </a:r>
            <a:endParaRPr b="0" i="0" sz="1400" u="none" cap="none" strike="noStrike">
              <a:solidFill>
                <a:srgbClr val="000000"/>
              </a:solidFill>
              <a:latin typeface="Arial"/>
              <a:ea typeface="Arial"/>
              <a:cs typeface="Arial"/>
              <a:sym typeface="Arial"/>
            </a:endParaRPr>
          </a:p>
        </p:txBody>
      </p:sp>
      <p:sp>
        <p:nvSpPr>
          <p:cNvPr id="339" name="Google Shape;339;p8"/>
          <p:cNvSpPr/>
          <p:nvPr/>
        </p:nvSpPr>
        <p:spPr>
          <a:xfrm>
            <a:off x="45720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Label overlap</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Questions can resemble both bugs and features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Feature requests may be phrased as questions</a:t>
            </a:r>
            <a:endParaRPr b="0" i="0" sz="1400" u="none" cap="none" strike="noStrike">
              <a:solidFill>
                <a:srgbClr val="000000"/>
              </a:solidFill>
              <a:latin typeface="Arial"/>
              <a:ea typeface="Arial"/>
              <a:cs typeface="Arial"/>
              <a:sym typeface="Arial"/>
            </a:endParaRPr>
          </a:p>
        </p:txBody>
      </p:sp>
      <p:sp>
        <p:nvSpPr>
          <p:cNvPr id="340" name="Google Shape;340;p8"/>
          <p:cNvSpPr/>
          <p:nvPr/>
        </p:nvSpPr>
        <p:spPr>
          <a:xfrm>
            <a:off x="429768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Highly skewed text length</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median: 150 words; P95: 536 words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maximum: 21,595 words → truncation is required</a:t>
            </a:r>
            <a:endParaRPr b="0" i="0" sz="1400" u="none" cap="none" strike="noStrike">
              <a:solidFill>
                <a:srgbClr val="000000"/>
              </a:solidFill>
              <a:latin typeface="Arial"/>
              <a:ea typeface="Arial"/>
              <a:cs typeface="Arial"/>
              <a:sym typeface="Arial"/>
            </a:endParaRPr>
          </a:p>
        </p:txBody>
      </p:sp>
      <p:sp>
        <p:nvSpPr>
          <p:cNvPr id="341" name="Google Shape;341;p8"/>
          <p:cNvSpPr/>
          <p:nvPr/>
        </p:nvSpPr>
        <p:spPr>
          <a:xfrm>
            <a:off x="813816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Missing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2 test bodies are missing → replaced with empty strings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has no missing bodies</a:t>
            </a:r>
            <a:endParaRPr b="0" i="0" sz="1400" u="none" cap="none" strike="noStrike">
              <a:solidFill>
                <a:srgbClr val="000000"/>
              </a:solidFill>
              <a:latin typeface="Arial"/>
              <a:ea typeface="Arial"/>
              <a:cs typeface="Arial"/>
              <a:sym typeface="Arial"/>
            </a:endParaRPr>
          </a:p>
        </p:txBody>
      </p:sp>
      <p:sp>
        <p:nvSpPr>
          <p:cNvPr id="342" name="Google Shape;342;p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9"/>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48" name="Google Shape;348;p9"/>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49" name="Google Shape;349;p9"/>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350" name="Google Shape;350;p9"/>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351" name="Google Shape;351;p9"/>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52" name="Google Shape;352;p9"/>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Three Model Families</a:t>
            </a:r>
            <a:endParaRPr b="0" i="0" sz="1800" u="none" cap="none" strike="noStrike">
              <a:solidFill>
                <a:srgbClr val="000000"/>
              </a:solidFill>
              <a:latin typeface="Calibri"/>
              <a:ea typeface="Calibri"/>
              <a:cs typeface="Calibri"/>
              <a:sym typeface="Calibri"/>
            </a:endParaRPr>
          </a:p>
        </p:txBody>
      </p:sp>
      <p:sp>
        <p:nvSpPr>
          <p:cNvPr id="358" name="Google Shape;358;p10"/>
          <p:cNvSpPr/>
          <p:nvPr/>
        </p:nvSpPr>
        <p:spPr>
          <a:xfrm>
            <a:off x="45720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Sparse / Lightweight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TF-IDF + Logistic Regression (baseline)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LinearSVC: word, word + char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Complement NB, Hashed SGD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fastText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59" name="Google Shape;359;p10"/>
          <p:cNvSpPr/>
          <p:nvPr/>
        </p:nvSpPr>
        <p:spPr>
          <a:xfrm>
            <a:off x="429768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RoBERTa-base, max 160 tokens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Full fine-tuning</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LoRA: low-rank adapters (r = 48)</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60" name="Google Shape;360;p10"/>
          <p:cNvSpPr/>
          <p:nvPr/>
        </p:nvSpPr>
        <p:spPr>
          <a:xfrm>
            <a:off x="813816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SetFit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Sentence encoder: MPNet, MiniLM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Few-shot k = 8 / 16 / 32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Contrastive iterations: 5–80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CV and official test; ablations on data size and iterations</a:t>
            </a:r>
            <a:endParaRPr b="0" i="0" sz="1400" u="none" cap="none" strike="noStrike">
              <a:solidFill>
                <a:srgbClr val="000000"/>
              </a:solidFill>
              <a:latin typeface="Arial"/>
              <a:ea typeface="Arial"/>
              <a:cs typeface="Arial"/>
              <a:sym typeface="Arial"/>
            </a:endParaRPr>
          </a:p>
        </p:txBody>
      </p:sp>
      <p:sp>
        <p:nvSpPr>
          <p:cNvPr id="361" name="Google Shape;361;p10"/>
          <p:cNvSpPr/>
          <p:nvPr/>
        </p:nvSpPr>
        <p:spPr>
          <a:xfrm>
            <a:off x="457200" y="4720000"/>
            <a:ext cx="11292840" cy="64008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FFFFFF"/>
                </a:solidFill>
                <a:latin typeface="Calibri"/>
                <a:ea typeface="Calibri"/>
                <a:cs typeface="Calibri"/>
                <a:sym typeface="Calibri"/>
              </a:rPr>
              <a:t>The same data and evaluation pipeline is used for all model families</a:t>
            </a:r>
            <a:endParaRPr b="0" i="0" sz="1400" u="none" cap="none" strike="noStrike">
              <a:solidFill>
                <a:srgbClr val="000000"/>
              </a:solidFill>
              <a:latin typeface="Arial"/>
              <a:ea typeface="Arial"/>
              <a:cs typeface="Arial"/>
              <a:sym typeface="Arial"/>
            </a:endParaRPr>
          </a:p>
        </p:txBody>
      </p:sp>
      <p:sp>
        <p:nvSpPr>
          <p:cNvPr id="362" name="Google Shape;362;p1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1"/>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Background: Transformer and RoBERTa</a:t>
            </a:r>
            <a:endParaRPr b="0" i="0" sz="1800" u="none" cap="none" strike="noStrike">
              <a:solidFill>
                <a:srgbClr val="000000"/>
              </a:solidFill>
              <a:latin typeface="Calibri"/>
              <a:ea typeface="Calibri"/>
              <a:cs typeface="Calibri"/>
              <a:sym typeface="Calibri"/>
            </a:endParaRPr>
          </a:p>
        </p:txBody>
      </p:sp>
      <p:pic>
        <p:nvPicPr>
          <p:cNvPr descr="transformer.png" id="368" name="Google Shape;368;p11"/>
          <p:cNvPicPr preferRelativeResize="0"/>
          <p:nvPr/>
        </p:nvPicPr>
        <p:blipFill rotWithShape="1">
          <a:blip r:embed="rId3">
            <a:alphaModFix/>
          </a:blip>
          <a:srcRect b="0" l="0" r="0" t="0"/>
          <a:stretch/>
        </p:blipFill>
        <p:spPr>
          <a:xfrm>
            <a:off x="457200" y="1371600"/>
            <a:ext cx="5120640" cy="4039340"/>
          </a:xfrm>
          <a:prstGeom prst="rect">
            <a:avLst/>
          </a:prstGeom>
          <a:noFill/>
          <a:ln>
            <a:noFill/>
          </a:ln>
        </p:spPr>
      </p:pic>
      <p:sp>
        <p:nvSpPr>
          <p:cNvPr id="369" name="Google Shape;369;p11"/>
          <p:cNvSpPr txBox="1"/>
          <p:nvPr/>
        </p:nvSpPr>
        <p:spPr>
          <a:xfrm>
            <a:off x="457200" y="5440680"/>
            <a:ext cx="512064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5B6472"/>
                </a:solidFill>
                <a:latin typeface="Calibri"/>
                <a:ea typeface="Calibri"/>
                <a:cs typeface="Calibri"/>
                <a:sym typeface="Calibri"/>
              </a:rPr>
              <a:t>Fig. 2.1. Transformer architecture (Vaswani et al.)</a:t>
            </a:r>
            <a:endParaRPr b="0" i="0" sz="1400" u="none" cap="none" strike="noStrike">
              <a:solidFill>
                <a:srgbClr val="000000"/>
              </a:solidFill>
              <a:latin typeface="Arial"/>
              <a:ea typeface="Arial"/>
              <a:cs typeface="Arial"/>
              <a:sym typeface="Arial"/>
            </a:endParaRPr>
          </a:p>
        </p:txBody>
      </p:sp>
      <p:sp>
        <p:nvSpPr>
          <p:cNvPr id="370" name="Google Shape;370;p11"/>
          <p:cNvSpPr txBox="1"/>
          <p:nvPr/>
        </p:nvSpPr>
        <p:spPr>
          <a:xfrm>
            <a:off x="5943600" y="1234440"/>
            <a:ext cx="5852160" cy="457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Transformer encoder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Self-attention and multi-head attention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Positional information for token order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Feed-forward + residual + normalization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Optimized BERT pretraining: removes Next Sentence Prediction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Dynamic masking and more pretraining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Add a classification head and fine-tune on issue data</a:t>
            </a:r>
            <a:endParaRPr b="0" i="0" sz="1400" u="none" cap="none" strike="noStrike">
              <a:solidFill>
                <a:srgbClr val="000000"/>
              </a:solidFill>
              <a:latin typeface="Arial"/>
              <a:ea typeface="Arial"/>
              <a:cs typeface="Arial"/>
              <a:sym typeface="Arial"/>
            </a:endParaRPr>
          </a:p>
        </p:txBody>
      </p:sp>
      <p:sp>
        <p:nvSpPr>
          <p:cNvPr id="371" name="Google Shape;371;p11"/>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12"/>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LoRA and SetFit</a:t>
            </a:r>
            <a:endParaRPr b="0" i="0" sz="1800" u="none" cap="none" strike="noStrike">
              <a:solidFill>
                <a:srgbClr val="000000"/>
              </a:solidFill>
              <a:latin typeface="Calibri"/>
              <a:ea typeface="Calibri"/>
              <a:cs typeface="Calibri"/>
              <a:sym typeface="Calibri"/>
            </a:endParaRPr>
          </a:p>
        </p:txBody>
      </p:sp>
      <p:sp>
        <p:nvSpPr>
          <p:cNvPr id="377" name="Google Shape;377;p12"/>
          <p:cNvSpPr txBox="1"/>
          <p:nvPr/>
        </p:nvSpPr>
        <p:spPr>
          <a:xfrm>
            <a:off x="457200" y="1188720"/>
            <a:ext cx="5486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LoRA: learn only low-rank updates</a:t>
            </a:r>
            <a:endParaRPr b="0" i="0" sz="1400" u="none" cap="none" strike="noStrike">
              <a:solidFill>
                <a:srgbClr val="000000"/>
              </a:solidFill>
              <a:latin typeface="Arial"/>
              <a:ea typeface="Arial"/>
              <a:cs typeface="Arial"/>
              <a:sym typeface="Arial"/>
            </a:endParaRPr>
          </a:p>
        </p:txBody>
      </p:sp>
      <p:sp>
        <p:nvSpPr>
          <p:cNvPr id="378" name="Google Shape;378;p12"/>
          <p:cNvSpPr/>
          <p:nvPr/>
        </p:nvSpPr>
        <p:spPr>
          <a:xfrm>
            <a:off x="457200" y="2290000"/>
            <a:ext cx="90000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F2937"/>
                </a:solidFill>
                <a:latin typeface="Calibri"/>
                <a:ea typeface="Calibri"/>
                <a:cs typeface="Calibri"/>
                <a:sym typeface="Calibri"/>
              </a:rPr>
              <a:t>x</a:t>
            </a:r>
            <a:endParaRPr b="0" i="0" sz="1400" u="none" cap="none" strike="noStrike">
              <a:solidFill>
                <a:srgbClr val="000000"/>
              </a:solidFill>
              <a:latin typeface="Arial"/>
              <a:ea typeface="Arial"/>
              <a:cs typeface="Arial"/>
              <a:sym typeface="Arial"/>
            </a:endParaRPr>
          </a:p>
        </p:txBody>
      </p:sp>
      <p:sp>
        <p:nvSpPr>
          <p:cNvPr id="379" name="Google Shape;379;p12"/>
          <p:cNvSpPr/>
          <p:nvPr/>
        </p:nvSpPr>
        <p:spPr>
          <a:xfrm>
            <a:off x="1950000" y="1760000"/>
            <a:ext cx="2000000" cy="760000"/>
          </a:xfrm>
          <a:prstGeom prst="roundRect">
            <a:avLst>
              <a:gd fmla="val 6000" name="adj"/>
            </a:avLst>
          </a:prstGeom>
          <a:solidFill>
            <a:srgbClr val="D5D9E0"/>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W₀ (frozen)</a:t>
            </a:r>
            <a:endParaRPr b="0" i="0" sz="1400" u="none" cap="none" strike="noStrike">
              <a:solidFill>
                <a:srgbClr val="000000"/>
              </a:solidFill>
              <a:latin typeface="Arial"/>
              <a:ea typeface="Arial"/>
              <a:cs typeface="Arial"/>
              <a:sym typeface="Arial"/>
            </a:endParaRPr>
          </a:p>
        </p:txBody>
      </p:sp>
      <p:sp>
        <p:nvSpPr>
          <p:cNvPr id="380" name="Google Shape;380;p12"/>
          <p:cNvSpPr/>
          <p:nvPr/>
        </p:nvSpPr>
        <p:spPr>
          <a:xfrm>
            <a:off x="1950000" y="2860000"/>
            <a:ext cx="2000000" cy="76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 · A (trainable)</a:t>
            </a:r>
            <a:endParaRPr b="0" i="0" sz="1400" u="none" cap="none" strike="noStrike">
              <a:solidFill>
                <a:srgbClr val="000000"/>
              </a:solidFill>
              <a:latin typeface="Arial"/>
              <a:ea typeface="Arial"/>
              <a:cs typeface="Arial"/>
              <a:sym typeface="Arial"/>
            </a:endParaRPr>
          </a:p>
        </p:txBody>
      </p:sp>
      <p:sp>
        <p:nvSpPr>
          <p:cNvPr id="381" name="Google Shape;381;p12"/>
          <p:cNvSpPr txBox="1"/>
          <p:nvPr/>
        </p:nvSpPr>
        <p:spPr>
          <a:xfrm>
            <a:off x="4250000" y="2420000"/>
            <a:ext cx="500000" cy="560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1" i="0" lang="en-US" sz="2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2" name="Google Shape;382;p12"/>
          <p:cNvSpPr/>
          <p:nvPr/>
        </p:nvSpPr>
        <p:spPr>
          <a:xfrm>
            <a:off x="5000000" y="2290000"/>
            <a:ext cx="90000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FFFF"/>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383" name="Google Shape;383;p12"/>
          <p:cNvSpPr txBox="1"/>
          <p:nvPr/>
        </p:nvSpPr>
        <p:spPr>
          <a:xfrm>
            <a:off x="457200" y="3840480"/>
            <a:ext cx="5669280"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h = W₀x + BAx, with rank r ≪ matrix dimension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Configuration: rank 48, alpha 96, dropout 0.1</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Reduces trainable parameters and memory usage</a:t>
            </a:r>
            <a:endParaRPr b="0" i="0" sz="1400" u="none" cap="none" strike="noStrike">
              <a:solidFill>
                <a:srgbClr val="000000"/>
              </a:solidFill>
              <a:latin typeface="Arial"/>
              <a:ea typeface="Arial"/>
              <a:cs typeface="Arial"/>
              <a:sym typeface="Arial"/>
            </a:endParaRPr>
          </a:p>
        </p:txBody>
      </p:sp>
      <p:sp>
        <p:nvSpPr>
          <p:cNvPr id="384" name="Google Shape;384;p12"/>
          <p:cNvSpPr txBox="1"/>
          <p:nvPr/>
        </p:nvSpPr>
        <p:spPr>
          <a:xfrm>
            <a:off x="6492240" y="1188720"/>
            <a:ext cx="530352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SetFit: two stages</a:t>
            </a:r>
            <a:endParaRPr b="0" i="0" sz="1400" u="none" cap="none" strike="noStrike">
              <a:solidFill>
                <a:srgbClr val="000000"/>
              </a:solidFill>
              <a:latin typeface="Arial"/>
              <a:ea typeface="Arial"/>
              <a:cs typeface="Arial"/>
              <a:sym typeface="Arial"/>
            </a:endParaRPr>
          </a:p>
        </p:txBody>
      </p:sp>
      <p:sp>
        <p:nvSpPr>
          <p:cNvPr id="385" name="Google Shape;385;p12"/>
          <p:cNvSpPr/>
          <p:nvPr/>
        </p:nvSpPr>
        <p:spPr>
          <a:xfrm>
            <a:off x="6492240" y="1828800"/>
            <a:ext cx="530352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Labeled issues</a:t>
            </a:r>
            <a:endParaRPr b="0" i="0" sz="1400" u="none" cap="none" strike="noStrike">
              <a:solidFill>
                <a:srgbClr val="000000"/>
              </a:solidFill>
              <a:latin typeface="Arial"/>
              <a:ea typeface="Arial"/>
              <a:cs typeface="Arial"/>
              <a:sym typeface="Arial"/>
            </a:endParaRPr>
          </a:p>
        </p:txBody>
      </p:sp>
      <p:sp>
        <p:nvSpPr>
          <p:cNvPr id="386" name="Google Shape;386;p12"/>
          <p:cNvSpPr txBox="1"/>
          <p:nvPr/>
        </p:nvSpPr>
        <p:spPr>
          <a:xfrm>
            <a:off x="8778240" y="262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7" name="Google Shape;387;p12"/>
          <p:cNvSpPr/>
          <p:nvPr/>
        </p:nvSpPr>
        <p:spPr>
          <a:xfrm>
            <a:off x="6492240" y="299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1. Contrastive fine-tune sentence encoder</a:t>
            </a:r>
            <a:endParaRPr b="0" i="0" sz="1400" u="none" cap="none" strike="noStrike">
              <a:solidFill>
                <a:srgbClr val="000000"/>
              </a:solidFill>
              <a:latin typeface="Arial"/>
              <a:ea typeface="Arial"/>
              <a:cs typeface="Arial"/>
              <a:sym typeface="Arial"/>
            </a:endParaRPr>
          </a:p>
        </p:txBody>
      </p:sp>
      <p:sp>
        <p:nvSpPr>
          <p:cNvPr id="388" name="Google Shape;388;p12"/>
          <p:cNvSpPr txBox="1"/>
          <p:nvPr/>
        </p:nvSpPr>
        <p:spPr>
          <a:xfrm>
            <a:off x="8778240" y="379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9" name="Google Shape;389;p12"/>
          <p:cNvSpPr/>
          <p:nvPr/>
        </p:nvSpPr>
        <p:spPr>
          <a:xfrm>
            <a:off x="6492240" y="416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2. Embedding → classification head</a:t>
            </a:r>
            <a:endParaRPr b="0" i="0" sz="1400" u="none" cap="none" strike="noStrike">
              <a:solidFill>
                <a:srgbClr val="000000"/>
              </a:solidFill>
              <a:latin typeface="Arial"/>
              <a:ea typeface="Arial"/>
              <a:cs typeface="Arial"/>
              <a:sym typeface="Arial"/>
            </a:endParaRPr>
          </a:p>
        </p:txBody>
      </p:sp>
      <p:sp>
        <p:nvSpPr>
          <p:cNvPr id="390" name="Google Shape;390;p12"/>
          <p:cNvSpPr txBox="1"/>
          <p:nvPr/>
        </p:nvSpPr>
        <p:spPr>
          <a:xfrm>
            <a:off x="8778240" y="496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1" name="Google Shape;391;p12"/>
          <p:cNvSpPr/>
          <p:nvPr/>
        </p:nvSpPr>
        <p:spPr>
          <a:xfrm>
            <a:off x="6492240" y="5338800"/>
            <a:ext cx="5303520" cy="80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bug / feature / question</a:t>
            </a:r>
            <a:endParaRPr b="0" i="0" sz="1400" u="none" cap="none" strike="noStrike">
              <a:solidFill>
                <a:srgbClr val="000000"/>
              </a:solidFill>
              <a:latin typeface="Arial"/>
              <a:ea typeface="Arial"/>
              <a:cs typeface="Arial"/>
              <a:sym typeface="Arial"/>
            </a:endParaRPr>
          </a:p>
        </p:txBody>
      </p:sp>
      <p:cxnSp>
        <p:nvCxnSpPr>
          <p:cNvPr id="392" name="Google Shape;392;p12"/>
          <p:cNvCxnSpPr/>
          <p:nvPr/>
        </p:nvCxnSpPr>
        <p:spPr>
          <a:xfrm flipH="1" rot="10800000">
            <a:off x="1357200" y="21401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3" name="Google Shape;393;p12"/>
          <p:cNvCxnSpPr/>
          <p:nvPr/>
        </p:nvCxnSpPr>
        <p:spPr>
          <a:xfrm>
            <a:off x="1357200" y="26900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4" name="Google Shape;394;p12"/>
          <p:cNvCxnSpPr/>
          <p:nvPr/>
        </p:nvCxnSpPr>
        <p:spPr>
          <a:xfrm>
            <a:off x="3950000" y="21400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5" name="Google Shape;395;p12"/>
          <p:cNvCxnSpPr/>
          <p:nvPr/>
        </p:nvCxnSpPr>
        <p:spPr>
          <a:xfrm flipH="1" rot="10800000">
            <a:off x="3950000" y="29001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6" name="Google Shape;396;p12"/>
          <p:cNvCxnSpPr/>
          <p:nvPr/>
        </p:nvCxnSpPr>
        <p:spPr>
          <a:xfrm>
            <a:off x="4750000" y="2690000"/>
            <a:ext cx="250000" cy="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397" name="Google Shape;397;p12"/>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13"/>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Four Evaluation Protocols</a:t>
            </a:r>
            <a:endParaRPr b="0" i="0" sz="1800" u="none" cap="none" strike="noStrike">
              <a:solidFill>
                <a:srgbClr val="000000"/>
              </a:solidFill>
              <a:latin typeface="Calibri"/>
              <a:ea typeface="Calibri"/>
              <a:cs typeface="Calibri"/>
              <a:sym typeface="Calibri"/>
            </a:endParaRPr>
          </a:p>
        </p:txBody>
      </p:sp>
      <p:sp>
        <p:nvSpPr>
          <p:cNvPr id="403" name="Google Shape;403;p13"/>
          <p:cNvSpPr/>
          <p:nvPr/>
        </p:nvSpPr>
        <p:spPr>
          <a:xfrm>
            <a:off x="457200"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Repo-specific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folds per repository; duplicates stay in the same fold</a:t>
            </a:r>
            <a:endParaRPr b="0" i="0" sz="1400" u="none" cap="none" strike="noStrike">
              <a:solidFill>
                <a:srgbClr val="000000"/>
              </a:solidFill>
              <a:latin typeface="Arial"/>
              <a:ea typeface="Arial"/>
              <a:cs typeface="Arial"/>
              <a:sym typeface="Arial"/>
            </a:endParaRPr>
          </a:p>
        </p:txBody>
      </p:sp>
      <p:sp>
        <p:nvSpPr>
          <p:cNvPr id="404" name="Google Shape;404;p13"/>
          <p:cNvSpPr/>
          <p:nvPr/>
        </p:nvSpPr>
        <p:spPr>
          <a:xfrm>
            <a:off x="3310128"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Pooled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the pooled training folds of all 5 repositories; held-out folds are used only for evaluation</a:t>
            </a:r>
            <a:endParaRPr b="0" i="0" sz="1400" u="none" cap="none" strike="noStrike">
              <a:solidFill>
                <a:srgbClr val="000000"/>
              </a:solidFill>
              <a:latin typeface="Arial"/>
              <a:ea typeface="Arial"/>
              <a:cs typeface="Arial"/>
              <a:sym typeface="Arial"/>
            </a:endParaRPr>
          </a:p>
        </p:txBody>
      </p:sp>
      <p:sp>
        <p:nvSpPr>
          <p:cNvPr id="405" name="Google Shape;405;p13"/>
          <p:cNvSpPr/>
          <p:nvPr/>
        </p:nvSpPr>
        <p:spPr>
          <a:xfrm>
            <a:off x="6163056"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LOO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1,200 official-train issues from 4 repositories; test on 300 issues from the held-out repository</a:t>
            </a:r>
            <a:endParaRPr b="0" i="0" sz="1400" u="none" cap="none" strike="noStrike">
              <a:solidFill>
                <a:srgbClr val="000000"/>
              </a:solidFill>
              <a:latin typeface="Arial"/>
              <a:ea typeface="Arial"/>
              <a:cs typeface="Arial"/>
              <a:sym typeface="Arial"/>
            </a:endParaRPr>
          </a:p>
        </p:txBody>
      </p:sp>
      <p:sp>
        <p:nvSpPr>
          <p:cNvPr id="406" name="Google Shape;406;p13"/>
          <p:cNvSpPr/>
          <p:nvPr/>
        </p:nvSpPr>
        <p:spPr>
          <a:xfrm>
            <a:off x="9015984"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Official Test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separate classifiers, each with 300 training / 300 test issues</a:t>
            </a:r>
            <a:endParaRPr b="0" i="0" sz="1400" u="none" cap="none" strike="noStrike">
              <a:solidFill>
                <a:srgbClr val="000000"/>
              </a:solidFill>
              <a:latin typeface="Arial"/>
              <a:ea typeface="Arial"/>
              <a:cs typeface="Arial"/>
              <a:sym typeface="Arial"/>
            </a:endParaRPr>
          </a:p>
        </p:txBody>
      </p:sp>
      <p:sp>
        <p:nvSpPr>
          <p:cNvPr id="407" name="Google Shape;407;p13"/>
          <p:cNvSpPr/>
          <p:nvPr/>
        </p:nvSpPr>
        <p:spPr>
          <a:xfrm>
            <a:off x="8000000" y="1175000"/>
            <a:ext cx="190000" cy="190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8" name="Google Shape;408;p13"/>
          <p:cNvSpPr/>
          <p:nvPr/>
        </p:nvSpPr>
        <p:spPr>
          <a:xfrm>
            <a:off x="8220000" y="1130000"/>
            <a:ext cx="1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Train</a:t>
            </a:r>
            <a:endParaRPr/>
          </a:p>
        </p:txBody>
      </p:sp>
      <p:sp>
        <p:nvSpPr>
          <p:cNvPr id="409" name="Google Shape;409;p13"/>
          <p:cNvSpPr/>
          <p:nvPr/>
        </p:nvSpPr>
        <p:spPr>
          <a:xfrm>
            <a:off x="9150000" y="1175000"/>
            <a:ext cx="190000" cy="190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13"/>
          <p:cNvSpPr/>
          <p:nvPr/>
        </p:nvSpPr>
        <p:spPr>
          <a:xfrm>
            <a:off x="9370000" y="1130000"/>
            <a:ext cx="2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Evaluate (held out)</a:t>
            </a:r>
            <a:endParaRPr/>
          </a:p>
        </p:txBody>
      </p:sp>
      <p:sp>
        <p:nvSpPr>
          <p:cNvPr id="411" name="Google Shape;411;p13"/>
          <p:cNvSpPr/>
          <p:nvPr/>
        </p:nvSpPr>
        <p:spPr>
          <a:xfrm>
            <a:off x="457200"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13"/>
          <p:cNvSpPr/>
          <p:nvPr/>
        </p:nvSpPr>
        <p:spPr>
          <a:xfrm>
            <a:off x="497200"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13" name="Google Shape;413;p13"/>
          <p:cNvSpPr/>
          <p:nvPr/>
        </p:nvSpPr>
        <p:spPr>
          <a:xfrm>
            <a:off x="1517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13"/>
          <p:cNvSpPr/>
          <p:nvPr/>
        </p:nvSpPr>
        <p:spPr>
          <a:xfrm>
            <a:off x="1829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5" name="Google Shape;415;p13"/>
          <p:cNvSpPr/>
          <p:nvPr/>
        </p:nvSpPr>
        <p:spPr>
          <a:xfrm>
            <a:off x="2141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6" name="Google Shape;416;p13"/>
          <p:cNvSpPr/>
          <p:nvPr/>
        </p:nvSpPr>
        <p:spPr>
          <a:xfrm>
            <a:off x="2453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7" name="Google Shape;417;p13"/>
          <p:cNvSpPr/>
          <p:nvPr/>
        </p:nvSpPr>
        <p:spPr>
          <a:xfrm>
            <a:off x="2765200"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8" name="Google Shape;418;p13"/>
          <p:cNvSpPr/>
          <p:nvPr/>
        </p:nvSpPr>
        <p:spPr>
          <a:xfrm>
            <a:off x="497200"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19" name="Google Shape;419;p13"/>
          <p:cNvSpPr/>
          <p:nvPr/>
        </p:nvSpPr>
        <p:spPr>
          <a:xfrm>
            <a:off x="1517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0" name="Google Shape;420;p13"/>
          <p:cNvSpPr/>
          <p:nvPr/>
        </p:nvSpPr>
        <p:spPr>
          <a:xfrm>
            <a:off x="1829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1" name="Google Shape;421;p13"/>
          <p:cNvSpPr/>
          <p:nvPr/>
        </p:nvSpPr>
        <p:spPr>
          <a:xfrm>
            <a:off x="2141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p13"/>
          <p:cNvSpPr/>
          <p:nvPr/>
        </p:nvSpPr>
        <p:spPr>
          <a:xfrm>
            <a:off x="2453200"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13"/>
          <p:cNvSpPr/>
          <p:nvPr/>
        </p:nvSpPr>
        <p:spPr>
          <a:xfrm>
            <a:off x="2765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13"/>
          <p:cNvSpPr/>
          <p:nvPr/>
        </p:nvSpPr>
        <p:spPr>
          <a:xfrm>
            <a:off x="497200"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25" name="Google Shape;425;p13"/>
          <p:cNvSpPr/>
          <p:nvPr/>
        </p:nvSpPr>
        <p:spPr>
          <a:xfrm>
            <a:off x="1517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6" name="Google Shape;426;p13"/>
          <p:cNvSpPr/>
          <p:nvPr/>
        </p:nvSpPr>
        <p:spPr>
          <a:xfrm>
            <a:off x="1829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7" name="Google Shape;427;p13"/>
          <p:cNvSpPr/>
          <p:nvPr/>
        </p:nvSpPr>
        <p:spPr>
          <a:xfrm>
            <a:off x="2141200"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8" name="Google Shape;428;p13"/>
          <p:cNvSpPr/>
          <p:nvPr/>
        </p:nvSpPr>
        <p:spPr>
          <a:xfrm>
            <a:off x="2453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9" name="Google Shape;429;p13"/>
          <p:cNvSpPr/>
          <p:nvPr/>
        </p:nvSpPr>
        <p:spPr>
          <a:xfrm>
            <a:off x="2765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0" name="Google Shape;430;p13"/>
          <p:cNvSpPr/>
          <p:nvPr/>
        </p:nvSpPr>
        <p:spPr>
          <a:xfrm>
            <a:off x="497200"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31" name="Google Shape;431;p13"/>
          <p:cNvSpPr/>
          <p:nvPr/>
        </p:nvSpPr>
        <p:spPr>
          <a:xfrm>
            <a:off x="1517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2" name="Google Shape;432;p13"/>
          <p:cNvSpPr/>
          <p:nvPr/>
        </p:nvSpPr>
        <p:spPr>
          <a:xfrm>
            <a:off x="1829200"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3" name="Google Shape;433;p13"/>
          <p:cNvSpPr/>
          <p:nvPr/>
        </p:nvSpPr>
        <p:spPr>
          <a:xfrm>
            <a:off x="2141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13"/>
          <p:cNvSpPr/>
          <p:nvPr/>
        </p:nvSpPr>
        <p:spPr>
          <a:xfrm>
            <a:off x="2453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5" name="Google Shape;435;p13"/>
          <p:cNvSpPr/>
          <p:nvPr/>
        </p:nvSpPr>
        <p:spPr>
          <a:xfrm>
            <a:off x="2765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13"/>
          <p:cNvSpPr/>
          <p:nvPr/>
        </p:nvSpPr>
        <p:spPr>
          <a:xfrm>
            <a:off x="497200"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37" name="Google Shape;437;p13"/>
          <p:cNvSpPr/>
          <p:nvPr/>
        </p:nvSpPr>
        <p:spPr>
          <a:xfrm>
            <a:off x="1517200"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p13"/>
          <p:cNvSpPr/>
          <p:nvPr/>
        </p:nvSpPr>
        <p:spPr>
          <a:xfrm>
            <a:off x="1829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9" name="Google Shape;439;p13"/>
          <p:cNvSpPr/>
          <p:nvPr/>
        </p:nvSpPr>
        <p:spPr>
          <a:xfrm>
            <a:off x="2141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13"/>
          <p:cNvSpPr/>
          <p:nvPr/>
        </p:nvSpPr>
        <p:spPr>
          <a:xfrm>
            <a:off x="2453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1" name="Google Shape;441;p13"/>
          <p:cNvSpPr/>
          <p:nvPr/>
        </p:nvSpPr>
        <p:spPr>
          <a:xfrm>
            <a:off x="2765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2" name="Google Shape;442;p13"/>
          <p:cNvSpPr/>
          <p:nvPr/>
        </p:nvSpPr>
        <p:spPr>
          <a:xfrm>
            <a:off x="1492200" y="16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3" name="Google Shape;443;p13"/>
          <p:cNvSpPr/>
          <p:nvPr/>
        </p:nvSpPr>
        <p:spPr>
          <a:xfrm>
            <a:off x="1492200" y="20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4" name="Google Shape;444;p13"/>
          <p:cNvSpPr/>
          <p:nvPr/>
        </p:nvSpPr>
        <p:spPr>
          <a:xfrm>
            <a:off x="1492200" y="25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13"/>
          <p:cNvSpPr/>
          <p:nvPr/>
        </p:nvSpPr>
        <p:spPr>
          <a:xfrm>
            <a:off x="1492200" y="29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p13"/>
          <p:cNvSpPr/>
          <p:nvPr/>
        </p:nvSpPr>
        <p:spPr>
          <a:xfrm>
            <a:off x="1492200" y="34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13"/>
          <p:cNvSpPr/>
          <p:nvPr/>
        </p:nvSpPr>
        <p:spPr>
          <a:xfrm>
            <a:off x="457200"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448" name="Google Shape;448;p13"/>
          <p:cNvSpPr/>
          <p:nvPr/>
        </p:nvSpPr>
        <p:spPr>
          <a:xfrm>
            <a:off x="3310128"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9" name="Google Shape;449;p13"/>
          <p:cNvSpPr/>
          <p:nvPr/>
        </p:nvSpPr>
        <p:spPr>
          <a:xfrm>
            <a:off x="3350128"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50" name="Google Shape;450;p13"/>
          <p:cNvSpPr/>
          <p:nvPr/>
        </p:nvSpPr>
        <p:spPr>
          <a:xfrm>
            <a:off x="4370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1" name="Google Shape;451;p13"/>
          <p:cNvSpPr/>
          <p:nvPr/>
        </p:nvSpPr>
        <p:spPr>
          <a:xfrm>
            <a:off x="4682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2" name="Google Shape;452;p13"/>
          <p:cNvSpPr/>
          <p:nvPr/>
        </p:nvSpPr>
        <p:spPr>
          <a:xfrm>
            <a:off x="4994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3" name="Google Shape;453;p13"/>
          <p:cNvSpPr/>
          <p:nvPr/>
        </p:nvSpPr>
        <p:spPr>
          <a:xfrm>
            <a:off x="5306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13"/>
          <p:cNvSpPr/>
          <p:nvPr/>
        </p:nvSpPr>
        <p:spPr>
          <a:xfrm>
            <a:off x="5618128"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5" name="Google Shape;455;p13"/>
          <p:cNvSpPr/>
          <p:nvPr/>
        </p:nvSpPr>
        <p:spPr>
          <a:xfrm>
            <a:off x="3350128"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56" name="Google Shape;456;p13"/>
          <p:cNvSpPr/>
          <p:nvPr/>
        </p:nvSpPr>
        <p:spPr>
          <a:xfrm>
            <a:off x="4370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7" name="Google Shape;457;p13"/>
          <p:cNvSpPr/>
          <p:nvPr/>
        </p:nvSpPr>
        <p:spPr>
          <a:xfrm>
            <a:off x="4682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8" name="Google Shape;458;p13"/>
          <p:cNvSpPr/>
          <p:nvPr/>
        </p:nvSpPr>
        <p:spPr>
          <a:xfrm>
            <a:off x="4994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9" name="Google Shape;459;p13"/>
          <p:cNvSpPr/>
          <p:nvPr/>
        </p:nvSpPr>
        <p:spPr>
          <a:xfrm>
            <a:off x="5306128"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13"/>
          <p:cNvSpPr/>
          <p:nvPr/>
        </p:nvSpPr>
        <p:spPr>
          <a:xfrm>
            <a:off x="5618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1" name="Google Shape;461;p13"/>
          <p:cNvSpPr/>
          <p:nvPr/>
        </p:nvSpPr>
        <p:spPr>
          <a:xfrm>
            <a:off x="3350128"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62" name="Google Shape;462;p13"/>
          <p:cNvSpPr/>
          <p:nvPr/>
        </p:nvSpPr>
        <p:spPr>
          <a:xfrm>
            <a:off x="4370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13"/>
          <p:cNvSpPr/>
          <p:nvPr/>
        </p:nvSpPr>
        <p:spPr>
          <a:xfrm>
            <a:off x="4682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4" name="Google Shape;464;p13"/>
          <p:cNvSpPr/>
          <p:nvPr/>
        </p:nvSpPr>
        <p:spPr>
          <a:xfrm>
            <a:off x="4994128"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5" name="Google Shape;465;p13"/>
          <p:cNvSpPr/>
          <p:nvPr/>
        </p:nvSpPr>
        <p:spPr>
          <a:xfrm>
            <a:off x="5306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6" name="Google Shape;466;p13"/>
          <p:cNvSpPr/>
          <p:nvPr/>
        </p:nvSpPr>
        <p:spPr>
          <a:xfrm>
            <a:off x="5618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7" name="Google Shape;467;p13"/>
          <p:cNvSpPr/>
          <p:nvPr/>
        </p:nvSpPr>
        <p:spPr>
          <a:xfrm>
            <a:off x="3350128"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68" name="Google Shape;468;p13"/>
          <p:cNvSpPr/>
          <p:nvPr/>
        </p:nvSpPr>
        <p:spPr>
          <a:xfrm>
            <a:off x="4370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9" name="Google Shape;469;p13"/>
          <p:cNvSpPr/>
          <p:nvPr/>
        </p:nvSpPr>
        <p:spPr>
          <a:xfrm>
            <a:off x="4682128"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0" name="Google Shape;470;p13"/>
          <p:cNvSpPr/>
          <p:nvPr/>
        </p:nvSpPr>
        <p:spPr>
          <a:xfrm>
            <a:off x="4994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1" name="Google Shape;471;p13"/>
          <p:cNvSpPr/>
          <p:nvPr/>
        </p:nvSpPr>
        <p:spPr>
          <a:xfrm>
            <a:off x="5306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13"/>
          <p:cNvSpPr/>
          <p:nvPr/>
        </p:nvSpPr>
        <p:spPr>
          <a:xfrm>
            <a:off x="5618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3" name="Google Shape;473;p13"/>
          <p:cNvSpPr/>
          <p:nvPr/>
        </p:nvSpPr>
        <p:spPr>
          <a:xfrm>
            <a:off x="3350128"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74" name="Google Shape;474;p13"/>
          <p:cNvSpPr/>
          <p:nvPr/>
        </p:nvSpPr>
        <p:spPr>
          <a:xfrm>
            <a:off x="4370128"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4682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6" name="Google Shape;476;p13"/>
          <p:cNvSpPr/>
          <p:nvPr/>
        </p:nvSpPr>
        <p:spPr>
          <a:xfrm>
            <a:off x="4994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13"/>
          <p:cNvSpPr/>
          <p:nvPr/>
        </p:nvSpPr>
        <p:spPr>
          <a:xfrm>
            <a:off x="5306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5618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4325128" y="1600000"/>
            <a:ext cx="1650000" cy="2255000"/>
          </a:xfrm>
          <a:prstGeom prst="rect">
            <a:avLst/>
          </a:prstGeom>
          <a:noFill/>
          <a:ln cap="flat" cmpd="sng" w="22225">
            <a:solidFill>
              <a:srgbClr val="1F293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0" name="Google Shape;480;p13"/>
          <p:cNvSpPr/>
          <p:nvPr/>
        </p:nvSpPr>
        <p:spPr>
          <a:xfrm>
            <a:off x="3310128"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1 model on all repositories</a:t>
            </a:r>
            <a:endParaRPr/>
          </a:p>
        </p:txBody>
      </p:sp>
      <p:sp>
        <p:nvSpPr>
          <p:cNvPr id="481" name="Google Shape;481;p13"/>
          <p:cNvSpPr/>
          <p:nvPr/>
        </p:nvSpPr>
        <p:spPr>
          <a:xfrm>
            <a:off x="6163056"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6203056"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83" name="Google Shape;483;p13"/>
          <p:cNvSpPr/>
          <p:nvPr/>
        </p:nvSpPr>
        <p:spPr>
          <a:xfrm>
            <a:off x="7223056" y="16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13"/>
          <p:cNvSpPr/>
          <p:nvPr/>
        </p:nvSpPr>
        <p:spPr>
          <a:xfrm>
            <a:off x="6203056"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85" name="Google Shape;485;p13"/>
          <p:cNvSpPr/>
          <p:nvPr/>
        </p:nvSpPr>
        <p:spPr>
          <a:xfrm>
            <a:off x="7223056" y="209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6203056"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87" name="Google Shape;487;p13"/>
          <p:cNvSpPr/>
          <p:nvPr/>
        </p:nvSpPr>
        <p:spPr>
          <a:xfrm>
            <a:off x="7223056" y="25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8" name="Google Shape;488;p13"/>
          <p:cNvSpPr/>
          <p:nvPr/>
        </p:nvSpPr>
        <p:spPr>
          <a:xfrm>
            <a:off x="6203056"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89" name="Google Shape;489;p13"/>
          <p:cNvSpPr/>
          <p:nvPr/>
        </p:nvSpPr>
        <p:spPr>
          <a:xfrm>
            <a:off x="7223056" y="2995000"/>
            <a:ext cx="156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0" name="Google Shape;490;p13"/>
          <p:cNvSpPr/>
          <p:nvPr/>
        </p:nvSpPr>
        <p:spPr>
          <a:xfrm>
            <a:off x="7223056" y="2995000"/>
            <a:ext cx="1560000" cy="365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held out</a:t>
            </a:r>
            <a:endParaRPr/>
          </a:p>
        </p:txBody>
      </p:sp>
      <p:sp>
        <p:nvSpPr>
          <p:cNvPr id="491" name="Google Shape;491;p13"/>
          <p:cNvSpPr/>
          <p:nvPr/>
        </p:nvSpPr>
        <p:spPr>
          <a:xfrm>
            <a:off x="6203056"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92" name="Google Shape;492;p13"/>
          <p:cNvSpPr/>
          <p:nvPr/>
        </p:nvSpPr>
        <p:spPr>
          <a:xfrm>
            <a:off x="7223056" y="34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3" name="Google Shape;493;p13"/>
          <p:cNvSpPr/>
          <p:nvPr/>
        </p:nvSpPr>
        <p:spPr>
          <a:xfrm>
            <a:off x="6163056"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runs, one held-out repository each</a:t>
            </a:r>
            <a:endParaRPr/>
          </a:p>
        </p:txBody>
      </p:sp>
      <p:sp>
        <p:nvSpPr>
          <p:cNvPr id="494" name="Google Shape;494;p13"/>
          <p:cNvSpPr/>
          <p:nvPr/>
        </p:nvSpPr>
        <p:spPr>
          <a:xfrm>
            <a:off x="9015984"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5" name="Google Shape;495;p13"/>
          <p:cNvSpPr/>
          <p:nvPr/>
        </p:nvSpPr>
        <p:spPr>
          <a:xfrm>
            <a:off x="9055984"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96" name="Google Shape;496;p13"/>
          <p:cNvSpPr/>
          <p:nvPr/>
        </p:nvSpPr>
        <p:spPr>
          <a:xfrm>
            <a:off x="10075984" y="16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7" name="Google Shape;497;p13"/>
          <p:cNvSpPr/>
          <p:nvPr/>
        </p:nvSpPr>
        <p:spPr>
          <a:xfrm>
            <a:off x="10855984" y="16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8" name="Google Shape;498;p13"/>
          <p:cNvSpPr/>
          <p:nvPr/>
        </p:nvSpPr>
        <p:spPr>
          <a:xfrm>
            <a:off x="9055984"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99" name="Google Shape;499;p13"/>
          <p:cNvSpPr/>
          <p:nvPr/>
        </p:nvSpPr>
        <p:spPr>
          <a:xfrm>
            <a:off x="10075984" y="20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0" name="Google Shape;500;p13"/>
          <p:cNvSpPr/>
          <p:nvPr/>
        </p:nvSpPr>
        <p:spPr>
          <a:xfrm>
            <a:off x="10855984" y="20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1" name="Google Shape;501;p13"/>
          <p:cNvSpPr/>
          <p:nvPr/>
        </p:nvSpPr>
        <p:spPr>
          <a:xfrm>
            <a:off x="9055984"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502" name="Google Shape;502;p13"/>
          <p:cNvSpPr/>
          <p:nvPr/>
        </p:nvSpPr>
        <p:spPr>
          <a:xfrm>
            <a:off x="10075984" y="25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3" name="Google Shape;503;p13"/>
          <p:cNvSpPr/>
          <p:nvPr/>
        </p:nvSpPr>
        <p:spPr>
          <a:xfrm>
            <a:off x="10855984" y="25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13"/>
          <p:cNvSpPr/>
          <p:nvPr/>
        </p:nvSpPr>
        <p:spPr>
          <a:xfrm>
            <a:off x="9055984"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505" name="Google Shape;505;p13"/>
          <p:cNvSpPr/>
          <p:nvPr/>
        </p:nvSpPr>
        <p:spPr>
          <a:xfrm>
            <a:off x="10075984" y="29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6" name="Google Shape;506;p13"/>
          <p:cNvSpPr/>
          <p:nvPr/>
        </p:nvSpPr>
        <p:spPr>
          <a:xfrm>
            <a:off x="10855984" y="29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13"/>
          <p:cNvSpPr/>
          <p:nvPr/>
        </p:nvSpPr>
        <p:spPr>
          <a:xfrm>
            <a:off x="9055984"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508" name="Google Shape;508;p13"/>
          <p:cNvSpPr/>
          <p:nvPr/>
        </p:nvSpPr>
        <p:spPr>
          <a:xfrm>
            <a:off x="10075984" y="34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13"/>
          <p:cNvSpPr/>
          <p:nvPr/>
        </p:nvSpPr>
        <p:spPr>
          <a:xfrm>
            <a:off x="10855984" y="34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0" name="Google Shape;510;p13"/>
          <p:cNvSpPr/>
          <p:nvPr/>
        </p:nvSpPr>
        <p:spPr>
          <a:xfrm>
            <a:off x="9015984"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511" name="Google Shape;511;p13"/>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14"/>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System Pipeline and Contributions</a:t>
            </a:r>
            <a:endParaRPr b="0" i="0" sz="1800" u="none" cap="none" strike="noStrike">
              <a:solidFill>
                <a:srgbClr val="000000"/>
              </a:solidFill>
              <a:latin typeface="Calibri"/>
              <a:ea typeface="Calibri"/>
              <a:cs typeface="Calibri"/>
              <a:sym typeface="Calibri"/>
            </a:endParaRPr>
          </a:p>
        </p:txBody>
      </p:sp>
      <p:graphicFrame>
        <p:nvGraphicFramePr>
          <p:cNvPr id="517" name="Google Shape;517;p14"/>
          <p:cNvGraphicFramePr/>
          <p:nvPr/>
        </p:nvGraphicFramePr>
        <p:xfrm>
          <a:off x="5852160" y="1280160"/>
          <a:ext cx="3000000" cy="3000000"/>
        </p:xfrm>
        <a:graphic>
          <a:graphicData uri="http://schemas.openxmlformats.org/drawingml/2006/table">
            <a:tbl>
              <a:tblPr bandRow="1" firstRow="1">
                <a:noFill/>
                <a:tableStyleId>{A0BF76A3-E3C1-4D28-9EA3-6F8B04578915}</a:tableStyleId>
              </a:tblPr>
              <a:tblGrid>
                <a:gridCol w="640075"/>
                <a:gridCol w="2194550"/>
                <a:gridCol w="3063250"/>
              </a:tblGrid>
              <a:tr h="600000">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Member</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Contribution</a:t>
                      </a:r>
                      <a:endParaRPr sz="1400" u="none" cap="none" strike="noStrike"/>
                    </a:p>
                  </a:txBody>
                  <a:tcPr marT="45725" marB="45725" marR="91450" marL="91450" anchor="ctr">
                    <a:solidFill>
                      <a:srgbClr val="0B2E63"/>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Pham Tuan Kiet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Leader, data, splits, LR</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P2</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Trung Hieu</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Sparse models, fastText</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P3</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 Ngoc Anh</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RoBERTa full / LoRA</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Hoang Nam</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SetFit MPNet / MiniLM</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P5</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Bui Tien Dung</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Evaluation, ensemble, demo</a:t>
                      </a:r>
                      <a:endParaRPr sz="1400" u="none" cap="none" strike="noStrike"/>
                    </a:p>
                  </a:txBody>
                  <a:tcPr marT="45725" marB="45725" marR="91450" marL="91450" anchor="ctr">
                    <a:solidFill>
                      <a:srgbClr val="EEF2F8"/>
                    </a:solidFill>
                  </a:tcPr>
                </a:tc>
              </a:tr>
            </a:tbl>
          </a:graphicData>
        </a:graphic>
      </p:graphicFrame>
      <p:sp>
        <p:nvSpPr>
          <p:cNvPr id="518" name="Google Shape;518;p14"/>
          <p:cNvSpPr txBox="1"/>
          <p:nvPr/>
        </p:nvSpPr>
        <p:spPr>
          <a:xfrm>
            <a:off x="5852160" y="5000000"/>
            <a:ext cx="5897880" cy="13716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The vectorizer is fitted only on the training partition to avoid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Interchangeable storage: in-memory, CSV, JSON</a:t>
            </a:r>
            <a:endParaRPr b="0" i="0" sz="1400" u="none" cap="none" strike="noStrike">
              <a:solidFill>
                <a:srgbClr val="000000"/>
              </a:solidFill>
              <a:latin typeface="Arial"/>
              <a:ea typeface="Arial"/>
              <a:cs typeface="Arial"/>
              <a:sym typeface="Arial"/>
            </a:endParaRPr>
          </a:p>
        </p:txBody>
      </p:sp>
      <p:sp>
        <p:nvSpPr>
          <p:cNvPr id="519" name="Google Shape;519;p14"/>
          <p:cNvSpPr/>
          <p:nvPr/>
        </p:nvSpPr>
        <p:spPr>
          <a:xfrm>
            <a:off x="457200" y="1143000"/>
            <a:ext cx="5000000" cy="47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NLBSE’24 dataset</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1,500 train + 1,500 official test issues</a:t>
            </a:r>
            <a:endParaRPr/>
          </a:p>
        </p:txBody>
      </p:sp>
      <p:sp>
        <p:nvSpPr>
          <p:cNvPr id="520" name="Google Shape;520;p14"/>
          <p:cNvSpPr/>
          <p:nvPr/>
        </p:nvSpPr>
        <p:spPr>
          <a:xfrm>
            <a:off x="457200" y="1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Dataset service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title + body + label</a:t>
            </a:r>
            <a:endParaRPr/>
          </a:p>
        </p:txBody>
      </p:sp>
      <p:cxnSp>
        <p:nvCxnSpPr>
          <p:cNvPr id="521" name="Google Shape;521;p14"/>
          <p:cNvCxnSpPr/>
          <p:nvPr/>
        </p:nvCxnSpPr>
        <p:spPr>
          <a:xfrm>
            <a:off x="2957200" y="1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2" name="Google Shape;522;p14"/>
          <p:cNvSpPr/>
          <p:nvPr/>
        </p:nvSpPr>
        <p:spPr>
          <a:xfrm>
            <a:off x="457200" y="246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 preparation</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protocol-aware splits, preprocessing</a:t>
            </a:r>
            <a:endParaRPr/>
          </a:p>
        </p:txBody>
      </p:sp>
      <p:cxnSp>
        <p:nvCxnSpPr>
          <p:cNvPr id="523" name="Google Shape;523;p14"/>
          <p:cNvCxnSpPr/>
          <p:nvPr/>
        </p:nvCxnSpPr>
        <p:spPr>
          <a:xfrm>
            <a:off x="2957200" y="2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4" name="Google Shape;524;p14"/>
          <p:cNvSpPr/>
          <p:nvPr/>
        </p:nvSpPr>
        <p:spPr>
          <a:xfrm>
            <a:off x="457200" y="3138000"/>
            <a:ext cx="5000000" cy="800000"/>
          </a:xfrm>
          <a:prstGeom prst="roundRect">
            <a:avLst>
              <a:gd fmla="val 12000" name="adj"/>
            </a:avLst>
          </a:prstGeom>
          <a:noFill/>
          <a:ln cap="flat" cmpd="sng" w="15875">
            <a:solidFill>
              <a:srgbClr val="BE1E2D"/>
            </a:solidFill>
            <a:prstDash val="dash"/>
            <a:round/>
            <a:headEnd len="sm" w="sm" type="none"/>
            <a:tailEnd len="sm" w="sm" type="none"/>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5" name="Google Shape;525;p14"/>
          <p:cNvSpPr/>
          <p:nvPr/>
        </p:nvSpPr>
        <p:spPr>
          <a:xfrm>
            <a:off x="52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Sparse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TF-IDF models, fastText</a:t>
            </a:r>
            <a:endParaRPr/>
          </a:p>
        </p:txBody>
      </p:sp>
      <p:sp>
        <p:nvSpPr>
          <p:cNvPr id="526" name="Google Shape;526;p14"/>
          <p:cNvSpPr/>
          <p:nvPr/>
        </p:nvSpPr>
        <p:spPr>
          <a:xfrm>
            <a:off x="2152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RoBERTa</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full / LoRA</a:t>
            </a:r>
            <a:endParaRPr/>
          </a:p>
        </p:txBody>
      </p:sp>
      <p:sp>
        <p:nvSpPr>
          <p:cNvPr id="527" name="Google Shape;527;p14"/>
          <p:cNvSpPr/>
          <p:nvPr/>
        </p:nvSpPr>
        <p:spPr>
          <a:xfrm>
            <a:off x="377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SetFit</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MPNet / MiniLM</a:t>
            </a:r>
            <a:endParaRPr/>
          </a:p>
        </p:txBody>
      </p:sp>
      <p:cxnSp>
        <p:nvCxnSpPr>
          <p:cNvPr id="528" name="Google Shape;528;p14"/>
          <p:cNvCxnSpPr/>
          <p:nvPr/>
        </p:nvCxnSpPr>
        <p:spPr>
          <a:xfrm>
            <a:off x="2957200" y="297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9" name="Google Shape;529;p14"/>
          <p:cNvSpPr/>
          <p:nvPr/>
        </p:nvSpPr>
        <p:spPr>
          <a:xfrm>
            <a:off x="457200" y="411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Predictions and scores</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predicted labels, model outputs</a:t>
            </a:r>
            <a:endParaRPr/>
          </a:p>
        </p:txBody>
      </p:sp>
      <p:cxnSp>
        <p:nvCxnSpPr>
          <p:cNvPr id="530" name="Google Shape;530;p14"/>
          <p:cNvCxnSpPr/>
          <p:nvPr/>
        </p:nvCxnSpPr>
        <p:spPr>
          <a:xfrm>
            <a:off x="2957200" y="395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1" name="Google Shape;531;p14"/>
          <p:cNvSpPr/>
          <p:nvPr/>
        </p:nvSpPr>
        <p:spPr>
          <a:xfrm>
            <a:off x="457200" y="4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Common evaluation layer</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Macro-F1, repository-level summaries</a:t>
            </a:r>
            <a:endParaRPr/>
          </a:p>
        </p:txBody>
      </p:sp>
      <p:cxnSp>
        <p:nvCxnSpPr>
          <p:cNvPr id="532" name="Google Shape;532;p14"/>
          <p:cNvCxnSpPr/>
          <p:nvPr/>
        </p:nvCxnSpPr>
        <p:spPr>
          <a:xfrm>
            <a:off x="2957200" y="4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3" name="Google Shape;533;p14"/>
          <p:cNvSpPr/>
          <p:nvPr/>
        </p:nvSpPr>
        <p:spPr>
          <a:xfrm>
            <a:off x="457200" y="5463000"/>
            <a:ext cx="5000000" cy="50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Structured result artifacts</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configuration, metrics, resources</a:t>
            </a:r>
            <a:endParaRPr/>
          </a:p>
        </p:txBody>
      </p:sp>
      <p:cxnSp>
        <p:nvCxnSpPr>
          <p:cNvPr id="534" name="Google Shape;534;p14"/>
          <p:cNvCxnSpPr/>
          <p:nvPr/>
        </p:nvCxnSpPr>
        <p:spPr>
          <a:xfrm>
            <a:off x="2957200" y="5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5" name="Google Shape;535;p14"/>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15"/>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41" name="Google Shape;541;p15"/>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42" name="Google Shape;542;p15"/>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43" name="Google Shape;543;p15"/>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544" name="Google Shape;544;p15"/>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545" name="Google Shape;545;p15"/>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16"/>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Baseline: TF-IDF + Logistic Regression</a:t>
            </a:r>
            <a:endParaRPr b="0" i="0" sz="1800" u="none" cap="none" strike="noStrike">
              <a:solidFill>
                <a:srgbClr val="000000"/>
              </a:solidFill>
              <a:latin typeface="Calibri"/>
              <a:ea typeface="Calibri"/>
              <a:cs typeface="Calibri"/>
              <a:sym typeface="Calibri"/>
            </a:endParaRPr>
          </a:p>
        </p:txBody>
      </p:sp>
      <p:pic>
        <p:nvPicPr>
          <p:cNvPr descr="Bar chart: Macro-F1 of TF-IDF + Logistic Regression with title+body vs title only, under CV and LOO" id="551" name="Google Shape;551;p16"/>
          <p:cNvPicPr preferRelativeResize="0"/>
          <p:nvPr/>
        </p:nvPicPr>
        <p:blipFill rotWithShape="1">
          <a:blip r:embed="rId3">
            <a:alphaModFix/>
          </a:blip>
          <a:srcRect b="0" l="0" r="0" t="0"/>
          <a:stretch/>
        </p:blipFill>
        <p:spPr>
          <a:xfrm>
            <a:off x="537168" y="1188720"/>
            <a:ext cx="6423743" cy="4663440"/>
          </a:xfrm>
          <a:prstGeom prst="rect">
            <a:avLst/>
          </a:prstGeom>
          <a:noFill/>
          <a:ln>
            <a:noFill/>
          </a:ln>
        </p:spPr>
      </p:pic>
      <p:sp>
        <p:nvSpPr>
          <p:cNvPr id="552" name="Google Shape;552;p16"/>
          <p:cNvSpPr/>
          <p:nvPr/>
        </p:nvSpPr>
        <p:spPr>
          <a:xfrm>
            <a:off x="7406640" y="128016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+0.0801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Title + body vs title only (LOO), paired bootstrap 95% CI [0.0484, 0.1120]</a:t>
            </a:r>
            <a:endParaRPr b="0" i="0" sz="1400" u="none" cap="none" strike="noStrike">
              <a:solidFill>
                <a:srgbClr val="000000"/>
              </a:solidFill>
              <a:latin typeface="Arial"/>
              <a:ea typeface="Arial"/>
              <a:cs typeface="Arial"/>
              <a:sym typeface="Arial"/>
            </a:endParaRPr>
          </a:p>
        </p:txBody>
      </p:sp>
      <p:sp>
        <p:nvSpPr>
          <p:cNvPr id="553" name="Google Shape;553;p16"/>
          <p:cNvSpPr/>
          <p:nvPr/>
        </p:nvSpPr>
        <p:spPr>
          <a:xfrm>
            <a:off x="7406640" y="283464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0.7636 → 0.5876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CV → LOO: unseen repositories are much harder (training data also changes)</a:t>
            </a:r>
            <a:endParaRPr b="0" i="0" sz="1400" u="none" cap="none" strike="noStrike">
              <a:solidFill>
                <a:srgbClr val="000000"/>
              </a:solidFill>
              <a:latin typeface="Arial"/>
              <a:ea typeface="Arial"/>
              <a:cs typeface="Arial"/>
              <a:sym typeface="Arial"/>
            </a:endParaRPr>
          </a:p>
        </p:txBody>
      </p:sp>
      <p:sp>
        <p:nvSpPr>
          <p:cNvPr id="554" name="Google Shape;554;p16"/>
          <p:cNvSpPr txBox="1"/>
          <p:nvPr/>
        </p:nvSpPr>
        <p:spPr>
          <a:xfrm>
            <a:off x="7406640" y="4389120"/>
            <a:ext cx="4343400" cy="14630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Word 1–2 gram, min_df 2, 50,000 features, C = 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Title-only is an ablation that removes the body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 uses fixed predictions: excludes training variability and new-repository uncertainty</a:t>
            </a:r>
            <a:endParaRPr b="0" i="0" sz="1400" u="none" cap="none" strike="noStrike">
              <a:solidFill>
                <a:srgbClr val="000000"/>
              </a:solidFill>
              <a:latin typeface="Arial"/>
              <a:ea typeface="Arial"/>
              <a:cs typeface="Arial"/>
              <a:sym typeface="Arial"/>
            </a:endParaRPr>
          </a:p>
        </p:txBody>
      </p:sp>
      <p:sp>
        <p:nvSpPr>
          <p:cNvPr id="555" name="Google Shape;555;p16"/>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Lightweight Models</a:t>
            </a:r>
            <a:endParaRPr b="0" i="0" sz="1800" u="none" cap="none" strike="noStrike">
              <a:solidFill>
                <a:srgbClr val="000000"/>
              </a:solidFill>
              <a:latin typeface="Calibri"/>
              <a:ea typeface="Calibri"/>
              <a:cs typeface="Calibri"/>
              <a:sym typeface="Calibri"/>
            </a:endParaRPr>
          </a:p>
        </p:txBody>
      </p:sp>
      <p:graphicFrame>
        <p:nvGraphicFramePr>
          <p:cNvPr id="561" name="Google Shape;561;p17"/>
          <p:cNvGraphicFramePr/>
          <p:nvPr/>
        </p:nvGraphicFramePr>
        <p:xfrm>
          <a:off x="457200" y="1280160"/>
          <a:ext cx="3000000" cy="3000000"/>
        </p:xfrm>
        <a:graphic>
          <a:graphicData uri="http://schemas.openxmlformats.org/drawingml/2006/table">
            <a:tbl>
              <a:tblPr bandRow="1" firstRow="1">
                <a:noFill/>
                <a:tableStyleId>{A0BF76A3-E3C1-4D28-9EA3-6F8B04578915}</a:tableStyleId>
              </a:tblPr>
              <a:tblGrid>
                <a:gridCol w="2926075"/>
                <a:gridCol w="1280150"/>
                <a:gridCol w="1280150"/>
                <a:gridCol w="1280150"/>
              </a:tblGrid>
              <a:tr h="6400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Model</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CV</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LOO</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Official</a:t>
                      </a:r>
                      <a:endParaRPr sz="1400" u="none" cap="none" strike="noStrike"/>
                    </a:p>
                  </a:txBody>
                  <a:tcPr marT="45725" marB="45725" marR="91450" marL="91450" anchor="ctr">
                    <a:solidFill>
                      <a:srgbClr val="0B2E63"/>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LinearSVC</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0.7541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0.5898</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0.7498</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 Char LinearSVC</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0.7533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0.6003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0.7591</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Hashed SGD</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0.7030</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0.6152</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0.7322</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Supervised fastText</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0.7089</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0.5384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0.6896</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Complement NB</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0.7054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0.4904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0.7108</a:t>
                      </a:r>
                      <a:endParaRPr sz="1400" u="none" cap="none" strike="noStrike"/>
                    </a:p>
                  </a:txBody>
                  <a:tcPr marT="45725" marB="45725" marR="91450" marL="91450" anchor="ctr">
                    <a:solidFill>
                      <a:srgbClr val="EEF2F8"/>
                    </a:solidFill>
                  </a:tcPr>
                </a:tc>
              </a:tr>
            </a:tbl>
          </a:graphicData>
        </a:graphic>
      </p:graphicFrame>
      <p:sp>
        <p:nvSpPr>
          <p:cNvPr id="562" name="Google Shape;562;p17"/>
          <p:cNvSpPr txBox="1"/>
          <p:nvPr/>
        </p:nvSpPr>
        <p:spPr>
          <a:xfrm>
            <a:off x="7589520" y="1280160"/>
            <a:ext cx="4206240"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Word+Char beats Word-only on LOO and Official, but needs ~8.5× the fitting time and ~11.5× the inference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Hashed SGD has the highest LOO score (0.6152) despite a CV score of only 0.7030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Model ranking changes across protocols; each score must be reported with its protocol</a:t>
            </a:r>
            <a:endParaRPr b="0" i="0" sz="1400" u="none" cap="none" strike="noStrike">
              <a:solidFill>
                <a:srgbClr val="000000"/>
              </a:solidFill>
              <a:latin typeface="Arial"/>
              <a:ea typeface="Arial"/>
              <a:cs typeface="Arial"/>
              <a:sym typeface="Arial"/>
            </a:endParaRPr>
          </a:p>
        </p:txBody>
      </p:sp>
      <p:sp>
        <p:nvSpPr>
          <p:cNvPr id="563" name="Google Shape;563;p17"/>
          <p:cNvSpPr/>
          <p:nvPr/>
        </p:nvSpPr>
        <p:spPr>
          <a:xfrm>
            <a:off x="457200" y="5230610"/>
            <a:ext cx="6800000" cy="32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Bold red = best in column (Macro-F1, seed 42)</a:t>
            </a:r>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1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RoBERTa: Full fine-tuning vs LoRA</a:t>
            </a:r>
            <a:endParaRPr b="0" i="0" sz="1800" u="none" cap="none" strike="noStrike">
              <a:solidFill>
                <a:srgbClr val="000000"/>
              </a:solidFill>
              <a:latin typeface="Calibri"/>
              <a:ea typeface="Calibri"/>
              <a:cs typeface="Calibri"/>
              <a:sym typeface="Calibri"/>
            </a:endParaRPr>
          </a:p>
        </p:txBody>
      </p:sp>
      <p:pic>
        <p:nvPicPr>
          <p:cNvPr descr="Dot plot: Macro-F1 by repository for RoBERTa full fine-tuning vs LoRA" id="570" name="Google Shape;570;p18"/>
          <p:cNvPicPr preferRelativeResize="0"/>
          <p:nvPr/>
        </p:nvPicPr>
        <p:blipFill rotWithShape="1">
          <a:blip r:embed="rId3">
            <a:alphaModFix/>
          </a:blip>
          <a:srcRect b="0" l="0" r="0" t="0"/>
          <a:stretch/>
        </p:blipFill>
        <p:spPr>
          <a:xfrm>
            <a:off x="457200" y="1228622"/>
            <a:ext cx="7315200" cy="4583635"/>
          </a:xfrm>
          <a:prstGeom prst="rect">
            <a:avLst/>
          </a:prstGeom>
          <a:noFill/>
          <a:ln>
            <a:noFill/>
          </a:ln>
        </p:spPr>
      </p:pic>
      <p:sp>
        <p:nvSpPr>
          <p:cNvPr id="571" name="Google Shape;571;p18"/>
          <p:cNvSpPr txBox="1"/>
          <p:nvPr/>
        </p:nvSpPr>
        <p:spPr>
          <a:xfrm>
            <a:off x="8046720" y="1280160"/>
            <a:ext cx="3749039"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Repo-specific CV mean: Full 0.7853, LoRA 0.7800 (LoRA − Full = −0.0052)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LoRA − Full by repository: React +0.0240, VS Code +0.0155, TensorFlow −0.0550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Other protocols (Full / LoRA): pooled CV 0.7924 / 0.7994, LOO 0.6867 / 0.6896, official 0.8033 / 0.7937</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two training recipes differ, so differences cannot be attributed solely to the adapter mechanism</a:t>
            </a:r>
            <a:endParaRPr b="0" i="0" sz="1400" u="none" cap="none" strike="noStrike">
              <a:solidFill>
                <a:srgbClr val="000000"/>
              </a:solidFill>
              <a:latin typeface="Arial"/>
              <a:ea typeface="Arial"/>
              <a:cs typeface="Arial"/>
              <a:sym typeface="Arial"/>
            </a:endParaRPr>
          </a:p>
        </p:txBody>
      </p:sp>
      <p:sp>
        <p:nvSpPr>
          <p:cNvPr id="572" name="Google Shape;572;p1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1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SetFit: Data Size and Contrastive Iterations</a:t>
            </a:r>
            <a:endParaRPr b="0" i="0" sz="1800" u="none" cap="none" strike="noStrike">
              <a:solidFill>
                <a:srgbClr val="000000"/>
              </a:solidFill>
              <a:latin typeface="Calibri"/>
              <a:ea typeface="Calibri"/>
              <a:cs typeface="Calibri"/>
              <a:sym typeface="Calibri"/>
            </a:endParaRPr>
          </a:p>
        </p:txBody>
      </p:sp>
      <p:pic>
        <p:nvPicPr>
          <p:cNvPr descr="Line chart: SetFit MPNet Macro-F1 by samples per class" id="578" name="Google Shape;578;p19"/>
          <p:cNvPicPr preferRelativeResize="0"/>
          <p:nvPr/>
        </p:nvPicPr>
        <p:blipFill rotWithShape="1">
          <a:blip r:embed="rId3">
            <a:alphaModFix/>
          </a:blip>
          <a:srcRect b="0" l="0" r="0" t="0"/>
          <a:stretch/>
        </p:blipFill>
        <p:spPr>
          <a:xfrm>
            <a:off x="514662" y="1188720"/>
            <a:ext cx="5462915" cy="3566160"/>
          </a:xfrm>
          <a:prstGeom prst="rect">
            <a:avLst/>
          </a:prstGeom>
          <a:noFill/>
          <a:ln>
            <a:noFill/>
          </a:ln>
        </p:spPr>
      </p:pic>
      <p:pic>
        <p:nvPicPr>
          <p:cNvPr descr="Bar chart: SetFit MPNet fit time by contrastive iterations" id="579" name="Google Shape;579;p19"/>
          <p:cNvPicPr preferRelativeResize="0"/>
          <p:nvPr/>
        </p:nvPicPr>
        <p:blipFill rotWithShape="1">
          <a:blip r:embed="rId4">
            <a:alphaModFix/>
          </a:blip>
          <a:srcRect b="0" l="0" r="0" t="0"/>
          <a:stretch/>
        </p:blipFill>
        <p:spPr>
          <a:xfrm>
            <a:off x="6424699" y="1188720"/>
            <a:ext cx="5118561" cy="3566160"/>
          </a:xfrm>
          <a:prstGeom prst="rect">
            <a:avLst/>
          </a:prstGeom>
          <a:noFill/>
          <a:ln>
            <a:noFill/>
          </a:ln>
        </p:spPr>
      </p:pic>
      <p:sp>
        <p:nvSpPr>
          <p:cNvPr id="580" name="Google Shape;580;p19"/>
          <p:cNvSpPr txBox="1"/>
          <p:nvPr/>
        </p:nvSpPr>
        <p:spPr>
          <a:xfrm>
            <a:off x="457200" y="4892040"/>
            <a:ext cx="11292840" cy="10972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reaches 0.7953 vs MiniLM 0.7881, but MiniLM fits faster: 55.1 s vs 145.4 s (mean per run)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Fewer labeled samples clearly reduce performance; 5 iterations are nearly as good as 80 (0.7976 vs 0.7970) at ~12× lower fit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Official test (MPNet, 20 iterations): 0.8033 vs 0.7953 under CV; SetFit was not run under LOO or pooled CV</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2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Overall Comparison (repo-specific CV)</a:t>
            </a:r>
            <a:endParaRPr b="0" i="0" sz="1800" u="none" cap="none" strike="noStrike">
              <a:solidFill>
                <a:srgbClr val="000000"/>
              </a:solidFill>
              <a:latin typeface="Calibri"/>
              <a:ea typeface="Calibri"/>
              <a:cs typeface="Calibri"/>
              <a:sym typeface="Calibri"/>
            </a:endParaRPr>
          </a:p>
        </p:txBody>
      </p:sp>
      <p:pic>
        <p:nvPicPr>
          <p:cNvPr descr="Dot plot: repo-specific CV Macro-F1 of the main models and the LR+MPNet hard vote" id="587" name="Google Shape;587;p20"/>
          <p:cNvPicPr preferRelativeResize="0"/>
          <p:nvPr/>
        </p:nvPicPr>
        <p:blipFill rotWithShape="1">
          <a:blip r:embed="rId3">
            <a:alphaModFix/>
          </a:blip>
          <a:srcRect b="0" l="0" r="0" t="0"/>
          <a:stretch/>
        </p:blipFill>
        <p:spPr>
          <a:xfrm>
            <a:off x="457200" y="1494899"/>
            <a:ext cx="6949440" cy="4051082"/>
          </a:xfrm>
          <a:prstGeom prst="rect">
            <a:avLst/>
          </a:prstGeom>
          <a:noFill/>
          <a:ln>
            <a:noFill/>
          </a:ln>
        </p:spPr>
      </p:pic>
      <p:sp>
        <p:nvSpPr>
          <p:cNvPr id="588" name="Google Shape;588;p20"/>
          <p:cNvSpPr/>
          <p:nvPr/>
        </p:nvSpPr>
        <p:spPr>
          <a:xfrm>
            <a:off x="7772400" y="128016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+0.0317</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MPNet − LR, paired bootstrap 95% CI [0.0085, 0.0557]</a:t>
            </a:r>
            <a:endParaRPr b="0" i="0" sz="1400" u="none" cap="none" strike="noStrike">
              <a:solidFill>
                <a:srgbClr val="000000"/>
              </a:solidFill>
              <a:latin typeface="Arial"/>
              <a:ea typeface="Arial"/>
              <a:cs typeface="Arial"/>
              <a:sym typeface="Arial"/>
            </a:endParaRPr>
          </a:p>
        </p:txBody>
      </p:sp>
      <p:sp>
        <p:nvSpPr>
          <p:cNvPr id="589" name="Google Shape;589;p20"/>
          <p:cNvSpPr/>
          <p:nvPr/>
        </p:nvSpPr>
        <p:spPr>
          <a:xfrm>
            <a:off x="7772400" y="274320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0.7885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Hard vote of LR + MPNet is below MPNet alone (0.7953)</a:t>
            </a:r>
            <a:endParaRPr b="0" i="0" sz="1400" u="none" cap="none" strike="noStrike">
              <a:solidFill>
                <a:srgbClr val="000000"/>
              </a:solidFill>
              <a:latin typeface="Arial"/>
              <a:ea typeface="Arial"/>
              <a:cs typeface="Arial"/>
              <a:sym typeface="Arial"/>
            </a:endParaRPr>
          </a:p>
        </p:txBody>
      </p:sp>
      <p:sp>
        <p:nvSpPr>
          <p:cNvPr id="590" name="Google Shape;590;p20"/>
          <p:cNvSpPr txBox="1"/>
          <p:nvPr/>
        </p:nvSpPr>
        <p:spPr>
          <a:xfrm>
            <a:off x="7772400" y="4206240"/>
            <a:ext cx="3977639"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CIs condition on fixed predictions: no training variability, no new-repository uncertainty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Pooled CV is reported separately: LoRA 0.7994, Full 0.7924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Do not rank results across different protocols</a:t>
            </a:r>
            <a:endParaRPr b="0" i="0" sz="1400" u="none" cap="none" strike="noStrike">
              <a:solidFill>
                <a:srgbClr val="000000"/>
              </a:solidFill>
              <a:latin typeface="Arial"/>
              <a:ea typeface="Arial"/>
              <a:cs typeface="Arial"/>
              <a:sym typeface="Arial"/>
            </a:endParaRPr>
          </a:p>
        </p:txBody>
      </p:sp>
      <p:sp>
        <p:nvSpPr>
          <p:cNvPr id="591" name="Google Shape;591;p2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Results Across All Four Protocols</a:t>
            </a:r>
            <a:endParaRPr b="0" i="0" sz="1800" u="none" cap="none" strike="noStrik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graphicFrame>
        <p:nvGraphicFramePr>
          <p:cNvPr id="565" name="Protocol matrix"/>
          <p:cNvGraphicFramePr>
            <a:graphicFrameLocks noGrp="1"/>
          </p:cNvGraphicFramePr>
          <p:nvPr/>
        </p:nvGraphicFramePr>
        <p:xfrm>
          <a:off x="457200" y="1200000"/>
          <a:ext cx="7500000" cy="4235000"/>
        </p:xfrm>
        <a:graphic>
          <a:graphicData uri="http://schemas.openxmlformats.org/drawingml/2006/table">
            <a:tbl>
              <a:tblPr firstRow="0" bandRow="0"/>
              <a:tblGrid>
                <a:gridCol w="2900000"/>
                <a:gridCol w="1150000"/>
                <a:gridCol w="1150000"/>
                <a:gridCol w="1150000"/>
                <a:gridCol w="1150000"/>
              </a:tblGrid>
              <a:tr h="385000">
                <a:tc>
                  <a:txBody>
                    <a:bodyPr wrap="square"/>
                    <a:lstStyle/>
                    <a:p>
                      <a:pPr algn="l"/>
                      <a:r>
                        <a:rPr sz="1400" b="1" i="0">
                          <a:solidFill>
                            <a:srgbClr val="FFFFFF"/>
                          </a:solidFill>
                          <a:latin typeface="Calibri"/>
                        </a:rPr>
                        <a:t>Model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Pooled 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LOO</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Official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r>
              <a:tr h="385000">
                <a:tc>
                  <a:txBody>
                    <a:bodyPr wrap="square"/>
                    <a:lstStyle/>
                    <a:p>
                      <a:pPr algn="l"/>
                      <a:r>
                        <a:rPr sz="1300" b="0" i="0">
                          <a:solidFill>
                            <a:srgbClr val="1F2937"/>
                          </a:solidFill>
                          <a:latin typeface="Calibri"/>
                        </a:rPr>
                        <a:t>TF-IDF + Logistic Regression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0.7636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0.7601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0.5876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0.7495</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Word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0.7541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0.7570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0.5898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Word + Char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0.7658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0.6003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0.7591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Hashed SGD</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0.7030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0.7460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0.6152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0.7322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Supervised fastText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0.7089</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0.7126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0.5384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Complement NB</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0.6757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0.4904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0.7108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RoBERTa full fine-tuning</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0.7853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0.7924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0.6867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RoBERTa LoRA</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0.7800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0.7994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0.7937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SetFit MPNet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0.7953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SetFit MiniLM</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0.7881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bl>
          </a:graphicData>
        </a:graphic>
      </p:graphicFrame>
      <p:sp>
        <p:nvSpPr>
          <p:cNvPr id="566" name="TextBox 565"/>
          <p:cNvSpPr txBox="1"/>
          <p:nvPr/>
        </p:nvSpPr>
        <p:spPr>
          <a:xfrm>
            <a:off x="457200" y="5525000"/>
            <a:ext cx="7500000" cy="480000"/>
          </a:xfrm>
          <a:prstGeom prst="rect">
            <a:avLst/>
          </a:prstGeom>
          <a:noFill/>
        </p:spPr>
        <p:txBody>
          <a:bodyPr wrap="square">
            <a:spAutoFit/>
          </a:bodyPr>
          <a:lstStyle/>
          <a:p>
            <a:r>
              <a:rPr sz="1200">
                <a:solidFill>
                  <a:srgbClr val="6B7280"/>
                </a:solidFill>
                <a:latin typeface="Calibri"/>
              </a:rPr>
              <a:t>Repository-balanced Macro-F1, seed 42. Bold red = best in column. Compare scores within a column only: each protocol trains and evaluates differently. not run = no artifacts (nothing imputed).</a:t>
            </a:r>
          </a:p>
        </p:txBody>
      </p:sp>
      <p:sp>
        <p:nvSpPr>
          <p:cNvPr id="567" name="Rounded Rectangle 566"/>
          <p:cNvSpPr/>
          <p:nvPr/>
        </p:nvSpPr>
        <p:spPr>
          <a:xfrm>
            <a:off x="8250000" y="1200000"/>
            <a:ext cx="3500000" cy="4600000"/>
          </a:xfrm>
          <a:prstGeom prst="roundRect">
            <a:avLst>
              <a:gd name="adj" fmla="val 5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30000"/>
          <a:lstStyle/>
          <a:p>
            <a:pPr algn="l">
              <a:spcAft>
                <a:spcPts val="800"/>
              </a:spcAft>
            </a:pPr>
            <a:r>
              <a:rPr sz="1500" b="1">
                <a:solidFill>
                  <a:srgbClr val="0B2E63"/>
                </a:solidFill>
                <a:latin typeface="Calibri"/>
              </a:rPr>
              <a:t>Official test: </a:t>
            </a:r>
            <a:r>
              <a:rPr sz="1400">
                <a:solidFill>
                  <a:srgbClr val="1F2937"/>
                </a:solidFill>
                <a:latin typeface="Calibri"/>
              </a:rPr>
              <a:t>RoBERTa full and SetFit MPNet both reach 0.8033; the best sparse model reaches 0.7591.</a:t>
            </a:r>
          </a:p>
          <a:p>
            <a:pPr algn="l">
              <a:spcAft>
                <a:spcPts val="800"/>
              </a:spcAft>
            </a:pPr>
            <a:r>
              <a:rPr sz="1500" b="1">
                <a:solidFill>
                  <a:srgbClr val="0B2E63"/>
                </a:solidFill>
                <a:latin typeface="Calibri"/>
              </a:rPr>
              <a:t>LOO: </a:t>
            </a:r>
            <a:r>
              <a:rPr sz="1400">
                <a:solidFill>
                  <a:srgbClr val="1F2937"/>
                </a:solidFill>
                <a:latin typeface="Calibri"/>
              </a:rPr>
              <a:t>every model drops sharply, but RoBERTa (about 0.69) loses far less than the sparse models (0.49 to 0.62).</a:t>
            </a:r>
          </a:p>
          <a:p>
            <a:pPr algn="l">
              <a:spcAft>
                <a:spcPts val="800"/>
              </a:spcAft>
            </a:pPr>
            <a:r>
              <a:rPr sz="1500" b="1">
                <a:solidFill>
                  <a:srgbClr val="0B2E63"/>
                </a:solidFill>
                <a:latin typeface="Calibri"/>
              </a:rPr>
              <a:t>Pooled CV: </a:t>
            </a:r>
            <a:r>
              <a:rPr sz="1400">
                <a:solidFill>
                  <a:srgbClr val="1F2937"/>
                </a:solidFill>
                <a:latin typeface="Calibri"/>
              </a:rPr>
              <a:t>no consistent effect compared with repo-specific CV (-0.030 to +0.043).</a:t>
            </a:r>
          </a:p>
          <a:p>
            <a:pPr algn="l">
              <a:spcAft>
                <a:spcPts val="800"/>
              </a:spcAft>
            </a:pPr>
            <a:r>
              <a:rPr sz="1500" b="1">
                <a:solidFill>
                  <a:srgbClr val="0B2E63"/>
                </a:solidFill>
                <a:latin typeface="Calibri"/>
              </a:rPr>
              <a:t>Not run: </a:t>
            </a:r>
            <a:r>
              <a:rPr sz="1400">
                <a:solidFill>
                  <a:srgbClr val="1F2937"/>
                </a:solidFill>
                <a:latin typeface="Calibri"/>
              </a:rPr>
              <a:t>SetFit under pooled CV and LOO; MiniLM on the official test.</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21"/>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97" name="Google Shape;597;p21"/>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98" name="Google Shape;598;p21"/>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99" name="Google Shape;599;p21"/>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600" name="Google Shape;600;p21"/>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601" name="Google Shape;601;p21"/>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2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Conclusion</a:t>
            </a:r>
            <a:endParaRPr b="0" i="0" sz="1800" u="none" cap="none" strike="noStrike">
              <a:solidFill>
                <a:srgbClr val="000000"/>
              </a:solidFill>
              <a:latin typeface="Calibri"/>
              <a:ea typeface="Calibri"/>
              <a:cs typeface="Calibri"/>
              <a:sym typeface="Calibri"/>
            </a:endParaRPr>
          </a:p>
        </p:txBody>
      </p:sp>
      <p:sp>
        <p:nvSpPr>
          <p:cNvPr id="607" name="Google Shape;607;p22"/>
          <p:cNvSpPr txBox="1"/>
          <p:nvPr/>
        </p:nvSpPr>
        <p:spPr>
          <a:xfrm>
            <a:off x="4553712" y="1188720"/>
            <a:ext cx="7223760" cy="4754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body is more informative than the title; transfer to unseen repositories is difficult (LR: 0.7636 CV → 0.5876 LOO)</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Dense models are strongest under every protocol they were run: +0.03 under CV (MPNet 0.7953 vs LR 0.7636), +0.04 on the official test (0.8033 vs 0.7591) and about +0.07 under LOO (RoBERTa ≈0.69 vs 0.62)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A hard-vote ensemble of LR + MPNet (0.7885) does not outperform MPNet alone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Limitations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Single seed; configurations were selected on CV, so CV scores may be optimistic</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Hardware and measurement conditions differ across runs, so cost results are descriptive, not a controlled Pareto comparison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SetFit was not run under pooled CV or LOO (MiniLM also not on the official test), so SetFit transfer is untested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Future Work</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Run the remaining SetFit protocols and repeat experiments with consistent seeds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Benchmark cost on one documented hardware setup; extend class-level error analysis beyond Logistic Regression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23"/>
          <p:cNvSpPr/>
          <p:nvPr/>
        </p:nvSpPr>
        <p:spPr>
          <a:xfrm>
            <a:off x="5756400" y="2824200"/>
            <a:ext cx="5136480" cy="97092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Clr>
                <a:srgbClr val="000000"/>
              </a:buClr>
              <a:buSzPts val="6000"/>
              <a:buFont typeface="Arial"/>
              <a:buNone/>
            </a:pPr>
            <a:r>
              <a:rPr b="1" i="0" lang="en-US" sz="6000" u="none" cap="none" strike="noStrike">
                <a:solidFill>
                  <a:srgbClr val="C00000"/>
                </a:solidFill>
                <a:latin typeface="Lato"/>
                <a:ea typeface="Lato"/>
                <a:cs typeface="Lato"/>
                <a:sym typeface="Lato"/>
              </a:rPr>
              <a:t>THANK YOU !</a:t>
            </a:r>
            <a:endParaRPr b="0" i="0" sz="60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