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4" r:id="rId4"/>
    <p:sldMasterId id="2147483745" r:id="rId5"/>
    <p:sldMasterId id="2147483746" r:id="rId6"/>
    <p:sldMasterId id="2147483747" r:id="rId7"/>
    <p:sldMasterId id="2147483748" r:id="rId8"/>
    <p:sldMasterId id="2147483749" r:id="rId9"/>
    <p:sldMasterId id="2147483750" r:id="rId10"/>
    <p:sldMasterId id="2147483751" r:id="rId11"/>
  </p:sldMasterIdLst>
  <p:notesMasterIdLst>
    <p:notesMasterId r:id="rId12"/>
  </p:notesMasterIdLst>
  <p:sldIdLst>
    <p:sldId id="256" r:id="rId13"/>
    <p:sldId id="276" r:id="rId37"/>
    <p:sldId id="277" r:id="rId38"/>
    <p:sldId id="257" r:id="rId14"/>
    <p:sldId id="258" r:id="rId15"/>
    <p:sldId id="278" r:id="rId39"/>
    <p:sldId id="259" r:id="rId16"/>
    <p:sldId id="260" r:id="rId17"/>
    <p:sldId id="279" r:id="rId40"/>
    <p:sldId id="261" r:id="rId18"/>
    <p:sldId id="262" r:id="rId19"/>
    <p:sldId id="263" r:id="rId20"/>
    <p:sldId id="264" r:id="rId21"/>
    <p:sldId id="265" r:id="rId22"/>
    <p:sldId id="280" r:id="rId41"/>
    <p:sldId id="266" r:id="rId23"/>
    <p:sldId id="267" r:id="rId24"/>
    <p:sldId id="268" r:id="rId25"/>
    <p:sldId id="269" r:id="rId26"/>
    <p:sldId id="270" r:id="rId27"/>
    <p:sldId id="281" r:id="rId42"/>
    <p:sldId id="271" r:id="rId28"/>
    <p:sldId id="272" r:id="rId29"/>
    <p:sldId id="273" r:id="rId30"/>
  </p:sldIdLst>
  <p:sldSz cy="6858000" cx="12192000"/>
  <p:notesSz cx="7559675" cy="10691800"/>
  <p:embeddedFontLst>
    <p:embeddedFont>
      <p:font typeface="Lato"/>
      <p:regular r:id="rId33"/>
      <p:bold r:id="rId34"/>
      <p:italic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0C0CC1B-E2D0-43D2-8BB6-4390CF16C671}">
  <a:tblStyle styleId="{20C0CC1B-E2D0-43D2-8BB6-4390CF16C671}"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BF5"/>
          </a:solidFill>
        </a:fill>
      </a:tcStyle>
    </a:wholeTbl>
    <a:band1H>
      <a:tcTxStyle/>
      <a:tcStyle>
        <a:fill>
          <a:solidFill>
            <a:srgbClr val="CDD4EA"/>
          </a:solidFill>
        </a:fill>
      </a:tcStyle>
    </a:band1H>
    <a:band2H>
      <a:tcTxStyle/>
    </a:band2H>
    <a:band1V>
      <a:tcTxStyle/>
      <a:tcStyle>
        <a:fill>
          <a:solidFill>
            <a:srgbClr val="CDD4EA"/>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7.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3" Type="http://schemas.openxmlformats.org/officeDocument/2006/relationships/font" Target="fonts/Lato-regular.fntdata"/><Relationship Id="rId34" Type="http://schemas.openxmlformats.org/officeDocument/2006/relationships/font" Target="fonts/Lato-bold.fntdata"/><Relationship Id="rId35" Type="http://schemas.openxmlformats.org/officeDocument/2006/relationships/font" Target="fonts/Lato-italic.fntdata"/><Relationship Id="rId36" Type="http://schemas.openxmlformats.org/officeDocument/2006/relationships/font" Target="fonts/Lato-boldItalic.fntdata"/><Relationship Id="rId37" Type="http://schemas.openxmlformats.org/officeDocument/2006/relationships/slide" Target="slides/slide2.xml"/><Relationship Id="rId38" Type="http://schemas.openxmlformats.org/officeDocument/2006/relationships/slide" Target="slides/slide3.xml"/><Relationship Id="rId39" Type="http://schemas.openxmlformats.org/officeDocument/2006/relationships/slide" Target="slides/slide6.xml"/><Relationship Id="rId40" Type="http://schemas.openxmlformats.org/officeDocument/2006/relationships/slide" Target="slides/slide9.xml"/><Relationship Id="rId41" Type="http://schemas.openxmlformats.org/officeDocument/2006/relationships/slide" Target="slides/slide15.xml"/><Relationship Id="rId42"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1 - Title] Suggested speaker: P1 (Kiet). Time: about 30 s.</a:t>
            </a:r>
          </a:p>
          <a:p/>
          <a:p>
            <a:r>
              <a:t>Good morning, everyone. We are presenting our Seminar 2 project: automatic classification of GitHub issues on the NLBSE'24 dataset.</a:t>
            </a:r>
          </a:p>
          <a:p/>
          <a:p>
            <a:r>
              <a:t>Our group has five members, and each of us owns one part of the study: the shared data and evaluation pipeline with the Logistic Regression baseline, the sparse and fastText models, RoBERTa with full fine-tuning and LoRA, SetFit, and finally the evaluation, bootstrap and ensemble tools.</a:t>
            </a:r>
          </a:p>
          <a:p/>
          <a:p>
            <a:r>
              <a:t>In the next few minutes we will go through the problem, the data, the models and evaluation protocols, the results, and, just as importantly, what these results do and do not allow us to conclude.</a:t>
            </a:r>
          </a:p>
        </p:txBody>
      </p:sp>
      <p:sp>
        <p:nvSpPr>
          <p:cNvPr id="417" name="Google Shape;417;p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p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4 - Problem: GitHub Issue Classification] Suggested speaker: P1 (Kiet). Time: about 50 s.</a:t>
            </a:r>
          </a:p>
          <a:p/>
          <a:p>
            <a:r>
              <a:t>Maintainers of an open-source project receive a constant stream of issues. Before they can prioritize or assign an issue, somebody has to decide what kind of issue it is. Doing this by hand is slow and can be inconsistent between people.</a:t>
            </a:r>
          </a:p>
          <a:p/>
          <a:p>
            <a:r>
              <a:t>The task is also not trivial for a classifier. An issue is free text that mixes natural language with code snippets, stack traces, URLs and version numbers. And every repository has its own vocabulary and its own issue templates.</a:t>
            </a:r>
          </a:p>
          <a:p/>
          <a:p>
            <a:r>
              <a:t>So the task we study is simple to state: given the title and the body of an issue, predict one of three labels. Bug, an incorrect behavior or defect. Feature, a feature request. Question, a question or request for help.</a:t>
            </a:r>
          </a:p>
        </p:txBody>
      </p:sp>
      <p:sp>
        <p:nvSpPr>
          <p:cNvPr id="424" name="Google Shape;424;p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p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5 - Project Objectives] Suggested speaker: P1 (Kiet). Time: about 60 s.</a:t>
            </a:r>
          </a:p>
          <a:p/>
          <a:p>
            <a:r>
              <a:t>We set three objectives.</a:t>
            </a:r>
          </a:p>
          <a:p/>
          <a:p>
            <a:r>
              <a:t>First, model comparison. We go from classical TF-IDF models up to dense encoders, namely RoBERTa and SetFit, and ask how much the extra complexity actually buys us.</a:t>
            </a:r>
          </a:p>
          <a:p/>
          <a:p>
            <a:r>
              <a:t>Second, multiple evaluation protocols. We use repository-specific cross-validation, pooled cross-validation, leave-one-repository-out and the official test split. These protocols answer different questions, and one of our main messages is that scores from different protocols must not be mixed in a single ranking.</a:t>
            </a:r>
          </a:p>
          <a:p/>
          <a:p>
            <a:r>
              <a:t>Third, performance and cost. Besides accuracy we look at fitting time, inference time and implementation complexity.</a:t>
            </a:r>
          </a:p>
          <a:p/>
          <a:p>
            <a:r>
              <a:t>Our primary metric is Macro-F1. We compute it for each repository and then average over the five repositories, so every repository has the same weight. We do not pool predictions across repositories.</a:t>
            </a:r>
          </a:p>
        </p:txBody>
      </p:sp>
      <p:sp>
        <p:nvSpPr>
          <p:cNvPr id="437" name="Google Shape;437;p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7 - Dataset NLBSE'24] Suggested speaker: P1 (Kiet). Time: about 50 s.</a:t>
            </a:r>
          </a:p>
          <a:p/>
          <a:p>
            <a:r>
              <a:t>We use the NLBSE'24 issue report classification dataset. It contains 1,500 training issues and 1,500 official test issues from five repositories: bitcoin, react, vscode, opencv and tensorflow.</a:t>
            </a:r>
          </a:p>
          <a:p/>
          <a:p>
            <a:r>
              <a:t>The data is perfectly balanced by design. For each repository, each label and each split there are exactly 100 issues. That gives 5 repositories times 3 labels times 100 issues, which is 1,500 issues per split, or 300 per repository.</a:t>
            </a:r>
          </a:p>
          <a:p/>
          <a:p>
            <a:r>
              <a:t>The model input is the title and the body of the issue. An important rule of our protocol: the official test split is kept for official evaluation, and we never use test labels for model selection. All tuning and model selection use training data only.</a:t>
            </a:r>
          </a:p>
        </p:txBody>
      </p:sp>
      <p:sp>
        <p:nvSpPr>
          <p:cNvPr id="446" name="Google Shape;446;p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5: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8 - Dataset Challenges] Suggested speaker: P1 (Kiet). Time: about 75 s.</a:t>
            </a:r>
          </a:p>
          <a:p/>
          <a:p>
            <a:r>
              <a:t>The data audit revealed six challenges.</a:t>
            </a:r>
          </a:p>
          <a:p/>
          <a:p>
            <a:r>
              <a:t>Repository-specific language: templates and terminology differ, which makes transfer to unseen repositories hard.</a:t>
            </a:r>
          </a:p>
          <a:p/>
          <a:p>
            <a:r>
              <a:t>Duplicate leakage: three normalized title-plus-body keys are shared between train and test, and one of these pairs has conflicting labels. For comparability we keep the official split unchanged, and we do not claim any de-duplicated score. Inside our own cross-validation, identical texts are always kept in the same fold, so duplicates cannot leak between training and validation.</a:t>
            </a:r>
          </a:p>
          <a:p/>
          <a:p>
            <a:r>
              <a:t>Technical content: code, paths and version strings are retained, because they can carry predictive signal.</a:t>
            </a:r>
          </a:p>
          <a:p/>
          <a:p>
            <a:r>
              <a:t>Label overlap: a question can look like a bug report, and a feature request can be phrased as a question.</a:t>
            </a:r>
          </a:p>
          <a:p/>
          <a:p>
            <a:r>
              <a:t>Text length is very skewed: in the training set the median is 150 words, the 95th percentile is 536 words and the maximum is 21,595 words. So truncation is required for the neural models.</a:t>
            </a:r>
          </a:p>
          <a:p/>
          <a:p>
            <a:r>
              <a:t>Finally, missing data: two test bodies are missing and are replaced by empty strings. The training set has no missing bodies.</a:t>
            </a:r>
          </a:p>
        </p:txBody>
      </p:sp>
      <p:sp>
        <p:nvSpPr>
          <p:cNvPr id="455" name="Google Shape;455;p5: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6:notes"/>
          <p:cNvSpPr txBox="1"/>
          <p:nvPr>
            <p:ph idx="1" type="body"/>
          </p:nvPr>
        </p:nvSpPr>
        <p:spPr>
          <a:xfrm>
            <a:off x="755950" y="5078600"/>
            <a:ext cx="6047725" cy="4811300"/>
          </a:xfrm>
          <a:prstGeom prst="rect">
            <a:avLst/>
          </a:prstGeom>
        </p:spPr>
        <p:txBody>
          <a:bodyPr anchorCtr="0" anchor="t" bIns="91425" lIns="91425" spcFirstLastPara="1" rIns="91425" wrap="square" tIns="91425">
            <a:noAutofit/>
          </a:bodyPr>
          <a:lstStyle/>
          <a:p>
            <a:r>
              <a:t>[Slide 10 - Three Model Families] Suggested speaker: P1 (Kiet). Time: about 45 s.</a:t>
            </a:r>
          </a:p>
          <a:p/>
          <a:p>
            <a:r>
              <a:t>We compare three families of models.</a:t>
            </a:r>
          </a:p>
          <a:p/>
          <a:p>
            <a:r>
              <a:t>The sparse or lightweight family is built on TF-IDF features. TF-IDF with Logistic Regression is our baseline. We also have LinearSVC with word features and with word plus character n-grams, Complement Naive Bayes, a hashed SGD classifier and supervised fastText. These models are evaluated under cross-validation, leave-one-repository-out and the official test.</a:t>
            </a:r>
          </a:p>
          <a:p/>
          <a:p>
            <a:r>
              <a:t>The second family is RoBERTa-base with a maximum of 160 tokens. We train it with full fine-tuning and with LoRA adapters of rank 48, under repository-specific and pooled cross-validation.</a:t>
            </a:r>
          </a:p>
          <a:p/>
          <a:p>
            <a:r>
              <a:t>The third family is SetFit, with MPNet and MiniLM sentence encoders. It is a few-shot method, so we study 8, 16 and 32 examples per class and between 5 and 80 contrastive iterations.</a:t>
            </a:r>
          </a:p>
          <a:p/>
          <a:p>
            <a:r>
              <a:t>All three families use exactly the same data and evaluation pipeline.</a:t>
            </a:r>
          </a:p>
        </p:txBody>
      </p:sp>
      <p:sp>
        <p:nvSpPr>
          <p:cNvPr id="466" name="Google Shape;466;p6: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7:notes"/>
          <p:cNvSpPr txBox="1"/>
          <p:nvPr>
            <p:ph idx="1" type="body"/>
          </p:nvPr>
        </p:nvSpPr>
        <p:spPr>
          <a:xfrm>
            <a:off x="755950" y="5078600"/>
            <a:ext cx="6047725" cy="4811300"/>
          </a:xfrm>
          <a:prstGeom prst="rect">
            <a:avLst/>
          </a:prstGeom>
        </p:spPr>
        <p:txBody>
          <a:bodyPr anchorCtr="0" anchor="t" bIns="91425" lIns="91425" spcFirstLastPara="1" rIns="91425" wrap="square" tIns="91425">
            <a:noAutofit/>
          </a:bodyPr>
          <a:lstStyle/>
          <a:p>
            <a:r>
              <a:t>[Slide 11 - Background: Transformer and RoBERTa] Suggested speaker: P3 (Anh). Time: about 50 s.</a:t>
            </a:r>
          </a:p>
          <a:p/>
          <a:p>
            <a:r>
              <a:t>A short background on the neural models. A Transformer encoder is built from self-attention and multi-head attention, positional information so the model knows the order of tokens, and feed-forward layers with residual connections and normalization.</a:t>
            </a:r>
          </a:p>
          <a:p/>
          <a:p>
            <a:r>
              <a:t>RoBERTa is a Transformer encoder with an optimized BERT pretraining recipe. It removes the next-sentence-prediction task, uses dynamic masking and is trained on much more data.</a:t>
            </a:r>
          </a:p>
          <a:p/>
          <a:p>
            <a:r>
              <a:t>For our task we add a classification head on top of the encoder and fine-tune the whole model on the issue data. In full fine-tuning both the encoder and the head are updated.</a:t>
            </a:r>
          </a:p>
        </p:txBody>
      </p:sp>
      <p:sp>
        <p:nvSpPr>
          <p:cNvPr id="475" name="Google Shape;475;p7: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8:notes"/>
          <p:cNvSpPr txBox="1"/>
          <p:nvPr>
            <p:ph idx="1" type="body"/>
          </p:nvPr>
        </p:nvSpPr>
        <p:spPr>
          <a:xfrm>
            <a:off x="755950" y="5078600"/>
            <a:ext cx="6047725" cy="4811300"/>
          </a:xfrm>
          <a:prstGeom prst="rect">
            <a:avLst/>
          </a:prstGeom>
        </p:spPr>
        <p:txBody>
          <a:bodyPr anchorCtr="0" anchor="t" bIns="91425" lIns="91425" spcFirstLastPara="1" rIns="91425" wrap="square" tIns="91425">
            <a:noAutofit/>
          </a:bodyPr>
          <a:lstStyle/>
          <a:p>
            <a:r>
              <a:t>[Slide 12 - LoRA and SetFit] Suggested speaker: P3 (Anh) for LoRA, P4 (Nam) for SetFit. Time: about 70 s.</a:t>
            </a:r>
          </a:p>
          <a:p/>
          <a:p>
            <a:r>
              <a:t>On the left, LoRA. Instead of updating the large pretrained weight matrix W-zero, LoRA keeps it frozen and learns a small low-rank update, the product B times A. The output is h equals W-zero x plus B A x, with a rank much smaller than the matrix dimension. In our configuration the rank is 48, alpha is 96 and dropout is 0.1. This reduces the number of trainable parameters and the memory needed for adaptation.</a:t>
            </a:r>
          </a:p>
          <a:p/>
          <a:p>
            <a:r>
              <a:t>On the right, SetFit works in two stages. First, the sentence encoder is fine-tuned with a contrastive objective on pairs built from the labeled issues. Second, the resulting embeddings are fed to a simple classification head that predicts bug, feature or question. Because pairs can be built from few examples, SetFit is attractive when labeled data is scarce.</a:t>
            </a:r>
          </a:p>
        </p:txBody>
      </p:sp>
      <p:sp>
        <p:nvSpPr>
          <p:cNvPr id="483" name="Google Shape;483;p8: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9:notes"/>
          <p:cNvSpPr txBox="1"/>
          <p:nvPr>
            <p:ph idx="1" type="body"/>
          </p:nvPr>
        </p:nvSpPr>
        <p:spPr>
          <a:xfrm>
            <a:off x="755950" y="5078600"/>
            <a:ext cx="6047725" cy="4811300"/>
          </a:xfrm>
          <a:prstGeom prst="rect">
            <a:avLst/>
          </a:prstGeom>
        </p:spPr>
        <p:txBody>
          <a:bodyPr anchorCtr="0" anchor="t" bIns="91425" lIns="91425" spcFirstLastPara="1" rIns="91425" wrap="square" tIns="91425">
            <a:noAutofit/>
          </a:bodyPr>
          <a:lstStyle/>
          <a:p>
            <a:r>
              <a:t>[Slide 13 - Four Evaluation Protocols] Suggested speaker: P1 (Kiet). Time: about 90 s.</a:t>
            </a:r>
          </a:p>
          <a:p/>
          <a:p>
            <a:r>
              <a:t>This slide is central to the whole report. In every diagram, navy means training data and red means data used for evaluation.</a:t>
            </a:r>
          </a:p>
          <a:p/>
          <a:p>
            <a:r>
              <a:t>Repository-specific cross-validation: for every repository we run 5-fold cross-validation, so each repository has its own models. Duplicate texts always stay in the same fold.</a:t>
            </a:r>
          </a:p>
          <a:p/>
          <a:p>
            <a:r>
              <a:t>Pooled cross-validation: the training folds of all five repositories are combined to train one model, and it is evaluated on the held-out folds only. We run this protocol for RoBERTa.</a:t>
            </a:r>
          </a:p>
          <a:p/>
          <a:p>
            <a:r>
              <a:t>Leave-one-repository-out, or LOO: we train on 1,200 issues from four repositories and test on the 300 issues of the held-out repository. This is repeated five times and measures transfer to a repository the model has never seen. Both the training and the evaluation issues come from the official training split.</a:t>
            </a:r>
          </a:p>
          <a:p/>
          <a:p>
            <a:r>
              <a:t>Official test: five separate classifiers, one per repository, each trained on its 300 official training issues and evaluated on its 300 official test issues.</a:t>
            </a:r>
          </a:p>
          <a:p/>
          <a:p>
            <a:r>
              <a:t>The key message: these four protocols answer four different questions, so their scores must stay separated.</a:t>
            </a:r>
          </a:p>
        </p:txBody>
      </p:sp>
      <p:sp>
        <p:nvSpPr>
          <p:cNvPr id="503" name="Google Shape;503;p9: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10:notes"/>
          <p:cNvSpPr txBox="1"/>
          <p:nvPr>
            <p:ph idx="1" type="body"/>
          </p:nvPr>
        </p:nvSpPr>
        <p:spPr>
          <a:xfrm>
            <a:off x="755950" y="5078600"/>
            <a:ext cx="6047725" cy="4811300"/>
          </a:xfrm>
          <a:prstGeom prst="rect">
            <a:avLst/>
          </a:prstGeom>
        </p:spPr>
        <p:txBody>
          <a:bodyPr anchorCtr="0" anchor="t" bIns="91425" lIns="91425" spcFirstLastPara="1" rIns="91425" wrap="square" tIns="91425">
            <a:noAutofit/>
          </a:bodyPr>
          <a:lstStyle/>
          <a:p>
            <a:r>
              <a:t>[Slide 14 - System Pipeline and Contributions] Suggested speaker: P1 (Kiet). Time: about 70 s.</a:t>
            </a:r>
          </a:p>
          <a:p/>
          <a:p>
            <a:r>
              <a:t>This is our shared pipeline. A dataset service loads title, body and label. A data-preparation step creates the protocol-aware splits. Then the three model families plug into the same interface and produce predictions and scores. A common evaluation layer computes Macro-F1 and repository-level summaries, and everything is saved as structured result artifacts with configuration, metrics and resources.</a:t>
            </a:r>
          </a:p>
          <a:p/>
          <a:p>
            <a:r>
              <a:t>Two design points. First, the vectorizer is fitted only on the training partition, which avoids leakage. Second, the storage is interchangeable: the dataset service talks to an abstract repository, with in-memory, CSV and JSON implementations, so we can change persistence without touching the models or the evaluation.</a:t>
            </a:r>
          </a:p>
          <a:p/>
          <a:p>
            <a:r>
              <a:t>On the right, the contributions. P1, Kiet, leads the project and built the data layer, the splits and the Logistic Regression baseline. P2, Hieu, built the sparse models and fastText. P3, Anh, did RoBERTa full fine-tuning and LoRA. P4, Nam, did SetFit with MPNet and MiniLM. P5, Dung, built the evaluation, ensemble and demo tools.</a:t>
            </a:r>
          </a:p>
        </p:txBody>
      </p:sp>
      <p:sp>
        <p:nvSpPr>
          <p:cNvPr id="513" name="Google Shape;513;p10: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1:notes"/>
          <p:cNvSpPr txBox="1"/>
          <p:nvPr>
            <p:ph idx="1" type="body"/>
          </p:nvPr>
        </p:nvSpPr>
        <p:spPr>
          <a:xfrm>
            <a:off x="755950" y="5078600"/>
            <a:ext cx="6047725" cy="4811300"/>
          </a:xfrm>
          <a:prstGeom prst="rect">
            <a:avLst/>
          </a:prstGeom>
        </p:spPr>
        <p:txBody>
          <a:bodyPr anchorCtr="0" anchor="t" bIns="91425" lIns="91425" spcFirstLastPara="1" rIns="91425" wrap="square" tIns="91425">
            <a:noAutofit/>
          </a:bodyPr>
          <a:lstStyle/>
          <a:p>
            <a:r>
              <a:t>[Slide 16 - Baseline: TF-IDF + Logistic Regression] Suggested speaker: P1 (Kiet). Time: about 90 s.</a:t>
            </a:r>
          </a:p>
          <a:p/>
          <a:p>
            <a:r>
              <a:t>Our baseline is TF-IDF with Logistic Regression: word one-to-two-grams, minimum document frequency 2, up to 50,000 features and C equal to 4.</a:t>
            </a:r>
          </a:p>
          <a:p/>
          <a:p>
            <a:r>
              <a:t>Using title plus body, it reaches a Macro-F1 of 0.7636 under repository-specific cross-validation. If we use the title only, the score falls to 0.5953. So the body carries a lot of information.</a:t>
            </a:r>
          </a:p>
          <a:p/>
          <a:p>
            <a:r>
              <a:t>The same pattern appears under LOO: 0.5876 with title plus body, 0.5075 with title only. The difference is plus 0.0801, with a 95 percent bootstrap interval from 0.0484 to 0.1120, which does not contain zero. The gain is largest for the bug class, about 0.106 in F1.</a:t>
            </a:r>
          </a:p>
          <a:p/>
          <a:p>
            <a:r>
              <a:t>A caution on that interval: it comes from a paired bootstrap on fixed predictions. It reflects the sampling of evaluation issues, but not the variability of training and not the uncertainty about new repositories.</a:t>
            </a:r>
          </a:p>
          <a:p/>
          <a:p>
            <a:r>
              <a:t>Second message: going from cross-validation to LOO, the score drops from 0.7636 to 0.5876. Unseen repositories are much harder. We should be careful, though: LOO also changes the amount and composition of the training data, so we do not interpret the drop as a purely causal domain-shift effect.</a:t>
            </a:r>
          </a:p>
        </p:txBody>
      </p:sp>
      <p:sp>
        <p:nvSpPr>
          <p:cNvPr id="521" name="Google Shape;521;p1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p12:notes"/>
          <p:cNvSpPr txBox="1"/>
          <p:nvPr>
            <p:ph idx="1" type="body"/>
          </p:nvPr>
        </p:nvSpPr>
        <p:spPr>
          <a:xfrm>
            <a:off x="755950" y="5078600"/>
            <a:ext cx="6047725" cy="4811300"/>
          </a:xfrm>
          <a:prstGeom prst="rect">
            <a:avLst/>
          </a:prstGeom>
        </p:spPr>
        <p:txBody>
          <a:bodyPr anchorCtr="0" anchor="t" bIns="91425" lIns="91425" spcFirstLastPara="1" rIns="91425" wrap="square" tIns="91425">
            <a:noAutofit/>
          </a:bodyPr>
          <a:lstStyle/>
          <a:p>
            <a:r>
              <a:t>[Slide 17 - Lightweight Models] Suggested speaker: P2 (Hieu). Time: about 80 s.</a:t>
            </a:r>
          </a:p>
          <a:p/>
          <a:p>
            <a:r>
              <a:t>Hieu's lightweight models. The table shows five models under three protocols: cross-validation, LOO and the official test. The best value in each column is in bold red.</a:t>
            </a:r>
          </a:p>
          <a:p/>
          <a:p>
            <a:r>
              <a:t>Under cross-validation the best is word LinearSVC with 0.7541. Under LOO the best is hashed SGD with 0.6152, even though its cross-validation score is only 0.7030. Under the official test the best is word-plus-character LinearSVC with 0.7591.</a:t>
            </a:r>
          </a:p>
          <a:p/>
          <a:p>
            <a:r>
              <a:t>So the ranking changes with the protocol. That is why every score must be reported together with its protocol.</a:t>
            </a:r>
          </a:p>
          <a:p/>
          <a:p>
            <a:r>
              <a:t>On cost: adding character n-grams gives only a small and inconsistent gain over word-only features, but it needs roughly 8.5 times the fitting time and 11.5 times the inference time. All five frozen configurations were checked against the original run artifacts, more than 1,300 runs in total, and the official scores match.</a:t>
            </a:r>
          </a:p>
        </p:txBody>
      </p:sp>
      <p:sp>
        <p:nvSpPr>
          <p:cNvPr id="530" name="Google Shape;530;p1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13:notes"/>
          <p:cNvSpPr txBox="1"/>
          <p:nvPr>
            <p:ph idx="1" type="body"/>
          </p:nvPr>
        </p:nvSpPr>
        <p:spPr>
          <a:xfrm>
            <a:off x="755950" y="5078600"/>
            <a:ext cx="6047725" cy="4811300"/>
          </a:xfrm>
          <a:prstGeom prst="rect">
            <a:avLst/>
          </a:prstGeom>
        </p:spPr>
        <p:txBody>
          <a:bodyPr anchorCtr="0" anchor="t" bIns="91425" lIns="91425" spcFirstLastPara="1" rIns="91425" wrap="square" tIns="91425">
            <a:noAutofit/>
          </a:bodyPr>
          <a:lstStyle/>
          <a:p>
            <a:r>
              <a:t>[Slide 18 - RoBERTa: Full fine-tuning vs LoRA] Suggested speaker: P3 (Anh). Time: about 80 s.</a:t>
            </a:r>
          </a:p>
          <a:p/>
          <a:p>
            <a:r>
              <a:t>Anh's RoBERTa results. Under repository-specific cross-validation the mean Macro-F1 is 0.7853 for full fine-tuning and 0.7800 for LoRA, so on average they are very close.</a:t>
            </a:r>
          </a:p>
          <a:p/>
          <a:p>
            <a:r>
              <a:t>But the average hides a lot of variation. LoRA is better on react, by 0.0240, and on vscode, by 0.0155. Full fine-tuning is clearly better on tensorflow, where LoRA is lower by 0.0550. On bitcoin and opencv the two are almost equal. So the effect of the adaptation strategy is not consistent across repositories.</a:t>
            </a:r>
          </a:p>
          <a:p/>
          <a:p>
            <a:r>
              <a:t>Under pooled cross-validation, LoRA reaches 0.7994 and full fine-tuning 0.7924. We report this separately, because pooled training uses a different training composition, and we do not compare it with the repository-specific numbers.</a:t>
            </a:r>
          </a:p>
          <a:p/>
          <a:p>
            <a:r>
              <a:t>Finally, the two training recipes differ: full fine-tuning uses a learning rate of 2e-5 and LoRA 3e-4, with different weight decay. So we cannot attribute the differences only to the adapter mechanism.</a:t>
            </a:r>
          </a:p>
        </p:txBody>
      </p:sp>
      <p:sp>
        <p:nvSpPr>
          <p:cNvPr id="537" name="Google Shape;537;p1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14:notes"/>
          <p:cNvSpPr txBox="1"/>
          <p:nvPr>
            <p:ph idx="1" type="body"/>
          </p:nvPr>
        </p:nvSpPr>
        <p:spPr>
          <a:xfrm>
            <a:off x="755950" y="5078600"/>
            <a:ext cx="6047725" cy="4811300"/>
          </a:xfrm>
          <a:prstGeom prst="rect">
            <a:avLst/>
          </a:prstGeom>
        </p:spPr>
        <p:txBody>
          <a:bodyPr anchorCtr="0" anchor="t" bIns="91425" lIns="91425" spcFirstLastPara="1" rIns="91425" wrap="square" tIns="91425">
            <a:noAutofit/>
          </a:bodyPr>
          <a:lstStyle/>
          <a:p>
            <a:r>
              <a:t>[Slide 19 - SetFit: Data Size and Contrastive Iterations] Suggested speaker: P4 (Nam). Time: about 80 s.</a:t>
            </a:r>
          </a:p>
          <a:p/>
          <a:p>
            <a:r>
              <a:t>Nam's SetFit experiments, all with MPNet unless stated.</a:t>
            </a:r>
          </a:p>
          <a:p/>
          <a:p>
            <a:r>
              <a:t>On the left, the effect of labeled data. With 8 examples per class the Macro-F1 is 0.6785; with 16 it is 0.7375; with 32, 0.7833; and with the full cross-validation training data, 0.7953. More labeled data clearly helps, even with pretrained sentence representations.</a:t>
            </a:r>
          </a:p>
          <a:p/>
          <a:p>
            <a:r>
              <a:t>On the right, the number of contrastive iterations. Five iterations give 0.7976 in 44 seconds. Twenty iterations give 0.7953 in 145 seconds. Eighty iterations give 0.7970 in 534 seconds. So 5 iterations are about 12 times cheaper than 80 with essentially the same score. More training does not automatically mean a better model.</a:t>
            </a:r>
          </a:p>
          <a:p/>
          <a:p>
            <a:r>
              <a:t>MiniLM reaches 0.7881 versus 0.7953 for MPNet, but fits faster, 55 seconds compared with 145. These times are means per run in the reported environment, so they are useful for comparisons within SetFit, not as a cross-family benchmark. Also note that the 5-iteration setting was chosen using cross-validation scores, so its score may be optimistic.</a:t>
            </a:r>
          </a:p>
        </p:txBody>
      </p:sp>
      <p:sp>
        <p:nvSpPr>
          <p:cNvPr id="544" name="Google Shape;544;p1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0" name="Shape 550"/>
        <p:cNvGrpSpPr/>
        <p:nvPr/>
      </p:nvGrpSpPr>
      <p:grpSpPr>
        <a:xfrm>
          <a:off x="0" y="0"/>
          <a:ext cx="0" cy="0"/>
          <a:chOff x="0" y="0"/>
          <a:chExt cx="0" cy="0"/>
        </a:xfrm>
      </p:grpSpPr>
      <p:sp>
        <p:nvSpPr>
          <p:cNvPr id="551" name="Google Shape;551;p15:notes"/>
          <p:cNvSpPr txBox="1"/>
          <p:nvPr>
            <p:ph idx="1" type="body"/>
          </p:nvPr>
        </p:nvSpPr>
        <p:spPr>
          <a:xfrm>
            <a:off x="755950" y="5078600"/>
            <a:ext cx="6047725" cy="4811300"/>
          </a:xfrm>
          <a:prstGeom prst="rect">
            <a:avLst/>
          </a:prstGeom>
        </p:spPr>
        <p:txBody>
          <a:bodyPr anchorCtr="0" anchor="t" bIns="91425" lIns="91425" spcFirstLastPara="1" rIns="91425" wrap="square" tIns="91425">
            <a:noAutofit/>
          </a:bodyPr>
          <a:lstStyle/>
          <a:p>
            <a:r>
              <a:t>[Slide 20 - Overall Comparison (repo-specific CV)] Suggested speaker: P5 (Dung). Time: about 90 s.</a:t>
            </a:r>
          </a:p>
          <a:p/>
          <a:p>
            <a:r>
              <a:t>Dung's overall comparison, under the one protocol that every family shares: repository-specific cross-validation with seed 42.</a:t>
            </a:r>
          </a:p>
          <a:p/>
          <a:p>
            <a:r>
              <a:t>The Logistic Regression baseline is the lowest at 0.7636. The SetFit and RoBERTa models are higher, between 0.78 and 0.80. Using a paired bootstrap, MPNet minus Logistic Regression is plus 0.0317, with a 95 percent interval from 0.0085 to 0.0557. So the improvement is real in this evaluation, but moderate. Again, this interval uses fixed predictions and does not include training variability.</a:t>
            </a:r>
          </a:p>
          <a:p/>
          <a:p>
            <a:r>
              <a:t>We also tested a simple ensemble: an equal-weight hard vote of Logistic Regression and MPNet. It reaches 0.7885, which is better than Logistic Regression but below MPNet alone. With only two voters, ties are frequent and are resolved by a fixed class order, and nothing was tuned. So combining models did not help here, and we report that honestly.</a:t>
            </a:r>
          </a:p>
          <a:p/>
          <a:p>
            <a:r>
              <a:t>Pooled cross-validation is reported separately, with LoRA at 0.7994 and full fine-tuning at 0.7924. Please do not rank those numbers against this chart.</a:t>
            </a:r>
          </a:p>
        </p:txBody>
      </p:sp>
      <p:sp>
        <p:nvSpPr>
          <p:cNvPr id="552" name="Google Shape;552;p15: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16:notes"/>
          <p:cNvSpPr txBox="1"/>
          <p:nvPr>
            <p:ph idx="1" type="body"/>
          </p:nvPr>
        </p:nvSpPr>
        <p:spPr>
          <a:xfrm>
            <a:off x="755950" y="5078600"/>
            <a:ext cx="6047725" cy="4811300"/>
          </a:xfrm>
          <a:prstGeom prst="rect">
            <a:avLst/>
          </a:prstGeom>
        </p:spPr>
        <p:txBody>
          <a:bodyPr anchorCtr="0" anchor="t" bIns="91425" lIns="91425" spcFirstLastPara="1" rIns="91425" wrap="square" tIns="91425">
            <a:noAutofit/>
          </a:bodyPr>
          <a:lstStyle/>
          <a:p>
            <a:r>
              <a:t>[Slide 22 - Conclusion] Suggested speaker: P5 (Dung). Time: about 90 s.</a:t>
            </a:r>
          </a:p>
          <a:p/>
          <a:p>
            <a:r>
              <a:t>Our key findings.</a:t>
            </a:r>
          </a:p>
          <a:p/>
          <a:p>
            <a:r>
              <a:t>First, the issue body is more informative than the title, and transferring to unseen repositories is difficult: for the baseline, Macro-F1 goes from 0.7636 under cross-validation to 0.5876 under LOO.</a:t>
            </a:r>
          </a:p>
          <a:p/>
          <a:p>
            <a:r>
              <a:t>Second, dense models give the strongest cross-validation results, for example SetFit MPNet with 0.7953 against 0.7636 for Logistic Regression, but the gains are moderate. Sparse models stay attractive when simplicity and low cost matter.</a:t>
            </a:r>
          </a:p>
          <a:p/>
          <a:p>
            <a:r>
              <a:t>Third, a simple hard-vote ensemble of Logistic Regression and MPNet, 0.7885, does not beat MPNet alone.</a:t>
            </a:r>
          </a:p>
          <a:p/>
          <a:p>
            <a:r>
              <a:t>Now the limitations, which we consider part of the result. Seed counts differ across model families, and configurations were selected using cross-validation, so those scores can be optimistic. Hardware and measurement conditions were not documented, so our cost numbers are descriptive and not a controlled Pareto comparison. And protocol coverage is uneven: official scores exist only for the sparse models, LOO only for Logistic Regression and the sparse models, and the dense models are compared under cross-validation only. So we do not claim that the dense advantage holds on unseen repositories or on the official test.</a:t>
            </a:r>
          </a:p>
          <a:p/>
          <a:p>
            <a:r>
              <a:t>Future work: run the missing LOO and official evaluations with consistent seeds, benchmark cost on one documented hardware setup, and extend the class-level error analysis beyond Logistic Regression.</a:t>
            </a:r>
          </a:p>
        </p:txBody>
      </p:sp>
      <p:sp>
        <p:nvSpPr>
          <p:cNvPr id="561" name="Google Shape;561;p16: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17: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23 - Thank you / Q&amp;A] Suggested speaker: All. Time: about 120 s.</a:t>
            </a:r>
          </a:p>
          <a:p/>
          <a:p>
            <a:r>
              <a:t>Thank you for listening. We are happy to take questions.</a:t>
            </a:r>
          </a:p>
          <a:p/>
          <a:p>
            <a:r>
              <a:t>Likely questions and short answers:</a:t>
            </a:r>
          </a:p>
          <a:p/>
          <a:p>
            <a:r>
              <a:t>Why Macro-F1, and why average per repository? The data is balanced, but Macro-F1 prevents one strong class from hiding a weak one, and averaging per repository gives every repository equal weight.</a:t>
            </a:r>
          </a:p>
          <a:p/>
          <a:p>
            <a:r>
              <a:t>Why does performance drop so much under LOO? Repositories have their own vocabulary and templates. LOO also changes how much and which training data the model sees, so we do not interpret the drop as a purely causal domain shift.</a:t>
            </a:r>
          </a:p>
          <a:p/>
          <a:p>
            <a:r>
              <a:t>Why do RoBERTa and SetFit have no official or LOO scores? Within a three-week project we prioritized cross-validation, and the remaining evaluations were not run. The coverage table in the report lists exactly what was run. Missing means not run, never zero.</a:t>
            </a:r>
          </a:p>
          <a:p/>
          <a:p>
            <a:r>
              <a:t>Why did the ensemble not help? It is a two-model vote with a fixed tie rule and no tuning. It beats Logistic Regression by 0.0249 but trails MPNet by 0.0068.</a:t>
            </a:r>
          </a:p>
          <a:p/>
          <a:p>
            <a:r>
              <a:t>Are the confidence intervals proof of significance? No. They use paired bootstrap on fixed predictions. They ignore training randomness and new-repository uncertainty.</a:t>
            </a:r>
          </a:p>
          <a:p/>
          <a:p>
            <a:r>
              <a:t>Why is there no Pareto front of cost versus accuracy? The artifacts do not document comparable hardware and measurement conditions, so we only describe costs and do not claim a controlled comparison.</a:t>
            </a:r>
          </a:p>
          <a:p/>
          <a:p>
            <a:r>
              <a:t>What about the duplicate issues between train and test? There are 3 shared keys, 1 with conflicting labels. We kept the official split for comparability and did not report a de-duplicated score.</a:t>
            </a:r>
          </a:p>
        </p:txBody>
      </p:sp>
      <p:sp>
        <p:nvSpPr>
          <p:cNvPr id="567" name="Google Shape;567;p17: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18: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24 - Closing slide] Suggested speaker: All.</a:t>
            </a:r>
          </a:p>
          <a:p/>
          <a:p>
            <a:r>
              <a:t>End of the presentation. Keep this slide up during questions, or go back to slide 22 (conclusion) or slide 13 (protocols) if a question needs it.</a:t>
            </a:r>
          </a:p>
        </p:txBody>
      </p:sp>
      <p:sp>
        <p:nvSpPr>
          <p:cNvPr id="572" name="Google Shape;572;p18: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2 - Outline] Suggested speaker: P1 (Kiet). Time: about 15 s.</a:t>
            </a:r>
          </a:p>
          <a:p/>
          <a:p>
            <a:r>
              <a:t>Here is the outline. Five parts: the introduction, the dataset, the methodology, the experiments and results, and the conclusion. We will keep a progress marker on the left so you always know where we are.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3 - Outline - Introduction] Suggested speaker: P1 (Kiet). Time: about 5 s.</a:t>
            </a:r>
          </a:p>
          <a:p/>
          <a:p>
            <a:r>
              <a:t>We start with the introduction: the problem and our objectives.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6 - Outline - Dataset] Suggested speaker: P1 (Kiet). Time: about 5 s.</a:t>
            </a:r>
          </a:p>
          <a:p/>
          <a:p>
            <a:r>
              <a:t>Next, the dataset.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9 - Outline - Methodology] Suggested speaker: P1 (Kiet). Time: about 5 s.</a:t>
            </a:r>
          </a:p>
          <a:p/>
          <a:p>
            <a:r>
              <a:t>Now the methodology: the model families, some background, the evaluation protocols and the pipeline.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15 - Outline - Experiments &amp; Results] Suggested speaker: P1 (Kiet). Time: about 5 s.</a:t>
            </a:r>
          </a:p>
          <a:p/>
          <a:p>
            <a:r>
              <a:t>Now the experiments and results, starting with the baseline.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21 - Outline - Conclusion] Suggested speaker: P5 (Dung). Time: about 5 s.</a:t>
            </a:r>
          </a:p>
          <a:p/>
          <a:p>
            <a:r>
              <a:t>Finally, the conclusion.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8" name="Shape 8"/>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9" name="Shape 9"/>
        <p:cNvGrpSpPr/>
        <p:nvPr/>
      </p:nvGrpSpPr>
      <p:grpSpPr>
        <a:xfrm>
          <a:off x="0" y="0"/>
          <a:ext cx="0" cy="0"/>
          <a:chOff x="0" y="0"/>
          <a:chExt cx="0" cy="0"/>
        </a:xfrm>
      </p:grpSpPr>
      <p:sp>
        <p:nvSpPr>
          <p:cNvPr id="10" name="Google Shape;10;p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 name="Google Shape;11;p3"/>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2" name="Shape 12"/>
        <p:cNvGrpSpPr/>
        <p:nvPr/>
      </p:nvGrpSpPr>
      <p:grpSpPr>
        <a:xfrm>
          <a:off x="0" y="0"/>
          <a:ext cx="0" cy="0"/>
          <a:chOff x="0" y="0"/>
          <a:chExt cx="0" cy="0"/>
        </a:xfrm>
      </p:grpSpPr>
      <p:sp>
        <p:nvSpPr>
          <p:cNvPr id="13" name="Google Shape;13;p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4"/>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5" name="Shape 15"/>
        <p:cNvGrpSpPr/>
        <p:nvPr/>
      </p:nvGrpSpPr>
      <p:grpSpPr>
        <a:xfrm>
          <a:off x="0" y="0"/>
          <a:ext cx="0" cy="0"/>
          <a:chOff x="0" y="0"/>
          <a:chExt cx="0" cy="0"/>
        </a:xfrm>
      </p:grpSpPr>
      <p:sp>
        <p:nvSpPr>
          <p:cNvPr id="16" name="Google Shape;16;p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5"/>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 name="Google Shape;18;p5"/>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9" name="Shape 19"/>
        <p:cNvGrpSpPr/>
        <p:nvPr/>
      </p:nvGrpSpPr>
      <p:grpSpPr>
        <a:xfrm>
          <a:off x="0" y="0"/>
          <a:ext cx="0" cy="0"/>
          <a:chOff x="0" y="0"/>
          <a:chExt cx="0" cy="0"/>
        </a:xfrm>
      </p:grpSpPr>
      <p:sp>
        <p:nvSpPr>
          <p:cNvPr id="20" name="Google Shape;20;p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1" name="Shape 21"/>
        <p:cNvGrpSpPr/>
        <p:nvPr/>
      </p:nvGrpSpPr>
      <p:grpSpPr>
        <a:xfrm>
          <a:off x="0" y="0"/>
          <a:ext cx="0" cy="0"/>
          <a:chOff x="0" y="0"/>
          <a:chExt cx="0" cy="0"/>
        </a:xfrm>
      </p:grpSpPr>
      <p:sp>
        <p:nvSpPr>
          <p:cNvPr id="22" name="Google Shape;22;p7"/>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3" name="Shape 23"/>
        <p:cNvGrpSpPr/>
        <p:nvPr/>
      </p:nvGrpSpPr>
      <p:grpSpPr>
        <a:xfrm>
          <a:off x="0" y="0"/>
          <a:ext cx="0" cy="0"/>
          <a:chOff x="0" y="0"/>
          <a:chExt cx="0" cy="0"/>
        </a:xfrm>
      </p:grpSpPr>
      <p:sp>
        <p:nvSpPr>
          <p:cNvPr id="24" name="Google Shape;24;p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8"/>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6" name="Google Shape;26;p8"/>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7" name="Google Shape;27;p8"/>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28" name="Shape 28"/>
        <p:cNvGrpSpPr/>
        <p:nvPr/>
      </p:nvGrpSpPr>
      <p:grpSpPr>
        <a:xfrm>
          <a:off x="0" y="0"/>
          <a:ext cx="0" cy="0"/>
          <a:chOff x="0" y="0"/>
          <a:chExt cx="0" cy="0"/>
        </a:xfrm>
      </p:grpSpPr>
      <p:sp>
        <p:nvSpPr>
          <p:cNvPr id="29" name="Google Shape;29;p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9"/>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1" name="Google Shape;31;p9"/>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2" name="Google Shape;32;p9"/>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33" name="Shape 33"/>
        <p:cNvGrpSpPr/>
        <p:nvPr/>
      </p:nvGrpSpPr>
      <p:grpSpPr>
        <a:xfrm>
          <a:off x="0" y="0"/>
          <a:ext cx="0" cy="0"/>
          <a:chOff x="0" y="0"/>
          <a:chExt cx="0" cy="0"/>
        </a:xfrm>
      </p:grpSpPr>
      <p:sp>
        <p:nvSpPr>
          <p:cNvPr id="34" name="Google Shape;34;p1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10"/>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6" name="Google Shape;36;p10"/>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7" name="Google Shape;37;p10"/>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38" name="Shape 38"/>
        <p:cNvGrpSpPr/>
        <p:nvPr/>
      </p:nvGrpSpPr>
      <p:grpSpPr>
        <a:xfrm>
          <a:off x="0" y="0"/>
          <a:ext cx="0" cy="0"/>
          <a:chOff x="0" y="0"/>
          <a:chExt cx="0" cy="0"/>
        </a:xfrm>
      </p:grpSpPr>
      <p:sp>
        <p:nvSpPr>
          <p:cNvPr id="39" name="Google Shape;39;p1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11"/>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1" name="Google Shape;41;p11"/>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42" name="Shape 42"/>
        <p:cNvGrpSpPr/>
        <p:nvPr/>
      </p:nvGrpSpPr>
      <p:grpSpPr>
        <a:xfrm>
          <a:off x="0" y="0"/>
          <a:ext cx="0" cy="0"/>
          <a:chOff x="0" y="0"/>
          <a:chExt cx="0" cy="0"/>
        </a:xfrm>
      </p:grpSpPr>
      <p:sp>
        <p:nvSpPr>
          <p:cNvPr id="43" name="Google Shape;43;p1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2"/>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5" name="Google Shape;45;p12"/>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6" name="Google Shape;46;p12"/>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7" name="Google Shape;47;p12"/>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48" name="Shape 48"/>
        <p:cNvGrpSpPr/>
        <p:nvPr/>
      </p:nvGrpSpPr>
      <p:grpSpPr>
        <a:xfrm>
          <a:off x="0" y="0"/>
          <a:ext cx="0" cy="0"/>
          <a:chOff x="0" y="0"/>
          <a:chExt cx="0" cy="0"/>
        </a:xfrm>
      </p:grpSpPr>
      <p:sp>
        <p:nvSpPr>
          <p:cNvPr id="49" name="Google Shape;49;p1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13"/>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1" name="Google Shape;51;p13"/>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2" name="Google Shape;52;p13"/>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3" name="Google Shape;53;p13"/>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4" name="Google Shape;54;p13"/>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5" name="Google Shape;55;p13"/>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59" name="Shape 59"/>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60" name="Shape 60"/>
        <p:cNvGrpSpPr/>
        <p:nvPr/>
      </p:nvGrpSpPr>
      <p:grpSpPr>
        <a:xfrm>
          <a:off x="0" y="0"/>
          <a:ext cx="0" cy="0"/>
          <a:chOff x="0" y="0"/>
          <a:chExt cx="0" cy="0"/>
        </a:xfrm>
      </p:grpSpPr>
      <p:sp>
        <p:nvSpPr>
          <p:cNvPr id="61" name="Google Shape;61;p1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16"/>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63" name="Shape 63"/>
        <p:cNvGrpSpPr/>
        <p:nvPr/>
      </p:nvGrpSpPr>
      <p:grpSpPr>
        <a:xfrm>
          <a:off x="0" y="0"/>
          <a:ext cx="0" cy="0"/>
          <a:chOff x="0" y="0"/>
          <a:chExt cx="0" cy="0"/>
        </a:xfrm>
      </p:grpSpPr>
      <p:sp>
        <p:nvSpPr>
          <p:cNvPr id="64" name="Google Shape;64;p1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17"/>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66" name="Shape 66"/>
        <p:cNvGrpSpPr/>
        <p:nvPr/>
      </p:nvGrpSpPr>
      <p:grpSpPr>
        <a:xfrm>
          <a:off x="0" y="0"/>
          <a:ext cx="0" cy="0"/>
          <a:chOff x="0" y="0"/>
          <a:chExt cx="0" cy="0"/>
        </a:xfrm>
      </p:grpSpPr>
      <p:sp>
        <p:nvSpPr>
          <p:cNvPr id="67" name="Google Shape;67;p1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18"/>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69" name="Google Shape;69;p18"/>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72" name="Shape 72"/>
        <p:cNvGrpSpPr/>
        <p:nvPr/>
      </p:nvGrpSpPr>
      <p:grpSpPr>
        <a:xfrm>
          <a:off x="0" y="0"/>
          <a:ext cx="0" cy="0"/>
          <a:chOff x="0" y="0"/>
          <a:chExt cx="0" cy="0"/>
        </a:xfrm>
      </p:grpSpPr>
      <p:sp>
        <p:nvSpPr>
          <p:cNvPr id="73" name="Google Shape;73;p20"/>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74" name="Shape 74"/>
        <p:cNvGrpSpPr/>
        <p:nvPr/>
      </p:nvGrpSpPr>
      <p:grpSpPr>
        <a:xfrm>
          <a:off x="0" y="0"/>
          <a:ext cx="0" cy="0"/>
          <a:chOff x="0" y="0"/>
          <a:chExt cx="0" cy="0"/>
        </a:xfrm>
      </p:grpSpPr>
      <p:sp>
        <p:nvSpPr>
          <p:cNvPr id="75" name="Google Shape;75;p2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1"/>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77" name="Google Shape;77;p21"/>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78" name="Google Shape;78;p21"/>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79" name="Shape 79"/>
        <p:cNvGrpSpPr/>
        <p:nvPr/>
      </p:nvGrpSpPr>
      <p:grpSpPr>
        <a:xfrm>
          <a:off x="0" y="0"/>
          <a:ext cx="0" cy="0"/>
          <a:chOff x="0" y="0"/>
          <a:chExt cx="0" cy="0"/>
        </a:xfrm>
      </p:grpSpPr>
      <p:sp>
        <p:nvSpPr>
          <p:cNvPr id="80" name="Google Shape;80;p2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p22"/>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2" name="Google Shape;82;p22"/>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3" name="Google Shape;83;p22"/>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84" name="Shape 84"/>
        <p:cNvGrpSpPr/>
        <p:nvPr/>
      </p:nvGrpSpPr>
      <p:grpSpPr>
        <a:xfrm>
          <a:off x="0" y="0"/>
          <a:ext cx="0" cy="0"/>
          <a:chOff x="0" y="0"/>
          <a:chExt cx="0" cy="0"/>
        </a:xfrm>
      </p:grpSpPr>
      <p:sp>
        <p:nvSpPr>
          <p:cNvPr id="85" name="Google Shape;85;p2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23"/>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7" name="Google Shape;87;p23"/>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8" name="Google Shape;88;p23"/>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89" name="Shape 89"/>
        <p:cNvGrpSpPr/>
        <p:nvPr/>
      </p:nvGrpSpPr>
      <p:grpSpPr>
        <a:xfrm>
          <a:off x="0" y="0"/>
          <a:ext cx="0" cy="0"/>
          <a:chOff x="0" y="0"/>
          <a:chExt cx="0" cy="0"/>
        </a:xfrm>
      </p:grpSpPr>
      <p:sp>
        <p:nvSpPr>
          <p:cNvPr id="90" name="Google Shape;90;p2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24"/>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2" name="Google Shape;92;p24"/>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93" name="Shape 93"/>
        <p:cNvGrpSpPr/>
        <p:nvPr/>
      </p:nvGrpSpPr>
      <p:grpSpPr>
        <a:xfrm>
          <a:off x="0" y="0"/>
          <a:ext cx="0" cy="0"/>
          <a:chOff x="0" y="0"/>
          <a:chExt cx="0" cy="0"/>
        </a:xfrm>
      </p:grpSpPr>
      <p:sp>
        <p:nvSpPr>
          <p:cNvPr id="94" name="Google Shape;94;p2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25"/>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6" name="Google Shape;96;p2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7" name="Google Shape;97;p25"/>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8" name="Google Shape;98;p25"/>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99" name="Shape 99"/>
        <p:cNvGrpSpPr/>
        <p:nvPr/>
      </p:nvGrpSpPr>
      <p:grpSpPr>
        <a:xfrm>
          <a:off x="0" y="0"/>
          <a:ext cx="0" cy="0"/>
          <a:chOff x="0" y="0"/>
          <a:chExt cx="0" cy="0"/>
        </a:xfrm>
      </p:grpSpPr>
      <p:sp>
        <p:nvSpPr>
          <p:cNvPr id="100" name="Google Shape;100;p2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26"/>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2" name="Google Shape;102;p26"/>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3" name="Google Shape;103;p26"/>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4" name="Google Shape;104;p26"/>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5" name="Google Shape;105;p26"/>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6" name="Google Shape;106;p26"/>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10" name="Shape 110"/>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11" name="Shape 111"/>
        <p:cNvGrpSpPr/>
        <p:nvPr/>
      </p:nvGrpSpPr>
      <p:grpSpPr>
        <a:xfrm>
          <a:off x="0" y="0"/>
          <a:ext cx="0" cy="0"/>
          <a:chOff x="0" y="0"/>
          <a:chExt cx="0" cy="0"/>
        </a:xfrm>
      </p:grpSpPr>
      <p:sp>
        <p:nvSpPr>
          <p:cNvPr id="112" name="Google Shape;112;p2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29"/>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14" name="Shape 114"/>
        <p:cNvGrpSpPr/>
        <p:nvPr/>
      </p:nvGrpSpPr>
      <p:grpSpPr>
        <a:xfrm>
          <a:off x="0" y="0"/>
          <a:ext cx="0" cy="0"/>
          <a:chOff x="0" y="0"/>
          <a:chExt cx="0" cy="0"/>
        </a:xfrm>
      </p:grpSpPr>
      <p:sp>
        <p:nvSpPr>
          <p:cNvPr id="115" name="Google Shape;115;p3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6" name="Google Shape;116;p30"/>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17" name="Shape 117"/>
        <p:cNvGrpSpPr/>
        <p:nvPr/>
      </p:nvGrpSpPr>
      <p:grpSpPr>
        <a:xfrm>
          <a:off x="0" y="0"/>
          <a:ext cx="0" cy="0"/>
          <a:chOff x="0" y="0"/>
          <a:chExt cx="0" cy="0"/>
        </a:xfrm>
      </p:grpSpPr>
      <p:sp>
        <p:nvSpPr>
          <p:cNvPr id="118" name="Google Shape;118;p3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9" name="Google Shape;119;p31"/>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0" name="Google Shape;120;p31"/>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1" name="Shape 121"/>
        <p:cNvGrpSpPr/>
        <p:nvPr/>
      </p:nvGrpSpPr>
      <p:grpSpPr>
        <a:xfrm>
          <a:off x="0" y="0"/>
          <a:ext cx="0" cy="0"/>
          <a:chOff x="0" y="0"/>
          <a:chExt cx="0" cy="0"/>
        </a:xfrm>
      </p:grpSpPr>
      <p:sp>
        <p:nvSpPr>
          <p:cNvPr id="122" name="Google Shape;122;p3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23" name="Shape 123"/>
        <p:cNvGrpSpPr/>
        <p:nvPr/>
      </p:nvGrpSpPr>
      <p:grpSpPr>
        <a:xfrm>
          <a:off x="0" y="0"/>
          <a:ext cx="0" cy="0"/>
          <a:chOff x="0" y="0"/>
          <a:chExt cx="0" cy="0"/>
        </a:xfrm>
      </p:grpSpPr>
      <p:sp>
        <p:nvSpPr>
          <p:cNvPr id="124" name="Google Shape;124;p33"/>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25" name="Shape 125"/>
        <p:cNvGrpSpPr/>
        <p:nvPr/>
      </p:nvGrpSpPr>
      <p:grpSpPr>
        <a:xfrm>
          <a:off x="0" y="0"/>
          <a:ext cx="0" cy="0"/>
          <a:chOff x="0" y="0"/>
          <a:chExt cx="0" cy="0"/>
        </a:xfrm>
      </p:grpSpPr>
      <p:sp>
        <p:nvSpPr>
          <p:cNvPr id="126" name="Google Shape;126;p3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3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8" name="Google Shape;128;p34"/>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9" name="Google Shape;129;p34"/>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30" name="Shape 130"/>
        <p:cNvGrpSpPr/>
        <p:nvPr/>
      </p:nvGrpSpPr>
      <p:grpSpPr>
        <a:xfrm>
          <a:off x="0" y="0"/>
          <a:ext cx="0" cy="0"/>
          <a:chOff x="0" y="0"/>
          <a:chExt cx="0" cy="0"/>
        </a:xfrm>
      </p:grpSpPr>
      <p:sp>
        <p:nvSpPr>
          <p:cNvPr id="131" name="Google Shape;131;p3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p35"/>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3" name="Google Shape;133;p3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4" name="Google Shape;134;p35"/>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35" name="Shape 135"/>
        <p:cNvGrpSpPr/>
        <p:nvPr/>
      </p:nvGrpSpPr>
      <p:grpSpPr>
        <a:xfrm>
          <a:off x="0" y="0"/>
          <a:ext cx="0" cy="0"/>
          <a:chOff x="0" y="0"/>
          <a:chExt cx="0" cy="0"/>
        </a:xfrm>
      </p:grpSpPr>
      <p:sp>
        <p:nvSpPr>
          <p:cNvPr id="136" name="Google Shape;136;p3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7" name="Google Shape;137;p36"/>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8" name="Google Shape;138;p36"/>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9" name="Google Shape;139;p36"/>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40" name="Shape 140"/>
        <p:cNvGrpSpPr/>
        <p:nvPr/>
      </p:nvGrpSpPr>
      <p:grpSpPr>
        <a:xfrm>
          <a:off x="0" y="0"/>
          <a:ext cx="0" cy="0"/>
          <a:chOff x="0" y="0"/>
          <a:chExt cx="0" cy="0"/>
        </a:xfrm>
      </p:grpSpPr>
      <p:sp>
        <p:nvSpPr>
          <p:cNvPr id="141" name="Google Shape;141;p3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37"/>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3" name="Google Shape;143;p37"/>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44" name="Shape 144"/>
        <p:cNvGrpSpPr/>
        <p:nvPr/>
      </p:nvGrpSpPr>
      <p:grpSpPr>
        <a:xfrm>
          <a:off x="0" y="0"/>
          <a:ext cx="0" cy="0"/>
          <a:chOff x="0" y="0"/>
          <a:chExt cx="0" cy="0"/>
        </a:xfrm>
      </p:grpSpPr>
      <p:sp>
        <p:nvSpPr>
          <p:cNvPr id="145" name="Google Shape;145;p3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p38"/>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7" name="Google Shape;147;p38"/>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8" name="Google Shape;148;p38"/>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9" name="Google Shape;149;p38"/>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150" name="Shape 150"/>
        <p:cNvGrpSpPr/>
        <p:nvPr/>
      </p:nvGrpSpPr>
      <p:grpSpPr>
        <a:xfrm>
          <a:off x="0" y="0"/>
          <a:ext cx="0" cy="0"/>
          <a:chOff x="0" y="0"/>
          <a:chExt cx="0" cy="0"/>
        </a:xfrm>
      </p:grpSpPr>
      <p:sp>
        <p:nvSpPr>
          <p:cNvPr id="151" name="Google Shape;151;p3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p39"/>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3" name="Google Shape;153;p39"/>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4" name="Google Shape;154;p39"/>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5" name="Google Shape;155;p39"/>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6" name="Google Shape;156;p39"/>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7" name="Google Shape;157;p39"/>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62" name="Shape 162"/>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63" name="Shape 163"/>
        <p:cNvGrpSpPr/>
        <p:nvPr/>
      </p:nvGrpSpPr>
      <p:grpSpPr>
        <a:xfrm>
          <a:off x="0" y="0"/>
          <a:ext cx="0" cy="0"/>
          <a:chOff x="0" y="0"/>
          <a:chExt cx="0" cy="0"/>
        </a:xfrm>
      </p:grpSpPr>
      <p:sp>
        <p:nvSpPr>
          <p:cNvPr id="164" name="Google Shape;164;p4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5" name="Google Shape;165;p42"/>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66" name="Shape 166"/>
        <p:cNvGrpSpPr/>
        <p:nvPr/>
      </p:nvGrpSpPr>
      <p:grpSpPr>
        <a:xfrm>
          <a:off x="0" y="0"/>
          <a:ext cx="0" cy="0"/>
          <a:chOff x="0" y="0"/>
          <a:chExt cx="0" cy="0"/>
        </a:xfrm>
      </p:grpSpPr>
      <p:sp>
        <p:nvSpPr>
          <p:cNvPr id="167" name="Google Shape;167;p4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8" name="Google Shape;168;p43"/>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69" name="Shape 169"/>
        <p:cNvGrpSpPr/>
        <p:nvPr/>
      </p:nvGrpSpPr>
      <p:grpSpPr>
        <a:xfrm>
          <a:off x="0" y="0"/>
          <a:ext cx="0" cy="0"/>
          <a:chOff x="0" y="0"/>
          <a:chExt cx="0" cy="0"/>
        </a:xfrm>
      </p:grpSpPr>
      <p:sp>
        <p:nvSpPr>
          <p:cNvPr id="170" name="Google Shape;170;p4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1" name="Google Shape;171;p44"/>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72" name="Google Shape;172;p44"/>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73" name="Shape 173"/>
        <p:cNvGrpSpPr/>
        <p:nvPr/>
      </p:nvGrpSpPr>
      <p:grpSpPr>
        <a:xfrm>
          <a:off x="0" y="0"/>
          <a:ext cx="0" cy="0"/>
          <a:chOff x="0" y="0"/>
          <a:chExt cx="0" cy="0"/>
        </a:xfrm>
      </p:grpSpPr>
      <p:sp>
        <p:nvSpPr>
          <p:cNvPr id="174" name="Google Shape;174;p4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75" name="Shape 175"/>
        <p:cNvGrpSpPr/>
        <p:nvPr/>
      </p:nvGrpSpPr>
      <p:grpSpPr>
        <a:xfrm>
          <a:off x="0" y="0"/>
          <a:ext cx="0" cy="0"/>
          <a:chOff x="0" y="0"/>
          <a:chExt cx="0" cy="0"/>
        </a:xfrm>
      </p:grpSpPr>
      <p:sp>
        <p:nvSpPr>
          <p:cNvPr id="176" name="Google Shape;176;p46"/>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77" name="Shape 177"/>
        <p:cNvGrpSpPr/>
        <p:nvPr/>
      </p:nvGrpSpPr>
      <p:grpSpPr>
        <a:xfrm>
          <a:off x="0" y="0"/>
          <a:ext cx="0" cy="0"/>
          <a:chOff x="0" y="0"/>
          <a:chExt cx="0" cy="0"/>
        </a:xfrm>
      </p:grpSpPr>
      <p:sp>
        <p:nvSpPr>
          <p:cNvPr id="178" name="Google Shape;178;p4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9" name="Google Shape;179;p47"/>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0" name="Google Shape;180;p47"/>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1" name="Google Shape;181;p47"/>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82" name="Shape 182"/>
        <p:cNvGrpSpPr/>
        <p:nvPr/>
      </p:nvGrpSpPr>
      <p:grpSpPr>
        <a:xfrm>
          <a:off x="0" y="0"/>
          <a:ext cx="0" cy="0"/>
          <a:chOff x="0" y="0"/>
          <a:chExt cx="0" cy="0"/>
        </a:xfrm>
      </p:grpSpPr>
      <p:sp>
        <p:nvSpPr>
          <p:cNvPr id="183" name="Google Shape;183;p4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4" name="Google Shape;184;p48"/>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5" name="Google Shape;185;p48"/>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6" name="Google Shape;186;p48"/>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87" name="Shape 187"/>
        <p:cNvGrpSpPr/>
        <p:nvPr/>
      </p:nvGrpSpPr>
      <p:grpSpPr>
        <a:xfrm>
          <a:off x="0" y="0"/>
          <a:ext cx="0" cy="0"/>
          <a:chOff x="0" y="0"/>
          <a:chExt cx="0" cy="0"/>
        </a:xfrm>
      </p:grpSpPr>
      <p:sp>
        <p:nvSpPr>
          <p:cNvPr id="188" name="Google Shape;188;p4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9" name="Google Shape;189;p49"/>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0" name="Google Shape;190;p49"/>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1" name="Google Shape;191;p49"/>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92" name="Shape 192"/>
        <p:cNvGrpSpPr/>
        <p:nvPr/>
      </p:nvGrpSpPr>
      <p:grpSpPr>
        <a:xfrm>
          <a:off x="0" y="0"/>
          <a:ext cx="0" cy="0"/>
          <a:chOff x="0" y="0"/>
          <a:chExt cx="0" cy="0"/>
        </a:xfrm>
      </p:grpSpPr>
      <p:sp>
        <p:nvSpPr>
          <p:cNvPr id="193" name="Google Shape;193;p5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4" name="Google Shape;194;p50"/>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5" name="Google Shape;195;p50"/>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96" name="Shape 196"/>
        <p:cNvGrpSpPr/>
        <p:nvPr/>
      </p:nvGrpSpPr>
      <p:grpSpPr>
        <a:xfrm>
          <a:off x="0" y="0"/>
          <a:ext cx="0" cy="0"/>
          <a:chOff x="0" y="0"/>
          <a:chExt cx="0" cy="0"/>
        </a:xfrm>
      </p:grpSpPr>
      <p:sp>
        <p:nvSpPr>
          <p:cNvPr id="197" name="Google Shape;197;p5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8" name="Google Shape;198;p51"/>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9" name="Google Shape;199;p51"/>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0" name="Google Shape;200;p51"/>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1" name="Google Shape;201;p51"/>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202" name="Shape 202"/>
        <p:cNvGrpSpPr/>
        <p:nvPr/>
      </p:nvGrpSpPr>
      <p:grpSpPr>
        <a:xfrm>
          <a:off x="0" y="0"/>
          <a:ext cx="0" cy="0"/>
          <a:chOff x="0" y="0"/>
          <a:chExt cx="0" cy="0"/>
        </a:xfrm>
      </p:grpSpPr>
      <p:sp>
        <p:nvSpPr>
          <p:cNvPr id="203" name="Google Shape;203;p5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4" name="Google Shape;204;p52"/>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5" name="Google Shape;205;p52"/>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6" name="Google Shape;206;p52"/>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7" name="Google Shape;207;p52"/>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8" name="Google Shape;208;p52"/>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9" name="Google Shape;209;p52"/>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214" name="Shape 214"/>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215" name="Shape 215"/>
        <p:cNvGrpSpPr/>
        <p:nvPr/>
      </p:nvGrpSpPr>
      <p:grpSpPr>
        <a:xfrm>
          <a:off x="0" y="0"/>
          <a:ext cx="0" cy="0"/>
          <a:chOff x="0" y="0"/>
          <a:chExt cx="0" cy="0"/>
        </a:xfrm>
      </p:grpSpPr>
      <p:sp>
        <p:nvSpPr>
          <p:cNvPr id="216" name="Google Shape;216;p5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7" name="Google Shape;217;p55"/>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218" name="Shape 218"/>
        <p:cNvGrpSpPr/>
        <p:nvPr/>
      </p:nvGrpSpPr>
      <p:grpSpPr>
        <a:xfrm>
          <a:off x="0" y="0"/>
          <a:ext cx="0" cy="0"/>
          <a:chOff x="0" y="0"/>
          <a:chExt cx="0" cy="0"/>
        </a:xfrm>
      </p:grpSpPr>
      <p:sp>
        <p:nvSpPr>
          <p:cNvPr id="219" name="Google Shape;219;p5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0" name="Google Shape;220;p56"/>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221" name="Shape 221"/>
        <p:cNvGrpSpPr/>
        <p:nvPr/>
      </p:nvGrpSpPr>
      <p:grpSpPr>
        <a:xfrm>
          <a:off x="0" y="0"/>
          <a:ext cx="0" cy="0"/>
          <a:chOff x="0" y="0"/>
          <a:chExt cx="0" cy="0"/>
        </a:xfrm>
      </p:grpSpPr>
      <p:sp>
        <p:nvSpPr>
          <p:cNvPr id="222" name="Google Shape;222;p5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3" name="Google Shape;223;p57"/>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24" name="Google Shape;224;p57"/>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25" name="Shape 225"/>
        <p:cNvGrpSpPr/>
        <p:nvPr/>
      </p:nvGrpSpPr>
      <p:grpSpPr>
        <a:xfrm>
          <a:off x="0" y="0"/>
          <a:ext cx="0" cy="0"/>
          <a:chOff x="0" y="0"/>
          <a:chExt cx="0" cy="0"/>
        </a:xfrm>
      </p:grpSpPr>
      <p:sp>
        <p:nvSpPr>
          <p:cNvPr id="226" name="Google Shape;226;p5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27" name="Shape 227"/>
        <p:cNvGrpSpPr/>
        <p:nvPr/>
      </p:nvGrpSpPr>
      <p:grpSpPr>
        <a:xfrm>
          <a:off x="0" y="0"/>
          <a:ext cx="0" cy="0"/>
          <a:chOff x="0" y="0"/>
          <a:chExt cx="0" cy="0"/>
        </a:xfrm>
      </p:grpSpPr>
      <p:sp>
        <p:nvSpPr>
          <p:cNvPr id="228" name="Google Shape;228;p59"/>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29" name="Shape 229"/>
        <p:cNvGrpSpPr/>
        <p:nvPr/>
      </p:nvGrpSpPr>
      <p:grpSpPr>
        <a:xfrm>
          <a:off x="0" y="0"/>
          <a:ext cx="0" cy="0"/>
          <a:chOff x="0" y="0"/>
          <a:chExt cx="0" cy="0"/>
        </a:xfrm>
      </p:grpSpPr>
      <p:sp>
        <p:nvSpPr>
          <p:cNvPr id="230" name="Google Shape;230;p6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1" name="Google Shape;231;p60"/>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2" name="Google Shape;232;p60"/>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3" name="Google Shape;233;p60"/>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234" name="Shape 234"/>
        <p:cNvGrpSpPr/>
        <p:nvPr/>
      </p:nvGrpSpPr>
      <p:grpSpPr>
        <a:xfrm>
          <a:off x="0" y="0"/>
          <a:ext cx="0" cy="0"/>
          <a:chOff x="0" y="0"/>
          <a:chExt cx="0" cy="0"/>
        </a:xfrm>
      </p:grpSpPr>
      <p:sp>
        <p:nvSpPr>
          <p:cNvPr id="235" name="Google Shape;235;p6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6" name="Google Shape;236;p61"/>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7" name="Google Shape;237;p61"/>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8" name="Google Shape;238;p61"/>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239" name="Shape 239"/>
        <p:cNvGrpSpPr/>
        <p:nvPr/>
      </p:nvGrpSpPr>
      <p:grpSpPr>
        <a:xfrm>
          <a:off x="0" y="0"/>
          <a:ext cx="0" cy="0"/>
          <a:chOff x="0" y="0"/>
          <a:chExt cx="0" cy="0"/>
        </a:xfrm>
      </p:grpSpPr>
      <p:sp>
        <p:nvSpPr>
          <p:cNvPr id="240" name="Google Shape;240;p6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1" name="Google Shape;241;p62"/>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2" name="Google Shape;242;p62"/>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3" name="Google Shape;243;p62"/>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244" name="Shape 244"/>
        <p:cNvGrpSpPr/>
        <p:nvPr/>
      </p:nvGrpSpPr>
      <p:grpSpPr>
        <a:xfrm>
          <a:off x="0" y="0"/>
          <a:ext cx="0" cy="0"/>
          <a:chOff x="0" y="0"/>
          <a:chExt cx="0" cy="0"/>
        </a:xfrm>
      </p:grpSpPr>
      <p:sp>
        <p:nvSpPr>
          <p:cNvPr id="245" name="Google Shape;245;p6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6" name="Google Shape;246;p63"/>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7" name="Google Shape;247;p63"/>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248" name="Shape 248"/>
        <p:cNvGrpSpPr/>
        <p:nvPr/>
      </p:nvGrpSpPr>
      <p:grpSpPr>
        <a:xfrm>
          <a:off x="0" y="0"/>
          <a:ext cx="0" cy="0"/>
          <a:chOff x="0" y="0"/>
          <a:chExt cx="0" cy="0"/>
        </a:xfrm>
      </p:grpSpPr>
      <p:sp>
        <p:nvSpPr>
          <p:cNvPr id="249" name="Google Shape;249;p6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0" name="Google Shape;250;p6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1" name="Google Shape;251;p6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2" name="Google Shape;252;p64"/>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3" name="Google Shape;253;p64"/>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254" name="Shape 254"/>
        <p:cNvGrpSpPr/>
        <p:nvPr/>
      </p:nvGrpSpPr>
      <p:grpSpPr>
        <a:xfrm>
          <a:off x="0" y="0"/>
          <a:ext cx="0" cy="0"/>
          <a:chOff x="0" y="0"/>
          <a:chExt cx="0" cy="0"/>
        </a:xfrm>
      </p:grpSpPr>
      <p:sp>
        <p:nvSpPr>
          <p:cNvPr id="255" name="Google Shape;255;p6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6" name="Google Shape;256;p65"/>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7" name="Google Shape;257;p65"/>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8" name="Google Shape;258;p65"/>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9" name="Google Shape;259;p65"/>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60" name="Google Shape;260;p65"/>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61" name="Google Shape;261;p65"/>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265" name="Shape 265"/>
        <p:cNvGrpSpPr/>
        <p:nvPr/>
      </p:nvGrpSpPr>
      <p:grpSpPr>
        <a:xfrm>
          <a:off x="0" y="0"/>
          <a:ext cx="0" cy="0"/>
          <a:chOff x="0" y="0"/>
          <a:chExt cx="0" cy="0"/>
        </a:xfrm>
      </p:grpSpPr>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266" name="Shape 266"/>
        <p:cNvGrpSpPr/>
        <p:nvPr/>
      </p:nvGrpSpPr>
      <p:grpSpPr>
        <a:xfrm>
          <a:off x="0" y="0"/>
          <a:ext cx="0" cy="0"/>
          <a:chOff x="0" y="0"/>
          <a:chExt cx="0" cy="0"/>
        </a:xfrm>
      </p:grpSpPr>
      <p:sp>
        <p:nvSpPr>
          <p:cNvPr id="267" name="Google Shape;267;p6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8" name="Google Shape;268;p68"/>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269" name="Shape 269"/>
        <p:cNvGrpSpPr/>
        <p:nvPr/>
      </p:nvGrpSpPr>
      <p:grpSpPr>
        <a:xfrm>
          <a:off x="0" y="0"/>
          <a:ext cx="0" cy="0"/>
          <a:chOff x="0" y="0"/>
          <a:chExt cx="0" cy="0"/>
        </a:xfrm>
      </p:grpSpPr>
      <p:sp>
        <p:nvSpPr>
          <p:cNvPr id="270" name="Google Shape;270;p6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1" name="Google Shape;271;p69"/>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272" name="Shape 272"/>
        <p:cNvGrpSpPr/>
        <p:nvPr/>
      </p:nvGrpSpPr>
      <p:grpSpPr>
        <a:xfrm>
          <a:off x="0" y="0"/>
          <a:ext cx="0" cy="0"/>
          <a:chOff x="0" y="0"/>
          <a:chExt cx="0" cy="0"/>
        </a:xfrm>
      </p:grpSpPr>
      <p:sp>
        <p:nvSpPr>
          <p:cNvPr id="273" name="Google Shape;273;p7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4" name="Google Shape;274;p70"/>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75" name="Google Shape;275;p70"/>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76" name="Shape 276"/>
        <p:cNvGrpSpPr/>
        <p:nvPr/>
      </p:nvGrpSpPr>
      <p:grpSpPr>
        <a:xfrm>
          <a:off x="0" y="0"/>
          <a:ext cx="0" cy="0"/>
          <a:chOff x="0" y="0"/>
          <a:chExt cx="0" cy="0"/>
        </a:xfrm>
      </p:grpSpPr>
      <p:sp>
        <p:nvSpPr>
          <p:cNvPr id="277" name="Google Shape;277;p7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78" name="Shape 278"/>
        <p:cNvGrpSpPr/>
        <p:nvPr/>
      </p:nvGrpSpPr>
      <p:grpSpPr>
        <a:xfrm>
          <a:off x="0" y="0"/>
          <a:ext cx="0" cy="0"/>
          <a:chOff x="0" y="0"/>
          <a:chExt cx="0" cy="0"/>
        </a:xfrm>
      </p:grpSpPr>
      <p:sp>
        <p:nvSpPr>
          <p:cNvPr id="279" name="Google Shape;279;p72"/>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80" name="Shape 280"/>
        <p:cNvGrpSpPr/>
        <p:nvPr/>
      </p:nvGrpSpPr>
      <p:grpSpPr>
        <a:xfrm>
          <a:off x="0" y="0"/>
          <a:ext cx="0" cy="0"/>
          <a:chOff x="0" y="0"/>
          <a:chExt cx="0" cy="0"/>
        </a:xfrm>
      </p:grpSpPr>
      <p:sp>
        <p:nvSpPr>
          <p:cNvPr id="281" name="Google Shape;281;p7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2" name="Google Shape;282;p73"/>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83" name="Google Shape;283;p73"/>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84" name="Google Shape;284;p73"/>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285" name="Shape 285"/>
        <p:cNvGrpSpPr/>
        <p:nvPr/>
      </p:nvGrpSpPr>
      <p:grpSpPr>
        <a:xfrm>
          <a:off x="0" y="0"/>
          <a:ext cx="0" cy="0"/>
          <a:chOff x="0" y="0"/>
          <a:chExt cx="0" cy="0"/>
        </a:xfrm>
      </p:grpSpPr>
      <p:sp>
        <p:nvSpPr>
          <p:cNvPr id="286" name="Google Shape;286;p7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7" name="Google Shape;287;p74"/>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88" name="Google Shape;288;p7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89" name="Google Shape;289;p74"/>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290" name="Shape 290"/>
        <p:cNvGrpSpPr/>
        <p:nvPr/>
      </p:nvGrpSpPr>
      <p:grpSpPr>
        <a:xfrm>
          <a:off x="0" y="0"/>
          <a:ext cx="0" cy="0"/>
          <a:chOff x="0" y="0"/>
          <a:chExt cx="0" cy="0"/>
        </a:xfrm>
      </p:grpSpPr>
      <p:sp>
        <p:nvSpPr>
          <p:cNvPr id="291" name="Google Shape;291;p7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2" name="Google Shape;292;p75"/>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93" name="Google Shape;293;p7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94" name="Google Shape;294;p75"/>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295" name="Shape 295"/>
        <p:cNvGrpSpPr/>
        <p:nvPr/>
      </p:nvGrpSpPr>
      <p:grpSpPr>
        <a:xfrm>
          <a:off x="0" y="0"/>
          <a:ext cx="0" cy="0"/>
          <a:chOff x="0" y="0"/>
          <a:chExt cx="0" cy="0"/>
        </a:xfrm>
      </p:grpSpPr>
      <p:sp>
        <p:nvSpPr>
          <p:cNvPr id="296" name="Google Shape;296;p7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7" name="Google Shape;297;p76"/>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98" name="Google Shape;298;p76"/>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299" name="Shape 299"/>
        <p:cNvGrpSpPr/>
        <p:nvPr/>
      </p:nvGrpSpPr>
      <p:grpSpPr>
        <a:xfrm>
          <a:off x="0" y="0"/>
          <a:ext cx="0" cy="0"/>
          <a:chOff x="0" y="0"/>
          <a:chExt cx="0" cy="0"/>
        </a:xfrm>
      </p:grpSpPr>
      <p:sp>
        <p:nvSpPr>
          <p:cNvPr id="300" name="Google Shape;300;p7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1" name="Google Shape;301;p77"/>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02" name="Google Shape;302;p77"/>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03" name="Google Shape;303;p77"/>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04" name="Google Shape;304;p77"/>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305" name="Shape 305"/>
        <p:cNvGrpSpPr/>
        <p:nvPr/>
      </p:nvGrpSpPr>
      <p:grpSpPr>
        <a:xfrm>
          <a:off x="0" y="0"/>
          <a:ext cx="0" cy="0"/>
          <a:chOff x="0" y="0"/>
          <a:chExt cx="0" cy="0"/>
        </a:xfrm>
      </p:grpSpPr>
      <p:sp>
        <p:nvSpPr>
          <p:cNvPr id="306" name="Google Shape;306;p7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7" name="Google Shape;307;p78"/>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08" name="Google Shape;308;p78"/>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09" name="Google Shape;309;p78"/>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10" name="Google Shape;310;p78"/>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11" name="Google Shape;311;p78"/>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12" name="Google Shape;312;p78"/>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316" name="Shape 316"/>
        <p:cNvGrpSpPr/>
        <p:nvPr/>
      </p:nvGrpSpPr>
      <p:grpSpPr>
        <a:xfrm>
          <a:off x="0" y="0"/>
          <a:ext cx="0" cy="0"/>
          <a:chOff x="0" y="0"/>
          <a:chExt cx="0" cy="0"/>
        </a:xfrm>
      </p:grpSpPr>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317" name="Shape 317"/>
        <p:cNvGrpSpPr/>
        <p:nvPr/>
      </p:nvGrpSpPr>
      <p:grpSpPr>
        <a:xfrm>
          <a:off x="0" y="0"/>
          <a:ext cx="0" cy="0"/>
          <a:chOff x="0" y="0"/>
          <a:chExt cx="0" cy="0"/>
        </a:xfrm>
      </p:grpSpPr>
      <p:sp>
        <p:nvSpPr>
          <p:cNvPr id="318" name="Google Shape;318;p8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9" name="Google Shape;319;p81"/>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320" name="Shape 320"/>
        <p:cNvGrpSpPr/>
        <p:nvPr/>
      </p:nvGrpSpPr>
      <p:grpSpPr>
        <a:xfrm>
          <a:off x="0" y="0"/>
          <a:ext cx="0" cy="0"/>
          <a:chOff x="0" y="0"/>
          <a:chExt cx="0" cy="0"/>
        </a:xfrm>
      </p:grpSpPr>
      <p:sp>
        <p:nvSpPr>
          <p:cNvPr id="321" name="Google Shape;321;p8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2" name="Google Shape;322;p82"/>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323" name="Shape 323"/>
        <p:cNvGrpSpPr/>
        <p:nvPr/>
      </p:nvGrpSpPr>
      <p:grpSpPr>
        <a:xfrm>
          <a:off x="0" y="0"/>
          <a:ext cx="0" cy="0"/>
          <a:chOff x="0" y="0"/>
          <a:chExt cx="0" cy="0"/>
        </a:xfrm>
      </p:grpSpPr>
      <p:sp>
        <p:nvSpPr>
          <p:cNvPr id="324" name="Google Shape;324;p8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5" name="Google Shape;325;p83"/>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26" name="Google Shape;326;p83"/>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27" name="Shape 327"/>
        <p:cNvGrpSpPr/>
        <p:nvPr/>
      </p:nvGrpSpPr>
      <p:grpSpPr>
        <a:xfrm>
          <a:off x="0" y="0"/>
          <a:ext cx="0" cy="0"/>
          <a:chOff x="0" y="0"/>
          <a:chExt cx="0" cy="0"/>
        </a:xfrm>
      </p:grpSpPr>
      <p:sp>
        <p:nvSpPr>
          <p:cNvPr id="328" name="Google Shape;328;p8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329" name="Shape 329"/>
        <p:cNvGrpSpPr/>
        <p:nvPr/>
      </p:nvGrpSpPr>
      <p:grpSpPr>
        <a:xfrm>
          <a:off x="0" y="0"/>
          <a:ext cx="0" cy="0"/>
          <a:chOff x="0" y="0"/>
          <a:chExt cx="0" cy="0"/>
        </a:xfrm>
      </p:grpSpPr>
      <p:sp>
        <p:nvSpPr>
          <p:cNvPr id="330" name="Google Shape;330;p85"/>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331" name="Shape 331"/>
        <p:cNvGrpSpPr/>
        <p:nvPr/>
      </p:nvGrpSpPr>
      <p:grpSpPr>
        <a:xfrm>
          <a:off x="0" y="0"/>
          <a:ext cx="0" cy="0"/>
          <a:chOff x="0" y="0"/>
          <a:chExt cx="0" cy="0"/>
        </a:xfrm>
      </p:grpSpPr>
      <p:sp>
        <p:nvSpPr>
          <p:cNvPr id="332" name="Google Shape;332;p8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86"/>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34" name="Google Shape;334;p86"/>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35" name="Google Shape;335;p86"/>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336" name="Shape 336"/>
        <p:cNvGrpSpPr/>
        <p:nvPr/>
      </p:nvGrpSpPr>
      <p:grpSpPr>
        <a:xfrm>
          <a:off x="0" y="0"/>
          <a:ext cx="0" cy="0"/>
          <a:chOff x="0" y="0"/>
          <a:chExt cx="0" cy="0"/>
        </a:xfrm>
      </p:grpSpPr>
      <p:sp>
        <p:nvSpPr>
          <p:cNvPr id="337" name="Google Shape;337;p8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8" name="Google Shape;338;p87"/>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39" name="Google Shape;339;p87"/>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40" name="Google Shape;340;p87"/>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341" name="Shape 341"/>
        <p:cNvGrpSpPr/>
        <p:nvPr/>
      </p:nvGrpSpPr>
      <p:grpSpPr>
        <a:xfrm>
          <a:off x="0" y="0"/>
          <a:ext cx="0" cy="0"/>
          <a:chOff x="0" y="0"/>
          <a:chExt cx="0" cy="0"/>
        </a:xfrm>
      </p:grpSpPr>
      <p:sp>
        <p:nvSpPr>
          <p:cNvPr id="342" name="Google Shape;342;p8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3" name="Google Shape;343;p88"/>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44" name="Google Shape;344;p88"/>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45" name="Google Shape;345;p88"/>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346" name="Shape 346"/>
        <p:cNvGrpSpPr/>
        <p:nvPr/>
      </p:nvGrpSpPr>
      <p:grpSpPr>
        <a:xfrm>
          <a:off x="0" y="0"/>
          <a:ext cx="0" cy="0"/>
          <a:chOff x="0" y="0"/>
          <a:chExt cx="0" cy="0"/>
        </a:xfrm>
      </p:grpSpPr>
      <p:sp>
        <p:nvSpPr>
          <p:cNvPr id="347" name="Google Shape;347;p8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8" name="Google Shape;348;p89"/>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49" name="Google Shape;349;p89"/>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350" name="Shape 350"/>
        <p:cNvGrpSpPr/>
        <p:nvPr/>
      </p:nvGrpSpPr>
      <p:grpSpPr>
        <a:xfrm>
          <a:off x="0" y="0"/>
          <a:ext cx="0" cy="0"/>
          <a:chOff x="0" y="0"/>
          <a:chExt cx="0" cy="0"/>
        </a:xfrm>
      </p:grpSpPr>
      <p:sp>
        <p:nvSpPr>
          <p:cNvPr id="351" name="Google Shape;351;p9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2" name="Google Shape;352;p90"/>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53" name="Google Shape;353;p90"/>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54" name="Google Shape;354;p90"/>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55" name="Google Shape;355;p90"/>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356" name="Shape 356"/>
        <p:cNvGrpSpPr/>
        <p:nvPr/>
      </p:nvGrpSpPr>
      <p:grpSpPr>
        <a:xfrm>
          <a:off x="0" y="0"/>
          <a:ext cx="0" cy="0"/>
          <a:chOff x="0" y="0"/>
          <a:chExt cx="0" cy="0"/>
        </a:xfrm>
      </p:grpSpPr>
      <p:sp>
        <p:nvSpPr>
          <p:cNvPr id="357" name="Google Shape;357;p9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8" name="Google Shape;358;p91"/>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59" name="Google Shape;359;p91"/>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60" name="Google Shape;360;p91"/>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61" name="Google Shape;361;p91"/>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62" name="Google Shape;362;p91"/>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63" name="Google Shape;363;p91"/>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367" name="Shape 367"/>
        <p:cNvGrpSpPr/>
        <p:nvPr/>
      </p:nvGrpSpPr>
      <p:grpSpPr>
        <a:xfrm>
          <a:off x="0" y="0"/>
          <a:ext cx="0" cy="0"/>
          <a:chOff x="0" y="0"/>
          <a:chExt cx="0" cy="0"/>
        </a:xfrm>
      </p:grpSpPr>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368" name="Shape 368"/>
        <p:cNvGrpSpPr/>
        <p:nvPr/>
      </p:nvGrpSpPr>
      <p:grpSpPr>
        <a:xfrm>
          <a:off x="0" y="0"/>
          <a:ext cx="0" cy="0"/>
          <a:chOff x="0" y="0"/>
          <a:chExt cx="0" cy="0"/>
        </a:xfrm>
      </p:grpSpPr>
      <p:sp>
        <p:nvSpPr>
          <p:cNvPr id="369" name="Google Shape;369;p9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0" name="Google Shape;370;p94"/>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371" name="Shape 371"/>
        <p:cNvGrpSpPr/>
        <p:nvPr/>
      </p:nvGrpSpPr>
      <p:grpSpPr>
        <a:xfrm>
          <a:off x="0" y="0"/>
          <a:ext cx="0" cy="0"/>
          <a:chOff x="0" y="0"/>
          <a:chExt cx="0" cy="0"/>
        </a:xfrm>
      </p:grpSpPr>
      <p:sp>
        <p:nvSpPr>
          <p:cNvPr id="372" name="Google Shape;372;p9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3" name="Google Shape;373;p95"/>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374" name="Shape 374"/>
        <p:cNvGrpSpPr/>
        <p:nvPr/>
      </p:nvGrpSpPr>
      <p:grpSpPr>
        <a:xfrm>
          <a:off x="0" y="0"/>
          <a:ext cx="0" cy="0"/>
          <a:chOff x="0" y="0"/>
          <a:chExt cx="0" cy="0"/>
        </a:xfrm>
      </p:grpSpPr>
      <p:sp>
        <p:nvSpPr>
          <p:cNvPr id="375" name="Google Shape;375;p9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6" name="Google Shape;376;p96"/>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77" name="Google Shape;377;p96"/>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78" name="Shape 378"/>
        <p:cNvGrpSpPr/>
        <p:nvPr/>
      </p:nvGrpSpPr>
      <p:grpSpPr>
        <a:xfrm>
          <a:off x="0" y="0"/>
          <a:ext cx="0" cy="0"/>
          <a:chOff x="0" y="0"/>
          <a:chExt cx="0" cy="0"/>
        </a:xfrm>
      </p:grpSpPr>
      <p:sp>
        <p:nvSpPr>
          <p:cNvPr id="379" name="Google Shape;379;p9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380" name="Shape 380"/>
        <p:cNvGrpSpPr/>
        <p:nvPr/>
      </p:nvGrpSpPr>
      <p:grpSpPr>
        <a:xfrm>
          <a:off x="0" y="0"/>
          <a:ext cx="0" cy="0"/>
          <a:chOff x="0" y="0"/>
          <a:chExt cx="0" cy="0"/>
        </a:xfrm>
      </p:grpSpPr>
      <p:sp>
        <p:nvSpPr>
          <p:cNvPr id="381" name="Google Shape;381;p98"/>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382" name="Shape 382"/>
        <p:cNvGrpSpPr/>
        <p:nvPr/>
      </p:nvGrpSpPr>
      <p:grpSpPr>
        <a:xfrm>
          <a:off x="0" y="0"/>
          <a:ext cx="0" cy="0"/>
          <a:chOff x="0" y="0"/>
          <a:chExt cx="0" cy="0"/>
        </a:xfrm>
      </p:grpSpPr>
      <p:sp>
        <p:nvSpPr>
          <p:cNvPr id="383" name="Google Shape;383;p9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4" name="Google Shape;384;p99"/>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85" name="Google Shape;385;p99"/>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86" name="Google Shape;386;p99"/>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387" name="Shape 387"/>
        <p:cNvGrpSpPr/>
        <p:nvPr/>
      </p:nvGrpSpPr>
      <p:grpSpPr>
        <a:xfrm>
          <a:off x="0" y="0"/>
          <a:ext cx="0" cy="0"/>
          <a:chOff x="0" y="0"/>
          <a:chExt cx="0" cy="0"/>
        </a:xfrm>
      </p:grpSpPr>
      <p:sp>
        <p:nvSpPr>
          <p:cNvPr id="388" name="Google Shape;388;p10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9" name="Google Shape;389;p100"/>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90" name="Google Shape;390;p100"/>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91" name="Google Shape;391;p100"/>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392" name="Shape 392"/>
        <p:cNvGrpSpPr/>
        <p:nvPr/>
      </p:nvGrpSpPr>
      <p:grpSpPr>
        <a:xfrm>
          <a:off x="0" y="0"/>
          <a:ext cx="0" cy="0"/>
          <a:chOff x="0" y="0"/>
          <a:chExt cx="0" cy="0"/>
        </a:xfrm>
      </p:grpSpPr>
      <p:sp>
        <p:nvSpPr>
          <p:cNvPr id="393" name="Google Shape;393;p10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4" name="Google Shape;394;p101"/>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95" name="Google Shape;395;p101"/>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96" name="Google Shape;396;p101"/>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397" name="Shape 397"/>
        <p:cNvGrpSpPr/>
        <p:nvPr/>
      </p:nvGrpSpPr>
      <p:grpSpPr>
        <a:xfrm>
          <a:off x="0" y="0"/>
          <a:ext cx="0" cy="0"/>
          <a:chOff x="0" y="0"/>
          <a:chExt cx="0" cy="0"/>
        </a:xfrm>
      </p:grpSpPr>
      <p:sp>
        <p:nvSpPr>
          <p:cNvPr id="398" name="Google Shape;398;p10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9" name="Google Shape;399;p102"/>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00" name="Google Shape;400;p102"/>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401" name="Shape 401"/>
        <p:cNvGrpSpPr/>
        <p:nvPr/>
      </p:nvGrpSpPr>
      <p:grpSpPr>
        <a:xfrm>
          <a:off x="0" y="0"/>
          <a:ext cx="0" cy="0"/>
          <a:chOff x="0" y="0"/>
          <a:chExt cx="0" cy="0"/>
        </a:xfrm>
      </p:grpSpPr>
      <p:sp>
        <p:nvSpPr>
          <p:cNvPr id="402" name="Google Shape;402;p10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3" name="Google Shape;403;p103"/>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04" name="Google Shape;404;p103"/>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05" name="Google Shape;405;p103"/>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06" name="Google Shape;406;p103"/>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407" name="Shape 407"/>
        <p:cNvGrpSpPr/>
        <p:nvPr/>
      </p:nvGrpSpPr>
      <p:grpSpPr>
        <a:xfrm>
          <a:off x="0" y="0"/>
          <a:ext cx="0" cy="0"/>
          <a:chOff x="0" y="0"/>
          <a:chExt cx="0" cy="0"/>
        </a:xfrm>
      </p:grpSpPr>
      <p:sp>
        <p:nvSpPr>
          <p:cNvPr id="408" name="Google Shape;408;p10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9" name="Google Shape;409;p104"/>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10" name="Google Shape;410;p104"/>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11" name="Google Shape;411;p104"/>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12" name="Google Shape;412;p104"/>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13" name="Google Shape;413;p104"/>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14" name="Google Shape;414;p104"/>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theme" Target="../theme/theme7.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Relationship Id="rId14" Type="http://schemas.openxmlformats.org/officeDocument/2006/relationships/theme" Target="../theme/theme8.xml"/></Relationships>
</file>

<file path=ppt/slideMasters/_rels/slideMaster4.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Relationship Id="rId14" Type="http://schemas.openxmlformats.org/officeDocument/2006/relationships/theme" Target="../theme/theme2.xml"/></Relationships>
</file>

<file path=ppt/slideMasters/_rels/slideMaster5.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Relationship Id="rId14" Type="http://schemas.openxmlformats.org/officeDocument/2006/relationships/theme" Target="../theme/theme9.xml"/></Relationships>
</file>

<file path=ppt/slideMasters/_rels/slideMaster6.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61.xml"/><Relationship Id="rId3" Type="http://schemas.openxmlformats.org/officeDocument/2006/relationships/slideLayout" Target="../slideLayouts/slideLayout62.xml"/><Relationship Id="rId4" Type="http://schemas.openxmlformats.org/officeDocument/2006/relationships/slideLayout" Target="../slideLayouts/slideLayout63.xml"/><Relationship Id="rId5" Type="http://schemas.openxmlformats.org/officeDocument/2006/relationships/slideLayout" Target="../slideLayouts/slideLayout64.xml"/><Relationship Id="rId6" Type="http://schemas.openxmlformats.org/officeDocument/2006/relationships/slideLayout" Target="../slideLayouts/slideLayout65.xml"/><Relationship Id="rId7" Type="http://schemas.openxmlformats.org/officeDocument/2006/relationships/slideLayout" Target="../slideLayouts/slideLayout66.xml"/><Relationship Id="rId8" Type="http://schemas.openxmlformats.org/officeDocument/2006/relationships/slideLayout" Target="../slideLayouts/slideLayout67.xml"/><Relationship Id="rId9" Type="http://schemas.openxmlformats.org/officeDocument/2006/relationships/slideLayout" Target="../slideLayouts/slideLayout68.xml"/><Relationship Id="rId10" Type="http://schemas.openxmlformats.org/officeDocument/2006/relationships/slideLayout" Target="../slideLayouts/slideLayout69.xml"/><Relationship Id="rId11" Type="http://schemas.openxmlformats.org/officeDocument/2006/relationships/slideLayout" Target="../slideLayouts/slideLayout70.xml"/><Relationship Id="rId12" Type="http://schemas.openxmlformats.org/officeDocument/2006/relationships/slideLayout" Target="../slideLayouts/slideLayout71.xml"/><Relationship Id="rId13" Type="http://schemas.openxmlformats.org/officeDocument/2006/relationships/slideLayout" Target="../slideLayouts/slideLayout72.xml"/><Relationship Id="rId14" Type="http://schemas.openxmlformats.org/officeDocument/2006/relationships/theme" Target="../theme/theme4.xml"/></Relationships>
</file>

<file path=ppt/slideMasters/_rels/slideMaster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73.xml"/><Relationship Id="rId3" Type="http://schemas.openxmlformats.org/officeDocument/2006/relationships/slideLayout" Target="../slideLayouts/slideLayout74.xml"/><Relationship Id="rId4" Type="http://schemas.openxmlformats.org/officeDocument/2006/relationships/slideLayout" Target="../slideLayouts/slideLayout75.xml"/><Relationship Id="rId5" Type="http://schemas.openxmlformats.org/officeDocument/2006/relationships/slideLayout" Target="../slideLayouts/slideLayout76.xml"/><Relationship Id="rId6" Type="http://schemas.openxmlformats.org/officeDocument/2006/relationships/slideLayout" Target="../slideLayouts/slideLayout77.xml"/><Relationship Id="rId7" Type="http://schemas.openxmlformats.org/officeDocument/2006/relationships/slideLayout" Target="../slideLayouts/slideLayout78.xml"/><Relationship Id="rId8" Type="http://schemas.openxmlformats.org/officeDocument/2006/relationships/slideLayout" Target="../slideLayouts/slideLayout79.xml"/><Relationship Id="rId9" Type="http://schemas.openxmlformats.org/officeDocument/2006/relationships/slideLayout" Target="../slideLayouts/slideLayout80.xml"/><Relationship Id="rId10" Type="http://schemas.openxmlformats.org/officeDocument/2006/relationships/slideLayout" Target="../slideLayouts/slideLayout81.xml"/><Relationship Id="rId11" Type="http://schemas.openxmlformats.org/officeDocument/2006/relationships/slideLayout" Target="../slideLayouts/slideLayout82.xml"/><Relationship Id="rId12" Type="http://schemas.openxmlformats.org/officeDocument/2006/relationships/slideLayout" Target="../slideLayouts/slideLayout83.xml"/><Relationship Id="rId13" Type="http://schemas.openxmlformats.org/officeDocument/2006/relationships/slideLayout" Target="../slideLayouts/slideLayout84.xml"/><Relationship Id="rId14" Type="http://schemas.openxmlformats.org/officeDocument/2006/relationships/theme" Target="../theme/theme3.xml"/></Relationships>
</file>

<file path=ppt/slideMasters/_rels/slideMaster8.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9" Type="http://schemas.openxmlformats.org/officeDocument/2006/relationships/slideLayout" Target="../slideLayouts/slideLayout92.xml"/><Relationship Id="rId10" Type="http://schemas.openxmlformats.org/officeDocument/2006/relationships/slideLayout" Target="../slideLayouts/slideLayout93.xml"/><Relationship Id="rId11" Type="http://schemas.openxmlformats.org/officeDocument/2006/relationships/slideLayout" Target="../slideLayouts/slideLayout94.xml"/><Relationship Id="rId12" Type="http://schemas.openxmlformats.org/officeDocument/2006/relationships/slideLayout" Target="../slideLayouts/slideLayout95.xml"/><Relationship Id="rId13" Type="http://schemas.openxmlformats.org/officeDocument/2006/relationships/slideLayout" Target="../slideLayouts/slideLayout96.xml"/><Relationship Id="rId14" Type="http://schemas.openxmlformats.org/officeDocument/2006/relationships/theme" Target="../theme/theme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6" name="Shape 56"/>
        <p:cNvGrpSpPr/>
        <p:nvPr/>
      </p:nvGrpSpPr>
      <p:grpSpPr>
        <a:xfrm>
          <a:off x="0" y="0"/>
          <a:ext cx="0" cy="0"/>
          <a:chOff x="0" y="0"/>
          <a:chExt cx="0" cy="0"/>
        </a:xfrm>
      </p:grpSpPr>
      <p:sp>
        <p:nvSpPr>
          <p:cNvPr id="57" name="Google Shape;57;p14"/>
          <p:cNvSpPr txBox="1"/>
          <p:nvPr>
            <p:ph idx="1" type="body"/>
          </p:nvPr>
        </p:nvSpPr>
        <p:spPr>
          <a:xfrm>
            <a:off x="4558320" y="1248480"/>
            <a:ext cx="7391160" cy="520488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8" name="Google Shape;58;p14"/>
          <p:cNvSpPr txBox="1"/>
          <p:nvPr>
            <p:ph type="title"/>
          </p:nvPr>
        </p:nvSpPr>
        <p:spPr>
          <a:xfrm>
            <a:off x="4558320" y="404280"/>
            <a:ext cx="739116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107" name="Shape 107"/>
        <p:cNvGrpSpPr/>
        <p:nvPr/>
      </p:nvGrpSpPr>
      <p:grpSpPr>
        <a:xfrm>
          <a:off x="0" y="0"/>
          <a:ext cx="0" cy="0"/>
          <a:chOff x="0" y="0"/>
          <a:chExt cx="0" cy="0"/>
        </a:xfrm>
      </p:grpSpPr>
      <p:sp>
        <p:nvSpPr>
          <p:cNvPr id="108" name="Google Shape;108;p27"/>
          <p:cNvSpPr txBox="1"/>
          <p:nvPr>
            <p:ph idx="1" type="body"/>
          </p:nvPr>
        </p:nvSpPr>
        <p:spPr>
          <a:xfrm>
            <a:off x="338760" y="1058760"/>
            <a:ext cx="11514240" cy="490860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09" name="Google Shape;109;p27"/>
          <p:cNvSpPr txBox="1"/>
          <p:nvPr>
            <p:ph type="title"/>
          </p:nvPr>
        </p:nvSpPr>
        <p:spPr>
          <a:xfrm>
            <a:off x="338760" y="112680"/>
            <a:ext cx="1151424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158" name="Shape 158"/>
        <p:cNvGrpSpPr/>
        <p:nvPr/>
      </p:nvGrpSpPr>
      <p:grpSpPr>
        <a:xfrm>
          <a:off x="0" y="0"/>
          <a:ext cx="0" cy="0"/>
          <a:chOff x="0" y="0"/>
          <a:chExt cx="0" cy="0"/>
        </a:xfrm>
      </p:grpSpPr>
      <p:sp>
        <p:nvSpPr>
          <p:cNvPr id="159" name="Google Shape;159;p40"/>
          <p:cNvSpPr txBox="1"/>
          <p:nvPr>
            <p:ph type="title"/>
          </p:nvPr>
        </p:nvSpPr>
        <p:spPr>
          <a:xfrm>
            <a:off x="338760" y="112680"/>
            <a:ext cx="1151424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60" name="Google Shape;160;p40"/>
          <p:cNvSpPr txBox="1"/>
          <p:nvPr>
            <p:ph idx="1" type="body"/>
          </p:nvPr>
        </p:nvSpPr>
        <p:spPr>
          <a:xfrm>
            <a:off x="338760" y="1406520"/>
            <a:ext cx="5756760" cy="466992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61" name="Google Shape;161;p40"/>
          <p:cNvSpPr txBox="1"/>
          <p:nvPr>
            <p:ph idx="2" type="body"/>
          </p:nvPr>
        </p:nvSpPr>
        <p:spPr>
          <a:xfrm>
            <a:off x="6210360" y="1392120"/>
            <a:ext cx="5592240" cy="468432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210" name="Shape 210"/>
        <p:cNvGrpSpPr/>
        <p:nvPr/>
      </p:nvGrpSpPr>
      <p:grpSpPr>
        <a:xfrm>
          <a:off x="0" y="0"/>
          <a:ext cx="0" cy="0"/>
          <a:chOff x="0" y="0"/>
          <a:chExt cx="0" cy="0"/>
        </a:xfrm>
      </p:grpSpPr>
      <p:sp>
        <p:nvSpPr>
          <p:cNvPr id="211" name="Google Shape;211;p53"/>
          <p:cNvSpPr txBox="1"/>
          <p:nvPr>
            <p:ph idx="1" type="body"/>
          </p:nvPr>
        </p:nvSpPr>
        <p:spPr>
          <a:xfrm>
            <a:off x="330120" y="1406880"/>
            <a:ext cx="5765400" cy="465552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12" name="Google Shape;212;p53"/>
          <p:cNvSpPr txBox="1"/>
          <p:nvPr>
            <p:ph idx="2" type="body"/>
          </p:nvPr>
        </p:nvSpPr>
        <p:spPr>
          <a:xfrm>
            <a:off x="6238800" y="1414440"/>
            <a:ext cx="5444640" cy="465588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13" name="Google Shape;213;p53"/>
          <p:cNvSpPr txBox="1"/>
          <p:nvPr>
            <p:ph type="title"/>
          </p:nvPr>
        </p:nvSpPr>
        <p:spPr>
          <a:xfrm>
            <a:off x="338760" y="112680"/>
            <a:ext cx="1151424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6.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262" name="Shape 262"/>
        <p:cNvGrpSpPr/>
        <p:nvPr/>
      </p:nvGrpSpPr>
      <p:grpSpPr>
        <a:xfrm>
          <a:off x="0" y="0"/>
          <a:ext cx="0" cy="0"/>
          <a:chOff x="0" y="0"/>
          <a:chExt cx="0" cy="0"/>
        </a:xfrm>
      </p:grpSpPr>
      <p:sp>
        <p:nvSpPr>
          <p:cNvPr id="263" name="Google Shape;263;p6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64" name="Google Shape;264;p66"/>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8" r:id="rId12"/>
    <p:sldLayoutId id="2147483719"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7.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313" name="Shape 313"/>
        <p:cNvGrpSpPr/>
        <p:nvPr/>
      </p:nvGrpSpPr>
      <p:grpSpPr>
        <a:xfrm>
          <a:off x="0" y="0"/>
          <a:ext cx="0" cy="0"/>
          <a:chOff x="0" y="0"/>
          <a:chExt cx="0" cy="0"/>
        </a:xfrm>
      </p:grpSpPr>
      <p:sp>
        <p:nvSpPr>
          <p:cNvPr id="314" name="Google Shape;314;p7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315" name="Google Shape;315;p79"/>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720" r:id="rId2"/>
    <p:sldLayoutId id="2147483721" r:id="rId3"/>
    <p:sldLayoutId id="2147483722" r:id="rId4"/>
    <p:sldLayoutId id="2147483723" r:id="rId5"/>
    <p:sldLayoutId id="2147483724" r:id="rId6"/>
    <p:sldLayoutId id="2147483725" r:id="rId7"/>
    <p:sldLayoutId id="2147483726" r:id="rId8"/>
    <p:sldLayoutId id="2147483727" r:id="rId9"/>
    <p:sldLayoutId id="2147483728" r:id="rId10"/>
    <p:sldLayoutId id="2147483729" r:id="rId11"/>
    <p:sldLayoutId id="2147483730" r:id="rId12"/>
    <p:sldLayoutId id="214748373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8.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364" name="Shape 364"/>
        <p:cNvGrpSpPr/>
        <p:nvPr/>
      </p:nvGrpSpPr>
      <p:grpSpPr>
        <a:xfrm>
          <a:off x="0" y="0"/>
          <a:ext cx="0" cy="0"/>
          <a:chOff x="0" y="0"/>
          <a:chExt cx="0" cy="0"/>
        </a:xfrm>
      </p:grpSpPr>
      <p:sp>
        <p:nvSpPr>
          <p:cNvPr id="365" name="Google Shape;365;p92"/>
          <p:cNvSpPr txBox="1"/>
          <p:nvPr>
            <p:ph type="title"/>
          </p:nvPr>
        </p:nvSpPr>
        <p:spPr>
          <a:xfrm>
            <a:off x="338760" y="112680"/>
            <a:ext cx="1151424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366" name="Google Shape;366;p92"/>
          <p:cNvSpPr txBox="1"/>
          <p:nvPr>
            <p:ph idx="1" type="body"/>
          </p:nvPr>
        </p:nvSpPr>
        <p:spPr>
          <a:xfrm>
            <a:off x="337680" y="1032480"/>
            <a:ext cx="11515320" cy="493848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pic>
        <p:nvPicPr>
          <p:cNvPr descr="Text&#10;&#10;Description automatically generated" id="419" name="Google Shape;419;p105"/>
          <p:cNvPicPr preferRelativeResize="0"/>
          <p:nvPr/>
        </p:nvPicPr>
        <p:blipFill rotWithShape="1">
          <a:blip r:embed="rId3">
            <a:alphaModFix/>
          </a:blip>
          <a:srcRect b="0" l="0" r="0" t="0"/>
          <a:stretch/>
        </p:blipFill>
        <p:spPr>
          <a:xfrm>
            <a:off x="392040" y="271440"/>
            <a:ext cx="3174120" cy="1153080"/>
          </a:xfrm>
          <a:prstGeom prst="rect">
            <a:avLst/>
          </a:prstGeom>
          <a:noFill/>
          <a:ln>
            <a:noFill/>
          </a:ln>
        </p:spPr>
      </p:pic>
      <p:sp>
        <p:nvSpPr>
          <p:cNvPr id="420" name="Google Shape;420;p105"/>
          <p:cNvSpPr/>
          <p:nvPr/>
        </p:nvSpPr>
        <p:spPr>
          <a:xfrm>
            <a:off x="695520" y="2269440"/>
            <a:ext cx="8251560" cy="84852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600"/>
              </a:spcAft>
              <a:buClr>
                <a:srgbClr val="000000"/>
              </a:buClr>
              <a:buSzPts val="3800"/>
              <a:buFont typeface="Arial"/>
              <a:buNone/>
            </a:pPr>
            <a:r>
              <a:rPr b="1" i="0" lang="en-US" sz="3800" u="none" cap="none" strike="noStrike">
                <a:solidFill>
                  <a:srgbClr val="0B2E63"/>
                </a:solidFill>
                <a:latin typeface="Calibri"/>
                <a:ea typeface="Calibri"/>
                <a:cs typeface="Calibri"/>
                <a:sym typeface="Calibri"/>
              </a:rPr>
              <a:t>NLBSE'24 GitHub Issue Classification</a:t>
            </a:r>
            <a:endParaRPr b="0" i="0" sz="1400" u="none" cap="none" strike="noStrike">
              <a:solidFill>
                <a:srgbClr val="000000"/>
              </a:solidFill>
              <a:latin typeface="Arial"/>
              <a:ea typeface="Arial"/>
              <a:cs typeface="Arial"/>
              <a:sym typeface="Arial"/>
            </a:endParaRPr>
          </a:p>
        </p:txBody>
      </p:sp>
      <p:sp>
        <p:nvSpPr>
          <p:cNvPr id="9001" name="Subtitle"/>
          <p:cNvSpPr/>
          <p:nvPr/>
        </p:nvSpPr>
        <p:spPr>
          <a:xfrm>
            <a:off x="695525" y="3150000"/>
            <a:ext cx="8251560" cy="38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t>Seminar 2 · AI for Software Engineering (AI4SE)</a:t>
            </a:r>
            <a:endParaRPr b="0" i="0" sz="1400" u="none" cap="none" strike="noStrike">
              <a:solidFill>
                <a:srgbClr val="000000"/>
              </a:solidFill>
              <a:latin typeface="Arial"/>
              <a:ea typeface="Arial"/>
              <a:cs typeface="Arial"/>
              <a:sym typeface="Arial"/>
            </a:endParaRPr>
          </a:p>
        </p:txBody>
      </p:sp>
      <p:sp>
        <p:nvSpPr>
          <p:cNvPr id="421" name="Google Shape;421;p105"/>
          <p:cNvSpPr/>
          <p:nvPr/>
        </p:nvSpPr>
        <p:spPr>
          <a:xfrm>
            <a:off x="695525" y="3650000"/>
            <a:ext cx="4329000" cy="13695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None/>
            </a:pPr>
            <a:r>
              <a:rPr b="0" i="0" lang="en-US" sz="1500" u="none" cap="none" strike="noStrike">
                <a:solidFill>
                  <a:srgbClr val="1F2937"/>
                </a:solidFill>
                <a:latin typeface="Calibri"/>
                <a:ea typeface="Calibri"/>
                <a:cs typeface="Calibri"/>
                <a:sym typeface="Calibri"/>
              </a:rPr>
              <a:t>Pham Tuan Kiet · 20252751M</a:t>
            </a:r>
            <a:endParaRPr/>
          </a:p>
          <a:p>
            <a:pPr indent="0" lvl="0" marL="0" marR="0" rtl="0" algn="l">
              <a:lnSpc>
                <a:spcPct val="100000"/>
              </a:lnSpc>
              <a:spcBef>
                <a:spcPts val="600"/>
              </a:spcBef>
              <a:spcAft>
                <a:spcPts val="0"/>
              </a:spcAft>
              <a:buNone/>
            </a:pPr>
            <a:r>
              <a:rPr b="0" i="0" lang="en-US" sz="1500" u="none" cap="none" strike="noStrike">
                <a:solidFill>
                  <a:srgbClr val="1F2937"/>
                </a:solidFill>
                <a:latin typeface="Calibri"/>
                <a:ea typeface="Calibri"/>
                <a:cs typeface="Calibri"/>
                <a:sym typeface="Calibri"/>
              </a:rPr>
              <a:t>Nguyen Trung Hieu · 20261059M</a:t>
            </a:r>
            <a:endParaRPr/>
          </a:p>
          <a:p>
            <a:pPr indent="0" lvl="0" marL="0" marR="0" rtl="0" algn="l">
              <a:lnSpc>
                <a:spcPct val="100000"/>
              </a:lnSpc>
              <a:spcBef>
                <a:spcPts val="600"/>
              </a:spcBef>
              <a:spcAft>
                <a:spcPts val="0"/>
              </a:spcAft>
              <a:buNone/>
            </a:pPr>
            <a:r>
              <a:rPr b="0" i="0" lang="en-US" sz="1500" u="none" cap="none" strike="noStrike">
                <a:solidFill>
                  <a:srgbClr val="1F2937"/>
                </a:solidFill>
                <a:latin typeface="Calibri"/>
                <a:ea typeface="Calibri"/>
                <a:cs typeface="Calibri"/>
                <a:sym typeface="Calibri"/>
              </a:rPr>
              <a:t>Le Ngoc Anh · 20252275M</a:t>
            </a:r>
            <a:endParaRPr/>
          </a:p>
          <a:p>
            <a:pPr indent="0" lvl="0" marL="0" marR="0" rtl="0" algn="l">
              <a:lnSpc>
                <a:spcPct val="100000"/>
              </a:lnSpc>
              <a:spcBef>
                <a:spcPts val="600"/>
              </a:spcBef>
              <a:spcAft>
                <a:spcPts val="0"/>
              </a:spcAft>
              <a:buNone/>
            </a:pPr>
            <a:r>
              <a:rPr b="0" i="0" lang="en-US" sz="1500" u="none" cap="none" strike="noStrike">
                <a:solidFill>
                  <a:srgbClr val="1F2937"/>
                </a:solidFill>
                <a:latin typeface="Calibri"/>
                <a:ea typeface="Calibri"/>
                <a:cs typeface="Calibri"/>
                <a:sym typeface="Calibri"/>
              </a:rPr>
              <a:t>Nguyen Hoang Nam · 20261081M</a:t>
            </a:r>
            <a:endParaRPr/>
          </a:p>
          <a:p>
            <a:pPr indent="0" lvl="0" marL="0" marR="0" rtl="0" algn="l">
              <a:lnSpc>
                <a:spcPct val="100000"/>
              </a:lnSpc>
              <a:spcBef>
                <a:spcPts val="600"/>
              </a:spcBef>
              <a:spcAft>
                <a:spcPts val="0"/>
              </a:spcAft>
              <a:buNone/>
            </a:pPr>
            <a:r>
              <a:rPr b="0" i="0" lang="en-US" sz="1500" u="none" cap="none" strike="noStrike">
                <a:solidFill>
                  <a:srgbClr val="1F2937"/>
                </a:solidFill>
                <a:latin typeface="Calibri"/>
                <a:ea typeface="Calibri"/>
                <a:cs typeface="Calibri"/>
                <a:sym typeface="Calibri"/>
              </a:rPr>
              <a:t>Bui Tien Dung · 20261204M</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120"/>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910" name="Section I."/>
          <p:cNvSpPr/>
          <p:nvPr/>
        </p:nvSpPr>
        <p:spPr>
          <a:xfrm>
            <a:off x="4553712" y="1188720"/>
            <a:ext cx="7223760" cy="860000"/>
          </a:xfrm>
          <a:prstGeom prst="roundRect">
            <a:avLst>
              <a:gd name="adj" fmla="val 12000"/>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BE1E2D"/>
                </a:solidFill>
                <a:latin typeface="Calibri"/>
                <a:ea typeface="Calibri"/>
                <a:cs typeface="Calibri"/>
                <a:sym typeface="Calibri"/>
              </a:rPr>
              <a:t>I.  </a:t>
            </a:r>
            <a:r>
              <a:rPr b="1" i="0" lang="en-US" sz="2200" u="none" cap="none" strike="noStrike">
                <a:solidFill>
                  <a:srgbClr val="0B2E63"/>
                </a:solidFill>
                <a:latin typeface="Calibri"/>
                <a:ea typeface="Calibri"/>
                <a:cs typeface="Calibri"/>
                <a:sym typeface="Calibri"/>
              </a:rPr>
              <a:t>Introduction</a:t>
            </a:r>
          </a:p>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Problem and project objectives</a:t>
            </a:r>
          </a:p>
        </p:txBody>
      </p:sp>
      <p:sp>
        <p:nvSpPr>
          <p:cNvPr id="911" name="Section II."/>
          <p:cNvSpPr/>
          <p:nvPr/>
        </p:nvSpPr>
        <p:spPr>
          <a:xfrm>
            <a:off x="4553712" y="2168720"/>
            <a:ext cx="7223760" cy="860000"/>
          </a:xfrm>
          <a:prstGeom prst="roundRect">
            <a:avLst>
              <a:gd name="adj" fmla="val 12000"/>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BE1E2D"/>
                </a:solidFill>
                <a:latin typeface="Calibri"/>
                <a:ea typeface="Calibri"/>
                <a:cs typeface="Calibri"/>
                <a:sym typeface="Calibri"/>
              </a:rPr>
              <a:t>II.  </a:t>
            </a:r>
            <a:r>
              <a:rPr b="1" i="0" lang="en-US" sz="2200" u="none" cap="none" strike="noStrike">
                <a:solidFill>
                  <a:srgbClr val="0B2E63"/>
                </a:solidFill>
                <a:latin typeface="Calibri"/>
                <a:ea typeface="Calibri"/>
                <a:cs typeface="Calibri"/>
                <a:sym typeface="Calibri"/>
              </a:rPr>
              <a:t>Dataset</a:t>
            </a:r>
          </a:p>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NLBSE'24 data and its challenges</a:t>
            </a:r>
          </a:p>
        </p:txBody>
      </p:sp>
      <p:sp>
        <p:nvSpPr>
          <p:cNvPr id="912" name="Section III."/>
          <p:cNvSpPr/>
          <p:nvPr/>
        </p:nvSpPr>
        <p:spPr>
          <a:xfrm>
            <a:off x="4553712" y="3148720"/>
            <a:ext cx="7223760" cy="860000"/>
          </a:xfrm>
          <a:prstGeom prst="roundRect">
            <a:avLst>
              <a:gd name="adj" fmla="val 12000"/>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BE1E2D"/>
                </a:solidFill>
                <a:latin typeface="Calibri"/>
                <a:ea typeface="Calibri"/>
                <a:cs typeface="Calibri"/>
                <a:sym typeface="Calibri"/>
              </a:rPr>
              <a:t>III.  </a:t>
            </a:r>
            <a:r>
              <a:rPr b="1" i="0" lang="en-US" sz="2200" u="none" cap="none" strike="noStrike">
                <a:solidFill>
                  <a:srgbClr val="0B2E63"/>
                </a:solidFill>
                <a:latin typeface="Calibri"/>
                <a:ea typeface="Calibri"/>
                <a:cs typeface="Calibri"/>
                <a:sym typeface="Calibri"/>
              </a:rPr>
              <a:t>Methodology</a:t>
            </a:r>
          </a:p>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Model families, background, evaluation protocols, pipeline</a:t>
            </a:r>
          </a:p>
        </p:txBody>
      </p:sp>
      <p:sp>
        <p:nvSpPr>
          <p:cNvPr id="913" name="Section IV."/>
          <p:cNvSpPr/>
          <p:nvPr/>
        </p:nvSpPr>
        <p:spPr>
          <a:xfrm>
            <a:off x="4553712" y="4128720"/>
            <a:ext cx="7223760" cy="860000"/>
          </a:xfrm>
          <a:prstGeom prst="roundRect">
            <a:avLst>
              <a:gd name="adj" fmla="val 12000"/>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BE1E2D"/>
                </a:solidFill>
                <a:latin typeface="Calibri"/>
                <a:ea typeface="Calibri"/>
                <a:cs typeface="Calibri"/>
                <a:sym typeface="Calibri"/>
              </a:rPr>
              <a:t>IV.  </a:t>
            </a:r>
            <a:r>
              <a:rPr b="1" i="0" lang="en-US" sz="2200" u="none" cap="none" strike="noStrike">
                <a:solidFill>
                  <a:srgbClr val="0B2E63"/>
                </a:solidFill>
                <a:latin typeface="Calibri"/>
                <a:ea typeface="Calibri"/>
                <a:cs typeface="Calibri"/>
                <a:sym typeface="Calibri"/>
              </a:rPr>
              <a:t>Experiments &amp; Results</a:t>
            </a:r>
          </a:p>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Baseline, lightweight models, RoBERTa, SetFit, comparison</a:t>
            </a:r>
          </a:p>
        </p:txBody>
      </p:sp>
      <p:sp>
        <p:nvSpPr>
          <p:cNvPr id="914" name="Section V."/>
          <p:cNvSpPr/>
          <p:nvPr/>
        </p:nvSpPr>
        <p:spPr>
          <a:xfrm>
            <a:off x="4553712" y="5108720"/>
            <a:ext cx="7223760" cy="860000"/>
          </a:xfrm>
          <a:prstGeom prst="roundRect">
            <a:avLst>
              <a:gd name="adj" fmla="val 12000"/>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BE1E2D"/>
                </a:solidFill>
                <a:latin typeface="Calibri"/>
                <a:ea typeface="Calibri"/>
                <a:cs typeface="Calibri"/>
                <a:sym typeface="Calibri"/>
              </a:rPr>
              <a:t>V.  </a:t>
            </a:r>
            <a:r>
              <a:rPr b="1" i="0" lang="en-US" sz="2200" u="none" cap="none" strike="noStrike">
                <a:solidFill>
                  <a:srgbClr val="0B2E63"/>
                </a:solidFill>
                <a:latin typeface="Calibri"/>
                <a:ea typeface="Calibri"/>
                <a:cs typeface="Calibri"/>
                <a:sym typeface="Calibri"/>
              </a:rPr>
              <a:t>Conclusion</a:t>
            </a:r>
          </a:p>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Key findings, limitations, future work</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120"/>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920" name="Section I."/>
          <p:cNvSpPr/>
          <p:nvPr/>
        </p:nvSpPr>
        <p:spPr>
          <a:xfrm>
            <a:off x="4553712" y="1188720"/>
            <a:ext cx="7223760" cy="860000"/>
          </a:xfrm>
          <a:prstGeom prst="roundRect">
            <a:avLst>
              <a:gd name="adj" fmla="val 12000"/>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BE1E2D"/>
                </a:solidFill>
                <a:latin typeface="Calibri"/>
                <a:ea typeface="Calibri"/>
                <a:cs typeface="Calibri"/>
                <a:sym typeface="Calibri"/>
              </a:rPr>
              <a:t>I.  </a:t>
            </a:r>
            <a:r>
              <a:rPr b="1" i="0" lang="en-US" sz="2200" u="none" cap="none" strike="noStrike">
                <a:solidFill>
                  <a:srgbClr val="0B2E63"/>
                </a:solidFill>
                <a:latin typeface="Calibri"/>
                <a:ea typeface="Calibri"/>
                <a:cs typeface="Calibri"/>
                <a:sym typeface="Calibri"/>
              </a:rPr>
              <a:t>Introduction</a:t>
            </a:r>
          </a:p>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Problem and project objectives</a:t>
            </a:r>
          </a:p>
        </p:txBody>
      </p:sp>
      <p:sp>
        <p:nvSpPr>
          <p:cNvPr id="921" name="Section II."/>
          <p:cNvSpPr/>
          <p:nvPr/>
        </p:nvSpPr>
        <p:spPr>
          <a:xfrm>
            <a:off x="4553712" y="216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NLBSE'24 data and its challenges</a:t>
            </a:r>
          </a:p>
        </p:txBody>
      </p:sp>
      <p:sp>
        <p:nvSpPr>
          <p:cNvPr id="922" name="Section III."/>
          <p:cNvSpPr/>
          <p:nvPr/>
        </p:nvSpPr>
        <p:spPr>
          <a:xfrm>
            <a:off x="4553712" y="314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Model families, background, evaluation protocols, pipeline</a:t>
            </a:r>
          </a:p>
        </p:txBody>
      </p:sp>
      <p:sp>
        <p:nvSpPr>
          <p:cNvPr id="923" name="Section IV."/>
          <p:cNvSpPr/>
          <p:nvPr/>
        </p:nvSpPr>
        <p:spPr>
          <a:xfrm>
            <a:off x="4553712" y="412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Baseline, lightweight models, RoBERTa, SetFit, comparison</a:t>
            </a:r>
          </a:p>
        </p:txBody>
      </p:sp>
      <p:sp>
        <p:nvSpPr>
          <p:cNvPr id="924" name="Section V."/>
          <p:cNvSpPr/>
          <p:nvPr/>
        </p:nvSpPr>
        <p:spPr>
          <a:xfrm>
            <a:off x="4553712" y="510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Key findings, limitations, future work</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106"/>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Problem: GitHub Issue Classification</a:t>
            </a:r>
            <a:endParaRPr b="0" i="0" sz="1800" u="none" cap="none" strike="noStrike">
              <a:solidFill>
                <a:srgbClr val="000000"/>
              </a:solidFill>
              <a:latin typeface="Calibri"/>
              <a:ea typeface="Calibri"/>
              <a:cs typeface="Calibri"/>
              <a:sym typeface="Calibri"/>
            </a:endParaRPr>
          </a:p>
        </p:txBody>
      </p:sp>
      <p:sp>
        <p:nvSpPr>
          <p:cNvPr id="427" name="Google Shape;427;p106"/>
          <p:cNvSpPr txBox="1"/>
          <p:nvPr/>
        </p:nvSpPr>
        <p:spPr>
          <a:xfrm>
            <a:off x="4553712" y="1234440"/>
            <a:ext cx="7223760" cy="23774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Maintainers need to classify issues before prioritizing and assigning them</a:t>
            </a:r>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Manual labeling is time-consuming and can be inconsistent</a:t>
            </a:r>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Issues contain a mix of text, code, stack traces, URLs, and versions</a:t>
            </a:r>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Each repository has its own terminology and templates</a:t>
            </a:r>
            <a:endParaRPr/>
          </a:p>
        </p:txBody>
      </p:sp>
      <p:sp>
        <p:nvSpPr>
          <p:cNvPr id="428" name="Google Shape;428;p106"/>
          <p:cNvSpPr/>
          <p:nvPr/>
        </p:nvSpPr>
        <p:spPr>
          <a:xfrm>
            <a:off x="4553712" y="3840480"/>
            <a:ext cx="210312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800" u="none" cap="none" strike="noStrike">
                <a:solidFill>
                  <a:srgbClr val="0B2E63"/>
                </a:solidFill>
                <a:latin typeface="Calibri"/>
                <a:ea typeface="Calibri"/>
                <a:cs typeface="Calibri"/>
                <a:sym typeface="Calibri"/>
              </a:rPr>
              <a:t>Issue</a:t>
            </a:r>
            <a:endParaRPr/>
          </a:p>
          <a:p>
            <a:pPr indent="0" lvl="0" marL="0" marR="0" rtl="0" algn="ctr">
              <a:lnSpc>
                <a:spcPct val="100000"/>
              </a:lnSpc>
              <a:spcBef>
                <a:spcPts val="200"/>
              </a:spcBef>
              <a:spcAft>
                <a:spcPts val="0"/>
              </a:spcAft>
              <a:buNone/>
            </a:pPr>
            <a:r>
              <a:rPr b="0" i="0" lang="en-US" sz="1400" u="none" cap="none" strike="noStrike">
                <a:solidFill>
                  <a:srgbClr val="1F2937"/>
                </a:solidFill>
                <a:latin typeface="Calibri"/>
                <a:ea typeface="Calibri"/>
                <a:cs typeface="Calibri"/>
                <a:sym typeface="Calibri"/>
              </a:rPr>
              <a:t>title + body</a:t>
            </a:r>
            <a:endParaRPr/>
          </a:p>
        </p:txBody>
      </p:sp>
      <p:sp>
        <p:nvSpPr>
          <p:cNvPr id="429" name="Google Shape;429;p106"/>
          <p:cNvSpPr txBox="1"/>
          <p:nvPr/>
        </p:nvSpPr>
        <p:spPr>
          <a:xfrm>
            <a:off x="6675120" y="4251960"/>
            <a:ext cx="54864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3000" u="none" cap="none" strike="noStrike">
                <a:solidFill>
                  <a:srgbClr val="BE1E2D"/>
                </a:solidFill>
                <a:latin typeface="Calibri"/>
                <a:ea typeface="Calibri"/>
                <a:cs typeface="Calibri"/>
                <a:sym typeface="Calibri"/>
              </a:rPr>
              <a:t>→</a:t>
            </a:r>
            <a:endParaRPr/>
          </a:p>
        </p:txBody>
      </p:sp>
      <p:sp>
        <p:nvSpPr>
          <p:cNvPr id="430" name="Google Shape;430;p106"/>
          <p:cNvSpPr/>
          <p:nvPr/>
        </p:nvSpPr>
        <p:spPr>
          <a:xfrm>
            <a:off x="7269480" y="3840480"/>
            <a:ext cx="1828800" cy="13716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800" u="none" cap="none" strike="noStrike">
                <a:solidFill>
                  <a:srgbClr val="FFFFFF"/>
                </a:solidFill>
                <a:latin typeface="Calibri"/>
                <a:ea typeface="Calibri"/>
                <a:cs typeface="Calibri"/>
                <a:sym typeface="Calibri"/>
              </a:rPr>
              <a:t>Classifier</a:t>
            </a:r>
            <a:endParaRPr/>
          </a:p>
        </p:txBody>
      </p:sp>
      <p:sp>
        <p:nvSpPr>
          <p:cNvPr id="431" name="Google Shape;431;p106"/>
          <p:cNvSpPr txBox="1"/>
          <p:nvPr/>
        </p:nvSpPr>
        <p:spPr>
          <a:xfrm>
            <a:off x="9098280" y="4251960"/>
            <a:ext cx="54864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3000" u="none" cap="none" strike="noStrike">
                <a:solidFill>
                  <a:srgbClr val="BE1E2D"/>
                </a:solidFill>
                <a:latin typeface="Calibri"/>
                <a:ea typeface="Calibri"/>
                <a:cs typeface="Calibri"/>
                <a:sym typeface="Calibri"/>
              </a:rPr>
              <a:t>→</a:t>
            </a:r>
            <a:endParaRPr/>
          </a:p>
        </p:txBody>
      </p:sp>
      <p:sp>
        <p:nvSpPr>
          <p:cNvPr id="432" name="Google Shape;432;p106"/>
          <p:cNvSpPr/>
          <p:nvPr/>
        </p:nvSpPr>
        <p:spPr>
          <a:xfrm>
            <a:off x="9646920" y="3611880"/>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bug  ·  incorrect behavior or defect</a:t>
            </a:r>
            <a:endParaRPr/>
          </a:p>
        </p:txBody>
      </p:sp>
      <p:sp>
        <p:nvSpPr>
          <p:cNvPr id="433" name="Google Shape;433;p106"/>
          <p:cNvSpPr/>
          <p:nvPr/>
        </p:nvSpPr>
        <p:spPr>
          <a:xfrm>
            <a:off x="9646920" y="4178808"/>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feature  ·  feature request</a:t>
            </a:r>
            <a:endParaRPr/>
          </a:p>
        </p:txBody>
      </p:sp>
      <p:sp>
        <p:nvSpPr>
          <p:cNvPr id="434" name="Google Shape;434;p106"/>
          <p:cNvSpPr/>
          <p:nvPr/>
        </p:nvSpPr>
        <p:spPr>
          <a:xfrm>
            <a:off x="9646920" y="4745736"/>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question  ·  question or help request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8" name="Shape 438"/>
        <p:cNvGrpSpPr/>
        <p:nvPr/>
      </p:nvGrpSpPr>
      <p:grpSpPr>
        <a:xfrm>
          <a:off x="0" y="0"/>
          <a:ext cx="0" cy="0"/>
          <a:chOff x="0" y="0"/>
          <a:chExt cx="0" cy="0"/>
        </a:xfrm>
      </p:grpSpPr>
      <p:sp>
        <p:nvSpPr>
          <p:cNvPr id="439" name="Google Shape;439;p10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Project Objectives</a:t>
            </a:r>
            <a:endParaRPr b="0" i="0" sz="1800" u="none" cap="none" strike="noStrike">
              <a:solidFill>
                <a:srgbClr val="000000"/>
              </a:solidFill>
              <a:latin typeface="Calibri"/>
              <a:ea typeface="Calibri"/>
              <a:cs typeface="Calibri"/>
              <a:sym typeface="Calibri"/>
            </a:endParaRPr>
          </a:p>
        </p:txBody>
      </p:sp>
      <p:sp>
        <p:nvSpPr>
          <p:cNvPr id="440" name="Google Shape;440;p107"/>
          <p:cNvSpPr/>
          <p:nvPr/>
        </p:nvSpPr>
        <p:spPr>
          <a:xfrm>
            <a:off x="45720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2400" u="none" cap="none" strike="noStrike">
                <a:solidFill>
                  <a:srgbClr val="0B2E63"/>
                </a:solidFill>
                <a:latin typeface="Calibri"/>
                <a:ea typeface="Calibri"/>
                <a:cs typeface="Calibri"/>
                <a:sym typeface="Calibri"/>
              </a:rPr>
              <a:t>1. Model Comparison</a:t>
            </a:r>
            <a:endParaRPr/>
          </a:p>
          <a:p>
            <a:pPr indent="0" lvl="0" marL="0" marR="0" rtl="0" algn="l">
              <a:lnSpc>
                <a:spcPct val="100000"/>
              </a:lnSpc>
              <a:spcBef>
                <a:spcPts val="1000"/>
              </a:spcBef>
              <a:spcAft>
                <a:spcPts val="0"/>
              </a:spcAft>
              <a:buNone/>
            </a:pPr>
            <a:r>
              <a:rPr b="0" i="0" lang="en-US" sz="2000" u="none" cap="none" strike="noStrike">
                <a:solidFill>
                  <a:srgbClr val="1F2937"/>
                </a:solidFill>
                <a:latin typeface="Calibri"/>
                <a:ea typeface="Calibri"/>
                <a:cs typeface="Calibri"/>
                <a:sym typeface="Calibri"/>
              </a:rPr>
              <a:t>From TF-IDF to dense encoders (RoBERTa, SetFit)</a:t>
            </a:r>
            <a:endParaRPr/>
          </a:p>
        </p:txBody>
      </p:sp>
      <p:sp>
        <p:nvSpPr>
          <p:cNvPr id="441" name="Google Shape;441;p107"/>
          <p:cNvSpPr/>
          <p:nvPr/>
        </p:nvSpPr>
        <p:spPr>
          <a:xfrm>
            <a:off x="429768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2400" u="none" cap="none" strike="noStrike">
                <a:solidFill>
                  <a:srgbClr val="0B2E63"/>
                </a:solidFill>
                <a:latin typeface="Calibri"/>
                <a:ea typeface="Calibri"/>
                <a:cs typeface="Calibri"/>
                <a:sym typeface="Calibri"/>
              </a:rPr>
              <a:t>2. Multiple Evaluation Protocols</a:t>
            </a:r>
            <a:endParaRPr/>
          </a:p>
          <a:p>
            <a:pPr indent="0" lvl="0" marL="0" marR="0" rtl="0" algn="l">
              <a:lnSpc>
                <a:spcPct val="100000"/>
              </a:lnSpc>
              <a:spcBef>
                <a:spcPts val="1000"/>
              </a:spcBef>
              <a:spcAft>
                <a:spcPts val="0"/>
              </a:spcAft>
              <a:buNone/>
            </a:pPr>
            <a:r>
              <a:rPr b="0" i="0" lang="en-US" sz="2000" u="none" cap="none" strike="noStrike">
                <a:solidFill>
                  <a:srgbClr val="1F2937"/>
                </a:solidFill>
                <a:latin typeface="Calibri"/>
                <a:ea typeface="Calibri"/>
                <a:cs typeface="Calibri"/>
                <a:sym typeface="Calibri"/>
              </a:rPr>
              <a:t>Repo-specific CV, Pooled CV, LOO, Official Test</a:t>
            </a:r>
            <a:endParaRPr/>
          </a:p>
        </p:txBody>
      </p:sp>
      <p:sp>
        <p:nvSpPr>
          <p:cNvPr id="442" name="Google Shape;442;p107"/>
          <p:cNvSpPr/>
          <p:nvPr/>
        </p:nvSpPr>
        <p:spPr>
          <a:xfrm>
            <a:off x="813816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2400" u="none" cap="none" strike="noStrike">
                <a:solidFill>
                  <a:srgbClr val="0B2E63"/>
                </a:solidFill>
                <a:latin typeface="Calibri"/>
                <a:ea typeface="Calibri"/>
                <a:cs typeface="Calibri"/>
                <a:sym typeface="Calibri"/>
              </a:rPr>
              <a:t>3. Performance and Cost</a:t>
            </a:r>
            <a:endParaRPr/>
          </a:p>
          <a:p>
            <a:pPr indent="0" lvl="0" marL="0" marR="0" rtl="0" algn="l">
              <a:lnSpc>
                <a:spcPct val="100000"/>
              </a:lnSpc>
              <a:spcBef>
                <a:spcPts val="1000"/>
              </a:spcBef>
              <a:spcAft>
                <a:spcPts val="0"/>
              </a:spcAft>
              <a:buNone/>
            </a:pPr>
            <a:r>
              <a:rPr b="0" i="0" lang="en-US" sz="2000" u="none" cap="none" strike="noStrike">
                <a:solidFill>
                  <a:srgbClr val="1F2937"/>
                </a:solidFill>
                <a:latin typeface="Calibri"/>
                <a:ea typeface="Calibri"/>
                <a:cs typeface="Calibri"/>
                <a:sym typeface="Calibri"/>
              </a:rPr>
              <a:t>Consider fitting time, inference time, and implementation complexity</a:t>
            </a:r>
            <a:endParaRPr/>
          </a:p>
        </p:txBody>
      </p:sp>
      <p:sp>
        <p:nvSpPr>
          <p:cNvPr id="443" name="Google Shape;443;p107"/>
          <p:cNvSpPr/>
          <p:nvPr/>
        </p:nvSpPr>
        <p:spPr>
          <a:xfrm>
            <a:off x="457200" y="4114800"/>
            <a:ext cx="11292840" cy="13716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2600" u="none" cap="none" strike="noStrike">
                <a:solidFill>
                  <a:srgbClr val="FFFFFF"/>
                </a:solidFill>
                <a:latin typeface="Calibri"/>
                <a:ea typeface="Calibri"/>
                <a:cs typeface="Calibri"/>
                <a:sym typeface="Calibri"/>
              </a:rPr>
              <a:t>Primary Metric: Macro-F1</a:t>
            </a:r>
            <a:endParaRPr/>
          </a:p>
          <a:p>
            <a:pPr indent="0" lvl="0" marL="0" marR="0" rtl="0" algn="l">
              <a:lnSpc>
                <a:spcPct val="100000"/>
              </a:lnSpc>
              <a:spcBef>
                <a:spcPts val="400"/>
              </a:spcBef>
              <a:spcAft>
                <a:spcPts val="0"/>
              </a:spcAft>
              <a:buNone/>
            </a:pPr>
            <a:r>
              <a:rPr b="0" i="0" lang="en-US" sz="2000" u="none" cap="none" strike="noStrike">
                <a:solidFill>
                  <a:srgbClr val="FFFFFF"/>
                </a:solidFill>
                <a:latin typeface="Calibri"/>
                <a:ea typeface="Calibri"/>
                <a:cs typeface="Calibri"/>
                <a:sym typeface="Calibri"/>
              </a:rPr>
              <a:t>Computed per repository and then averaged across 5 repositories; predictions are not pooled across repositories</a:t>
            </a:r>
            <a:endParaRPr/>
          </a:p>
        </p:txBody>
      </p:sp>
      <p:sp>
        <p:nvSpPr>
          <p:cNvPr id="444"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120"/>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930" name="Section I."/>
          <p:cNvSpPr/>
          <p:nvPr/>
        </p:nvSpPr>
        <p:spPr>
          <a:xfrm>
            <a:off x="4553712" y="118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Problem and project objectives</a:t>
            </a:r>
          </a:p>
        </p:txBody>
      </p:sp>
      <p:sp>
        <p:nvSpPr>
          <p:cNvPr id="931" name="Section II."/>
          <p:cNvSpPr/>
          <p:nvPr/>
        </p:nvSpPr>
        <p:spPr>
          <a:xfrm>
            <a:off x="4553712" y="2168720"/>
            <a:ext cx="7223760" cy="860000"/>
          </a:xfrm>
          <a:prstGeom prst="roundRect">
            <a:avLst>
              <a:gd name="adj" fmla="val 12000"/>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BE1E2D"/>
                </a:solidFill>
                <a:latin typeface="Calibri"/>
                <a:ea typeface="Calibri"/>
                <a:cs typeface="Calibri"/>
                <a:sym typeface="Calibri"/>
              </a:rPr>
              <a:t>II.  </a:t>
            </a:r>
            <a:r>
              <a:rPr b="1" i="0" lang="en-US" sz="2200" u="none" cap="none" strike="noStrike">
                <a:solidFill>
                  <a:srgbClr val="0B2E63"/>
                </a:solidFill>
                <a:latin typeface="Calibri"/>
                <a:ea typeface="Calibri"/>
                <a:cs typeface="Calibri"/>
                <a:sym typeface="Calibri"/>
              </a:rPr>
              <a:t>Dataset</a:t>
            </a:r>
          </a:p>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NLBSE'24 data and its challenges</a:t>
            </a:r>
          </a:p>
        </p:txBody>
      </p:sp>
      <p:sp>
        <p:nvSpPr>
          <p:cNvPr id="932" name="Section III."/>
          <p:cNvSpPr/>
          <p:nvPr/>
        </p:nvSpPr>
        <p:spPr>
          <a:xfrm>
            <a:off x="4553712" y="314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Model families, background, evaluation protocols, pipeline</a:t>
            </a:r>
          </a:p>
        </p:txBody>
      </p:sp>
      <p:sp>
        <p:nvSpPr>
          <p:cNvPr id="933" name="Section IV."/>
          <p:cNvSpPr/>
          <p:nvPr/>
        </p:nvSpPr>
        <p:spPr>
          <a:xfrm>
            <a:off x="4553712" y="412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Baseline, lightweight models, RoBERTa, SetFit, comparison</a:t>
            </a:r>
          </a:p>
        </p:txBody>
      </p:sp>
      <p:sp>
        <p:nvSpPr>
          <p:cNvPr id="934" name="Section V."/>
          <p:cNvSpPr/>
          <p:nvPr/>
        </p:nvSpPr>
        <p:spPr>
          <a:xfrm>
            <a:off x="4553712" y="510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Key findings, limitations, future work</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p108"/>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Dataset NLBSE'24</a:t>
            </a:r>
            <a:endParaRPr b="0" i="0" sz="1800" u="none" cap="none" strike="noStrike">
              <a:solidFill>
                <a:srgbClr val="000000"/>
              </a:solidFill>
              <a:latin typeface="Calibri"/>
              <a:ea typeface="Calibri"/>
              <a:cs typeface="Calibri"/>
              <a:sym typeface="Calibri"/>
            </a:endParaRPr>
          </a:p>
        </p:txBody>
      </p:sp>
      <p:sp>
        <p:nvSpPr>
          <p:cNvPr id="449" name="Google Shape;449;p108"/>
          <p:cNvSpPr/>
          <p:nvPr/>
        </p:nvSpPr>
        <p:spPr>
          <a:xfrm>
            <a:off x="457200" y="128016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3200" u="none" cap="none" strike="noStrike">
                <a:solidFill>
                  <a:srgbClr val="BE1E2D"/>
                </a:solidFill>
                <a:latin typeface="Calibri"/>
                <a:ea typeface="Calibri"/>
                <a:cs typeface="Calibri"/>
                <a:sym typeface="Calibri"/>
              </a:rPr>
              <a:t>1,500</a:t>
            </a:r>
            <a:endParaRPr/>
          </a:p>
          <a:p>
            <a:pPr indent="0" lvl="0" marL="0" marR="0" rtl="0" algn="l">
              <a:lnSpc>
                <a:spcPct val="100000"/>
              </a:lnSpc>
              <a:spcBef>
                <a:spcPts val="200"/>
              </a:spcBef>
              <a:spcAft>
                <a:spcPts val="0"/>
              </a:spcAft>
              <a:buNone/>
            </a:pPr>
            <a:r>
              <a:rPr b="0" i="0" lang="en-US" sz="1400" u="none" cap="none" strike="noStrike">
                <a:solidFill>
                  <a:srgbClr val="1F2937"/>
                </a:solidFill>
                <a:latin typeface="Calibri"/>
                <a:ea typeface="Calibri"/>
                <a:cs typeface="Calibri"/>
                <a:sym typeface="Calibri"/>
              </a:rPr>
              <a:t>training issues</a:t>
            </a:r>
            <a:endParaRPr/>
          </a:p>
        </p:txBody>
      </p:sp>
      <p:sp>
        <p:nvSpPr>
          <p:cNvPr id="450" name="Google Shape;450;p108"/>
          <p:cNvSpPr/>
          <p:nvPr/>
        </p:nvSpPr>
        <p:spPr>
          <a:xfrm>
            <a:off x="457200" y="274320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3200" u="none" cap="none" strike="noStrike">
                <a:solidFill>
                  <a:srgbClr val="BE1E2D"/>
                </a:solidFill>
                <a:latin typeface="Calibri"/>
                <a:ea typeface="Calibri"/>
                <a:cs typeface="Calibri"/>
                <a:sym typeface="Calibri"/>
              </a:rPr>
              <a:t>1,500</a:t>
            </a:r>
            <a:endParaRPr/>
          </a:p>
          <a:p>
            <a:pPr indent="0" lvl="0" marL="0" marR="0" rtl="0" algn="l">
              <a:lnSpc>
                <a:spcPct val="100000"/>
              </a:lnSpc>
              <a:spcBef>
                <a:spcPts val="200"/>
              </a:spcBef>
              <a:spcAft>
                <a:spcPts val="0"/>
              </a:spcAft>
              <a:buNone/>
            </a:pPr>
            <a:r>
              <a:rPr b="0" i="0" lang="en-US" sz="1400" u="none" cap="none" strike="noStrike">
                <a:solidFill>
                  <a:srgbClr val="1F2937"/>
                </a:solidFill>
                <a:latin typeface="Calibri"/>
                <a:ea typeface="Calibri"/>
                <a:cs typeface="Calibri"/>
                <a:sym typeface="Calibri"/>
              </a:rPr>
              <a:t>official test issues</a:t>
            </a:r>
            <a:endParaRPr/>
          </a:p>
        </p:txBody>
      </p:sp>
      <p:sp>
        <p:nvSpPr>
          <p:cNvPr id="451" name="Google Shape;451;p108"/>
          <p:cNvSpPr/>
          <p:nvPr/>
        </p:nvSpPr>
        <p:spPr>
          <a:xfrm>
            <a:off x="457200" y="420624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3200" u="none" cap="none" strike="noStrike">
                <a:solidFill>
                  <a:srgbClr val="BE1E2D"/>
                </a:solidFill>
                <a:latin typeface="Calibri"/>
                <a:ea typeface="Calibri"/>
                <a:cs typeface="Calibri"/>
                <a:sym typeface="Calibri"/>
              </a:rPr>
              <a:t>5 × 3 × 100</a:t>
            </a:r>
            <a:endParaRPr/>
          </a:p>
          <a:p>
            <a:pPr indent="0" lvl="0" marL="0" marR="0" rtl="0" algn="l">
              <a:lnSpc>
                <a:spcPct val="100000"/>
              </a:lnSpc>
              <a:spcBef>
                <a:spcPts val="200"/>
              </a:spcBef>
              <a:spcAft>
                <a:spcPts val="0"/>
              </a:spcAft>
              <a:buNone/>
            </a:pPr>
            <a:r>
              <a:rPr b="0" i="0" lang="en-US" sz="1400" u="none" cap="none" strike="noStrike">
                <a:solidFill>
                  <a:srgbClr val="1F2937"/>
                </a:solidFill>
                <a:latin typeface="Calibri"/>
                <a:ea typeface="Calibri"/>
                <a:cs typeface="Calibri"/>
                <a:sym typeface="Calibri"/>
              </a:rPr>
              <a:t>repositories × labels × samples per split</a:t>
            </a:r>
            <a:endParaRPr/>
          </a:p>
        </p:txBody>
      </p:sp>
      <p:graphicFrame>
        <p:nvGraphicFramePr>
          <p:cNvPr id="452" name="Google Shape;452;p108"/>
          <p:cNvGraphicFramePr/>
          <p:nvPr/>
        </p:nvGraphicFramePr>
        <p:xfrm>
          <a:off x="4206240" y="1280160"/>
          <a:ext cx="3000000" cy="3000000"/>
        </p:xfrm>
        <a:graphic>
          <a:graphicData uri="http://schemas.openxmlformats.org/drawingml/2006/table">
            <a:tbl>
              <a:tblPr bandRow="1" firstRow="1">
                <a:noFill/>
                <a:tableStyleId>{20C0CC1B-E2D0-43D2-8BB6-4390CF16C671}</a:tableStyleId>
              </a:tblPr>
              <a:tblGrid>
                <a:gridCol w="2194550"/>
                <a:gridCol w="5349250"/>
              </a:tblGrid>
              <a:tr h="658375">
                <a:tc>
                  <a:txBody>
                    <a:bodyPr/>
                    <a:lstStyle/>
                    <a:p>
                      <a:pPr indent="0" lvl="0" marL="0" marR="0" rtl="0" algn="l">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Property</a:t>
                      </a:r>
                      <a:endParaRPr/>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Value</a:t>
                      </a:r>
                      <a:endParaRPr/>
                    </a:p>
                  </a:txBody>
                  <a:tcPr marT="45725" marB="45725" marR="91450" marL="91450" anchor="ctr">
                    <a:solidFill>
                      <a:srgbClr val="0B2E63"/>
                    </a:solidFill>
                  </a:tcPr>
                </a:tc>
              </a:tr>
              <a:tr h="658375">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Train / Test</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1,500 / 1,500 issue</a:t>
                      </a:r>
                      <a:endParaRPr/>
                    </a:p>
                  </a:txBody>
                  <a:tcPr marT="45725" marB="45725" marR="91450" marL="91450" anchor="ctr">
                    <a:solidFill>
                      <a:srgbClr val="EEF2F8"/>
                    </a:solidFill>
                  </a:tcPr>
                </a:tc>
              </a:tr>
              <a:tr h="658375">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Repositories</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bitcoin, react, vscode, opencv, tensorflow</a:t>
                      </a:r>
                      <a:endParaRPr/>
                    </a:p>
                  </a:txBody>
                  <a:tcPr marT="45725" marB="45725" marR="91450" marL="91450" anchor="ctr">
                    <a:solidFill>
                      <a:srgbClr val="FFFFFF"/>
                    </a:solidFill>
                  </a:tcPr>
                </a:tc>
              </a:tr>
              <a:tr h="658375">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Labels</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bug; feature; question</a:t>
                      </a:r>
                      <a:endParaRPr/>
                    </a:p>
                  </a:txBody>
                  <a:tcPr marT="45725" marB="45725" marR="91450" marL="91450" anchor="ctr">
                    <a:solidFill>
                      <a:srgbClr val="EEF2F8"/>
                    </a:solidFill>
                  </a:tcPr>
                </a:tc>
              </a:tr>
              <a:tr h="658375">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Class balance</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100 samples per label, per repository, per split</a:t>
                      </a:r>
                      <a:endParaRPr/>
                    </a:p>
                  </a:txBody>
                  <a:tcPr marT="45725" marB="45725" marR="91450" marL="91450" anchor="ctr">
                    <a:solidFill>
                      <a:srgbClr val="FFFFFF"/>
                    </a:solidFill>
                  </a:tcPr>
                </a:tc>
              </a:tr>
              <a:tr h="658375">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Input</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title and body</a:t>
                      </a:r>
                      <a:endParaRPr/>
                    </a:p>
                  </a:txBody>
                  <a:tcPr marT="45725" marB="45725" marR="91450" marL="91450" anchor="ctr">
                    <a:solidFill>
                      <a:srgbClr val="EEF2F8"/>
                    </a:solidFill>
                  </a:tcPr>
                </a:tc>
              </a:tr>
            </a:tbl>
          </a:graphicData>
        </a:graphic>
      </p:graphicFrame>
      <p:sp>
        <p:nvSpPr>
          <p:cNvPr id="453"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6" name="Shape 456"/>
        <p:cNvGrpSpPr/>
        <p:nvPr/>
      </p:nvGrpSpPr>
      <p:grpSpPr>
        <a:xfrm>
          <a:off x="0" y="0"/>
          <a:ext cx="0" cy="0"/>
          <a:chOff x="0" y="0"/>
          <a:chExt cx="0" cy="0"/>
        </a:xfrm>
      </p:grpSpPr>
      <p:sp>
        <p:nvSpPr>
          <p:cNvPr id="457" name="Google Shape;457;p109"/>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Dataset Challenges</a:t>
            </a:r>
            <a:endParaRPr b="0" i="0" sz="1800" u="none" cap="none" strike="noStrike">
              <a:solidFill>
                <a:srgbClr val="000000"/>
              </a:solidFill>
              <a:latin typeface="Calibri"/>
              <a:ea typeface="Calibri"/>
              <a:cs typeface="Calibri"/>
              <a:sym typeface="Calibri"/>
            </a:endParaRPr>
          </a:p>
        </p:txBody>
      </p:sp>
      <p:sp>
        <p:nvSpPr>
          <p:cNvPr id="458" name="Google Shape;458;p109"/>
          <p:cNvSpPr/>
          <p:nvPr/>
        </p:nvSpPr>
        <p:spPr>
          <a:xfrm>
            <a:off x="45720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1900" u="none" cap="none" strike="noStrike">
                <a:solidFill>
                  <a:srgbClr val="0B2E63"/>
                </a:solidFill>
                <a:latin typeface="Calibri"/>
                <a:ea typeface="Calibri"/>
                <a:cs typeface="Calibri"/>
                <a:sym typeface="Calibri"/>
              </a:rPr>
              <a:t>Repository-specific language</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Different templates and terminology</a:t>
            </a:r>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Hard to transfer to unseen repositories</a:t>
            </a:r>
            <a:endParaRPr/>
          </a:p>
        </p:txBody>
      </p:sp>
      <p:sp>
        <p:nvSpPr>
          <p:cNvPr id="459" name="Google Shape;459;p109"/>
          <p:cNvSpPr/>
          <p:nvPr/>
        </p:nvSpPr>
        <p:spPr>
          <a:xfrm>
            <a:off x="429768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1900" u="none" cap="none" strike="noStrike">
                <a:solidFill>
                  <a:srgbClr val="0B2E63"/>
                </a:solidFill>
                <a:latin typeface="Calibri"/>
                <a:ea typeface="Calibri"/>
                <a:cs typeface="Calibri"/>
                <a:sym typeface="Calibri"/>
              </a:rPr>
              <a:t>Duplicate leakage</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3 shared normalized keys between train and test</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1 pair has conflicting labels</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CV keeps identical texts in the same fold</a:t>
            </a:r>
            <a:endParaRPr/>
          </a:p>
        </p:txBody>
      </p:sp>
      <p:sp>
        <p:nvSpPr>
          <p:cNvPr id="460" name="Google Shape;460;p109"/>
          <p:cNvSpPr/>
          <p:nvPr/>
        </p:nvSpPr>
        <p:spPr>
          <a:xfrm>
            <a:off x="813816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1900" u="none" cap="none" strike="noStrike">
                <a:solidFill>
                  <a:srgbClr val="0B2E63"/>
                </a:solidFill>
                <a:latin typeface="Calibri"/>
                <a:ea typeface="Calibri"/>
                <a:cs typeface="Calibri"/>
                <a:sym typeface="Calibri"/>
              </a:rPr>
              <a:t>Technical content</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Code, paths, and version strings are retained</a:t>
            </a:r>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Because they may carry predictive signals</a:t>
            </a:r>
            <a:endParaRPr/>
          </a:p>
        </p:txBody>
      </p:sp>
      <p:sp>
        <p:nvSpPr>
          <p:cNvPr id="461" name="Google Shape;461;p109"/>
          <p:cNvSpPr/>
          <p:nvPr/>
        </p:nvSpPr>
        <p:spPr>
          <a:xfrm>
            <a:off x="45720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1900" u="none" cap="none" strike="noStrike">
                <a:solidFill>
                  <a:srgbClr val="0B2E63"/>
                </a:solidFill>
                <a:latin typeface="Calibri"/>
                <a:ea typeface="Calibri"/>
                <a:cs typeface="Calibri"/>
                <a:sym typeface="Calibri"/>
              </a:rPr>
              <a:t>Label overlap</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Questions can resemble both bugs and features</a:t>
            </a:r>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Feature requests may be phrased as questions</a:t>
            </a:r>
            <a:endParaRPr/>
          </a:p>
        </p:txBody>
      </p:sp>
      <p:sp>
        <p:nvSpPr>
          <p:cNvPr id="462" name="Google Shape;462;p109"/>
          <p:cNvSpPr/>
          <p:nvPr/>
        </p:nvSpPr>
        <p:spPr>
          <a:xfrm>
            <a:off x="429768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1900" u="none" cap="none" strike="noStrike">
                <a:solidFill>
                  <a:srgbClr val="0B2E63"/>
                </a:solidFill>
                <a:latin typeface="Calibri"/>
                <a:ea typeface="Calibri"/>
                <a:cs typeface="Calibri"/>
                <a:sym typeface="Calibri"/>
              </a:rPr>
              <a:t>Highly skewed text length</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median: 150 words; P95: 536 words</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maximum: 21,595 words → truncation is required</a:t>
            </a:r>
            <a:endParaRPr/>
          </a:p>
        </p:txBody>
      </p:sp>
      <p:sp>
        <p:nvSpPr>
          <p:cNvPr id="463" name="Google Shape;463;p109"/>
          <p:cNvSpPr/>
          <p:nvPr/>
        </p:nvSpPr>
        <p:spPr>
          <a:xfrm>
            <a:off x="813816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1900" u="none" cap="none" strike="noStrike">
                <a:solidFill>
                  <a:srgbClr val="0B2E63"/>
                </a:solidFill>
                <a:latin typeface="Calibri"/>
                <a:ea typeface="Calibri"/>
                <a:cs typeface="Calibri"/>
                <a:sym typeface="Calibri"/>
              </a:rPr>
              <a:t>Missing data</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2 test bodies are missing → replaced with empty strings</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has no missing bodies</a:t>
            </a:r>
            <a:endParaRPr/>
          </a:p>
        </p:txBody>
      </p:sp>
      <p:sp>
        <p:nvSpPr>
          <p:cNvPr id="464"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120"/>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940" name="Section I."/>
          <p:cNvSpPr/>
          <p:nvPr/>
        </p:nvSpPr>
        <p:spPr>
          <a:xfrm>
            <a:off x="4553712" y="118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Problem and project objectives</a:t>
            </a:r>
          </a:p>
        </p:txBody>
      </p:sp>
      <p:sp>
        <p:nvSpPr>
          <p:cNvPr id="941" name="Section II."/>
          <p:cNvSpPr/>
          <p:nvPr/>
        </p:nvSpPr>
        <p:spPr>
          <a:xfrm>
            <a:off x="4553712" y="216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NLBSE'24 data and its challenges</a:t>
            </a:r>
          </a:p>
        </p:txBody>
      </p:sp>
      <p:sp>
        <p:nvSpPr>
          <p:cNvPr id="942" name="Section III."/>
          <p:cNvSpPr/>
          <p:nvPr/>
        </p:nvSpPr>
        <p:spPr>
          <a:xfrm>
            <a:off x="4553712" y="3148720"/>
            <a:ext cx="7223760" cy="860000"/>
          </a:xfrm>
          <a:prstGeom prst="roundRect">
            <a:avLst>
              <a:gd name="adj" fmla="val 12000"/>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BE1E2D"/>
                </a:solidFill>
                <a:latin typeface="Calibri"/>
                <a:ea typeface="Calibri"/>
                <a:cs typeface="Calibri"/>
                <a:sym typeface="Calibri"/>
              </a:rPr>
              <a:t>III.  </a:t>
            </a:r>
            <a:r>
              <a:rPr b="1" i="0" lang="en-US" sz="2200" u="none" cap="none" strike="noStrike">
                <a:solidFill>
                  <a:srgbClr val="0B2E63"/>
                </a:solidFill>
                <a:latin typeface="Calibri"/>
                <a:ea typeface="Calibri"/>
                <a:cs typeface="Calibri"/>
                <a:sym typeface="Calibri"/>
              </a:rPr>
              <a:t>Methodology</a:t>
            </a:r>
          </a:p>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Model families, background, evaluation protocols, pipeline</a:t>
            </a:r>
          </a:p>
        </p:txBody>
      </p:sp>
      <p:sp>
        <p:nvSpPr>
          <p:cNvPr id="943" name="Section IV."/>
          <p:cNvSpPr/>
          <p:nvPr/>
        </p:nvSpPr>
        <p:spPr>
          <a:xfrm>
            <a:off x="4553712" y="412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Baseline, lightweight models, RoBERTa, SetFit, comparison</a:t>
            </a:r>
          </a:p>
        </p:txBody>
      </p:sp>
      <p:sp>
        <p:nvSpPr>
          <p:cNvPr id="944" name="Section V."/>
          <p:cNvSpPr/>
          <p:nvPr/>
        </p:nvSpPr>
        <p:spPr>
          <a:xfrm>
            <a:off x="4553712" y="510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Key findings, limitations, future work</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110"/>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Three Model Families</a:t>
            </a:r>
            <a:endParaRPr b="0" i="0" sz="1800" u="none" cap="none" strike="noStrike">
              <a:solidFill>
                <a:srgbClr val="000000"/>
              </a:solidFill>
              <a:latin typeface="Calibri"/>
              <a:ea typeface="Calibri"/>
              <a:cs typeface="Calibri"/>
              <a:sym typeface="Calibri"/>
            </a:endParaRPr>
          </a:p>
        </p:txBody>
      </p:sp>
      <p:sp>
        <p:nvSpPr>
          <p:cNvPr id="469" name="Google Shape;469;p110"/>
          <p:cNvSpPr/>
          <p:nvPr/>
        </p:nvSpPr>
        <p:spPr>
          <a:xfrm>
            <a:off x="45720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2200" u="none" cap="none" strike="noStrike">
                <a:solidFill>
                  <a:srgbClr val="0B2E63"/>
                </a:solidFill>
                <a:latin typeface="Calibri"/>
                <a:ea typeface="Calibri"/>
                <a:cs typeface="Calibri"/>
                <a:sym typeface="Calibri"/>
              </a:rPr>
              <a:t>Sparse / Lightweight</a:t>
            </a:r>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TF-IDF + Logistic Regression (baseline)</a:t>
            </a:r>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LinearSVC: word, word + char</a:t>
            </a:r>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Complement NB, Hashed SGD</a:t>
            </a:r>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fastText</a:t>
            </a:r>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Evaluated under CV, LOO, and Official Test</a:t>
            </a:r>
            <a:endParaRPr/>
          </a:p>
        </p:txBody>
      </p:sp>
      <p:sp>
        <p:nvSpPr>
          <p:cNvPr id="470" name="Google Shape;470;p110"/>
          <p:cNvSpPr/>
          <p:nvPr/>
        </p:nvSpPr>
        <p:spPr>
          <a:xfrm>
            <a:off x="429768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2200" u="none" cap="none" strike="noStrike">
                <a:solidFill>
                  <a:srgbClr val="0B2E63"/>
                </a:solidFill>
                <a:latin typeface="Calibri"/>
                <a:ea typeface="Calibri"/>
                <a:cs typeface="Calibri"/>
                <a:sym typeface="Calibri"/>
              </a:rPr>
              <a:t>RoBERTa</a:t>
            </a:r>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RoBERTa-base, max 160 tokens</a:t>
            </a:r>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Full fine-tuning</a:t>
            </a:r>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LoRA: low-rank adapters (r = 48)</a:t>
            </a:r>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Repo-specific CV and pooled CV</a:t>
            </a:r>
            <a:endParaRPr/>
          </a:p>
        </p:txBody>
      </p:sp>
      <p:sp>
        <p:nvSpPr>
          <p:cNvPr id="471" name="Google Shape;471;p110"/>
          <p:cNvSpPr/>
          <p:nvPr/>
        </p:nvSpPr>
        <p:spPr>
          <a:xfrm>
            <a:off x="813816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2200" u="none" cap="none" strike="noStrike">
                <a:solidFill>
                  <a:srgbClr val="0B2E63"/>
                </a:solidFill>
                <a:latin typeface="Calibri"/>
                <a:ea typeface="Calibri"/>
                <a:cs typeface="Calibri"/>
                <a:sym typeface="Calibri"/>
              </a:rPr>
              <a:t>SetFit</a:t>
            </a:r>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Sentence encoder: MPNet, MiniLM</a:t>
            </a:r>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Few-shot k = 8 / 16 / 32</a:t>
            </a:r>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Contrastive iterations: 5–80</a:t>
            </a:r>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Data-size and iteration ablations</a:t>
            </a:r>
            <a:endParaRPr/>
          </a:p>
        </p:txBody>
      </p:sp>
      <p:sp>
        <p:nvSpPr>
          <p:cNvPr id="472" name="Google Shape;472;p110"/>
          <p:cNvSpPr/>
          <p:nvPr/>
        </p:nvSpPr>
        <p:spPr>
          <a:xfrm>
            <a:off x="457200" y="4720000"/>
            <a:ext cx="11292840" cy="64008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900" u="none" cap="none" strike="noStrike">
                <a:solidFill>
                  <a:srgbClr val="FFFFFF"/>
                </a:solidFill>
                <a:latin typeface="Calibri"/>
                <a:ea typeface="Calibri"/>
                <a:cs typeface="Calibri"/>
                <a:sym typeface="Calibri"/>
              </a:rPr>
              <a:t>The same data and evaluation pipeline is used for all model families</a:t>
            </a:r>
            <a:endParaRPr/>
          </a:p>
        </p:txBody>
      </p:sp>
      <p:sp>
        <p:nvSpPr>
          <p:cNvPr id="473"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111"/>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Background: Transformer and RoBERTa</a:t>
            </a:r>
            <a:endParaRPr b="0" i="0" sz="1800" u="none" cap="none" strike="noStrike">
              <a:solidFill>
                <a:srgbClr val="000000"/>
              </a:solidFill>
              <a:latin typeface="Calibri"/>
              <a:ea typeface="Calibri"/>
              <a:cs typeface="Calibri"/>
              <a:sym typeface="Calibri"/>
            </a:endParaRPr>
          </a:p>
        </p:txBody>
      </p:sp>
      <p:pic>
        <p:nvPicPr>
          <p:cNvPr descr="transformer.png" id="478" name="Google Shape;478;p111"/>
          <p:cNvPicPr preferRelativeResize="0"/>
          <p:nvPr/>
        </p:nvPicPr>
        <p:blipFill rotWithShape="1">
          <a:blip r:embed="rId3">
            <a:alphaModFix/>
          </a:blip>
          <a:srcRect b="0" l="0" r="0" t="0"/>
          <a:stretch/>
        </p:blipFill>
        <p:spPr>
          <a:xfrm>
            <a:off x="457200" y="1371600"/>
            <a:ext cx="5120640" cy="4039340"/>
          </a:xfrm>
          <a:prstGeom prst="rect">
            <a:avLst/>
          </a:prstGeom>
          <a:noFill/>
          <a:ln>
            <a:noFill/>
          </a:ln>
        </p:spPr>
      </p:pic>
      <p:sp>
        <p:nvSpPr>
          <p:cNvPr id="479" name="Google Shape;479;p111"/>
          <p:cNvSpPr txBox="1"/>
          <p:nvPr/>
        </p:nvSpPr>
        <p:spPr>
          <a:xfrm>
            <a:off x="457200" y="5440680"/>
            <a:ext cx="5120640" cy="36576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1" lang="en-US" sz="1100" u="none" cap="none" strike="noStrike">
                <a:solidFill>
                  <a:srgbClr val="5B6472"/>
                </a:solidFill>
                <a:latin typeface="Calibri"/>
                <a:ea typeface="Calibri"/>
                <a:cs typeface="Calibri"/>
                <a:sym typeface="Calibri"/>
              </a:rPr>
              <a:t>Fig. 2.1. Transformer architecture (Vaswani et al.)</a:t>
            </a:r>
            <a:endParaRPr/>
          </a:p>
        </p:txBody>
      </p:sp>
      <p:sp>
        <p:nvSpPr>
          <p:cNvPr id="480" name="Google Shape;480;p111"/>
          <p:cNvSpPr txBox="1"/>
          <p:nvPr/>
        </p:nvSpPr>
        <p:spPr>
          <a:xfrm>
            <a:off x="5943600" y="1234440"/>
            <a:ext cx="5852160" cy="4572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B2E63"/>
                </a:solidFill>
                <a:latin typeface="Calibri"/>
                <a:ea typeface="Calibri"/>
                <a:cs typeface="Calibri"/>
                <a:sym typeface="Calibri"/>
              </a:rPr>
              <a:t>Transformer encoder</a:t>
            </a:r>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Self-attention and multi-head attention</a:t>
            </a:r>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Positional information for token order</a:t>
            </a:r>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Feed-forward + residual + normalization</a:t>
            </a:r>
            <a:endParaRPr/>
          </a:p>
          <a:p>
            <a:pPr indent="0" lvl="0" marL="0" marR="0" rtl="0" algn="l">
              <a:lnSpc>
                <a:spcPct val="100000"/>
              </a:lnSpc>
              <a:spcBef>
                <a:spcPts val="1400"/>
              </a:spcBef>
              <a:spcAft>
                <a:spcPts val="0"/>
              </a:spcAft>
              <a:buNone/>
            </a:pPr>
            <a:r>
              <a:rPr b="1" i="0" lang="en-US" sz="2000" u="none" cap="none" strike="noStrike">
                <a:solidFill>
                  <a:srgbClr val="0B2E63"/>
                </a:solidFill>
                <a:latin typeface="Calibri"/>
                <a:ea typeface="Calibri"/>
                <a:cs typeface="Calibri"/>
                <a:sym typeface="Calibri"/>
              </a:rPr>
              <a:t>RoBERTa</a:t>
            </a:r>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Optimized BERT pretraining: removes Next Sentence Prediction</a:t>
            </a:r>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Dynamic masking and more pretraining data</a:t>
            </a:r>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Add a classification head and fine-tune on issue data</a:t>
            </a:r>
            <a:endParaRPr/>
          </a:p>
        </p:txBody>
      </p:sp>
      <p:sp>
        <p:nvSpPr>
          <p:cNvPr id="481"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sp>
        <p:nvSpPr>
          <p:cNvPr id="485" name="Google Shape;485;p112"/>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LoRA and SetFit</a:t>
            </a:r>
            <a:endParaRPr b="0" i="0" sz="1800" u="none" cap="none" strike="noStrike">
              <a:solidFill>
                <a:srgbClr val="000000"/>
              </a:solidFill>
              <a:latin typeface="Calibri"/>
              <a:ea typeface="Calibri"/>
              <a:cs typeface="Calibri"/>
              <a:sym typeface="Calibri"/>
            </a:endParaRPr>
          </a:p>
        </p:txBody>
      </p:sp>
      <p:sp>
        <p:nvSpPr>
          <p:cNvPr id="486" name="Google Shape;486;p112"/>
          <p:cNvSpPr txBox="1"/>
          <p:nvPr/>
        </p:nvSpPr>
        <p:spPr>
          <a:xfrm>
            <a:off x="457200" y="1188720"/>
            <a:ext cx="5486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B2E63"/>
                </a:solidFill>
                <a:latin typeface="Calibri"/>
                <a:ea typeface="Calibri"/>
                <a:cs typeface="Calibri"/>
                <a:sym typeface="Calibri"/>
              </a:rPr>
              <a:t>LoRA: learn only low-rank updates</a:t>
            </a:r>
            <a:endParaRPr/>
          </a:p>
        </p:txBody>
      </p:sp>
      <p:sp>
        <p:nvSpPr>
          <p:cNvPr id="487" name="Google Shape;487;p112"/>
          <p:cNvSpPr/>
          <p:nvPr/>
        </p:nvSpPr>
        <p:spPr>
          <a:xfrm>
            <a:off x="457200" y="2290000"/>
            <a:ext cx="900000" cy="8000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2200" u="none" cap="none" strike="noStrike">
                <a:solidFill>
                  <a:srgbClr val="1F2937"/>
                </a:solidFill>
                <a:latin typeface="Calibri"/>
                <a:ea typeface="Calibri"/>
                <a:cs typeface="Calibri"/>
                <a:sym typeface="Calibri"/>
              </a:rPr>
              <a:t>x</a:t>
            </a:r>
            <a:endParaRPr/>
          </a:p>
        </p:txBody>
      </p:sp>
      <p:sp>
        <p:nvSpPr>
          <p:cNvPr id="488" name="Google Shape;488;p112"/>
          <p:cNvSpPr/>
          <p:nvPr/>
        </p:nvSpPr>
        <p:spPr>
          <a:xfrm>
            <a:off x="1950000" y="1760000"/>
            <a:ext cx="2000000" cy="760000"/>
          </a:xfrm>
          <a:prstGeom prst="roundRect">
            <a:avLst>
              <a:gd fmla="val 6000" name="adj"/>
            </a:avLst>
          </a:prstGeom>
          <a:solidFill>
            <a:srgbClr val="D5D9E0"/>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600" u="none" cap="none" strike="noStrike">
                <a:solidFill>
                  <a:srgbClr val="1F2937"/>
                </a:solidFill>
                <a:latin typeface="Calibri"/>
                <a:ea typeface="Calibri"/>
                <a:cs typeface="Calibri"/>
                <a:sym typeface="Calibri"/>
              </a:rPr>
              <a:t>W₀ (frozen)</a:t>
            </a:r>
            <a:endParaRPr/>
          </a:p>
        </p:txBody>
      </p:sp>
      <p:sp>
        <p:nvSpPr>
          <p:cNvPr id="489" name="Google Shape;489;p112"/>
          <p:cNvSpPr/>
          <p:nvPr/>
        </p:nvSpPr>
        <p:spPr>
          <a:xfrm>
            <a:off x="1950000" y="2860000"/>
            <a:ext cx="2000000" cy="760000"/>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600" u="none" cap="none" strike="noStrike">
                <a:solidFill>
                  <a:srgbClr val="FFFFFF"/>
                </a:solidFill>
                <a:latin typeface="Calibri"/>
                <a:ea typeface="Calibri"/>
                <a:cs typeface="Calibri"/>
                <a:sym typeface="Calibri"/>
              </a:rPr>
              <a:t>B · A (trainable)</a:t>
            </a:r>
            <a:endParaRPr/>
          </a:p>
        </p:txBody>
      </p:sp>
      <p:sp>
        <p:nvSpPr>
          <p:cNvPr id="490" name="Google Shape;490;p112"/>
          <p:cNvSpPr txBox="1"/>
          <p:nvPr/>
        </p:nvSpPr>
        <p:spPr>
          <a:xfrm>
            <a:off x="4250000" y="2420000"/>
            <a:ext cx="500000" cy="560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2800" u="none" cap="none" strike="noStrike">
                <a:solidFill>
                  <a:srgbClr val="BE1E2D"/>
                </a:solidFill>
                <a:latin typeface="Calibri"/>
                <a:ea typeface="Calibri"/>
                <a:cs typeface="Calibri"/>
                <a:sym typeface="Calibri"/>
              </a:rPr>
              <a:t>+</a:t>
            </a:r>
            <a:endParaRPr/>
          </a:p>
        </p:txBody>
      </p:sp>
      <p:sp>
        <p:nvSpPr>
          <p:cNvPr id="491" name="Google Shape;491;p112"/>
          <p:cNvSpPr/>
          <p:nvPr/>
        </p:nvSpPr>
        <p:spPr>
          <a:xfrm>
            <a:off x="5000000" y="2290000"/>
            <a:ext cx="90000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2200" u="none" cap="none" strike="noStrike">
                <a:solidFill>
                  <a:srgbClr val="FFFFFF"/>
                </a:solidFill>
                <a:latin typeface="Calibri"/>
                <a:ea typeface="Calibri"/>
                <a:cs typeface="Calibri"/>
                <a:sym typeface="Calibri"/>
              </a:rPr>
              <a:t>h</a:t>
            </a:r>
            <a:endParaRPr/>
          </a:p>
        </p:txBody>
      </p:sp>
      <p:sp>
        <p:nvSpPr>
          <p:cNvPr id="492" name="Google Shape;492;p112"/>
          <p:cNvSpPr txBox="1"/>
          <p:nvPr/>
        </p:nvSpPr>
        <p:spPr>
          <a:xfrm>
            <a:off x="457200" y="3840480"/>
            <a:ext cx="5669280" cy="164592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h = W₀x + BAx, with rank r ≪ matrix dimension</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Configuration: rank 48, alpha 96, dropout 0.1</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Reduces trainable parameters and memory usage</a:t>
            </a:r>
            <a:endParaRPr/>
          </a:p>
        </p:txBody>
      </p:sp>
      <p:sp>
        <p:nvSpPr>
          <p:cNvPr id="493" name="Google Shape;493;p112"/>
          <p:cNvSpPr txBox="1"/>
          <p:nvPr/>
        </p:nvSpPr>
        <p:spPr>
          <a:xfrm>
            <a:off x="6492240" y="1188720"/>
            <a:ext cx="530352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B2E63"/>
                </a:solidFill>
                <a:latin typeface="Calibri"/>
                <a:ea typeface="Calibri"/>
                <a:cs typeface="Calibri"/>
                <a:sym typeface="Calibri"/>
              </a:rPr>
              <a:t>SetFit: two stages</a:t>
            </a:r>
            <a:endParaRPr/>
          </a:p>
        </p:txBody>
      </p:sp>
      <p:sp>
        <p:nvSpPr>
          <p:cNvPr id="494" name="Google Shape;494;p112"/>
          <p:cNvSpPr/>
          <p:nvPr/>
        </p:nvSpPr>
        <p:spPr>
          <a:xfrm>
            <a:off x="6492240" y="1828800"/>
            <a:ext cx="5303520" cy="8000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600" u="none" cap="none" strike="noStrike">
                <a:solidFill>
                  <a:srgbClr val="1F2937"/>
                </a:solidFill>
                <a:latin typeface="Calibri"/>
                <a:ea typeface="Calibri"/>
                <a:cs typeface="Calibri"/>
                <a:sym typeface="Calibri"/>
              </a:rPr>
              <a:t>Labeled issues</a:t>
            </a:r>
            <a:endParaRPr/>
          </a:p>
        </p:txBody>
      </p:sp>
      <p:sp>
        <p:nvSpPr>
          <p:cNvPr id="495" name="Google Shape;495;p112"/>
          <p:cNvSpPr txBox="1"/>
          <p:nvPr/>
        </p:nvSpPr>
        <p:spPr>
          <a:xfrm>
            <a:off x="8778240" y="262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800" u="none" cap="none" strike="noStrike">
                <a:solidFill>
                  <a:srgbClr val="BE1E2D"/>
                </a:solidFill>
                <a:latin typeface="Calibri"/>
                <a:ea typeface="Calibri"/>
                <a:cs typeface="Calibri"/>
                <a:sym typeface="Calibri"/>
              </a:rPr>
              <a:t>↓</a:t>
            </a:r>
            <a:endParaRPr/>
          </a:p>
        </p:txBody>
      </p:sp>
      <p:sp>
        <p:nvSpPr>
          <p:cNvPr id="496" name="Google Shape;496;p112"/>
          <p:cNvSpPr/>
          <p:nvPr/>
        </p:nvSpPr>
        <p:spPr>
          <a:xfrm>
            <a:off x="6492240" y="2998800"/>
            <a:ext cx="530352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600" u="none" cap="none" strike="noStrike">
                <a:solidFill>
                  <a:srgbClr val="FFFFFF"/>
                </a:solidFill>
                <a:latin typeface="Calibri"/>
                <a:ea typeface="Calibri"/>
                <a:cs typeface="Calibri"/>
                <a:sym typeface="Calibri"/>
              </a:rPr>
              <a:t>1. Contrastive fine-tune sentence encoder</a:t>
            </a:r>
            <a:endParaRPr/>
          </a:p>
        </p:txBody>
      </p:sp>
      <p:sp>
        <p:nvSpPr>
          <p:cNvPr id="497" name="Google Shape;497;p112"/>
          <p:cNvSpPr txBox="1"/>
          <p:nvPr/>
        </p:nvSpPr>
        <p:spPr>
          <a:xfrm>
            <a:off x="8778240" y="379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800" u="none" cap="none" strike="noStrike">
                <a:solidFill>
                  <a:srgbClr val="BE1E2D"/>
                </a:solidFill>
                <a:latin typeface="Calibri"/>
                <a:ea typeface="Calibri"/>
                <a:cs typeface="Calibri"/>
                <a:sym typeface="Calibri"/>
              </a:rPr>
              <a:t>↓</a:t>
            </a:r>
            <a:endParaRPr/>
          </a:p>
        </p:txBody>
      </p:sp>
      <p:sp>
        <p:nvSpPr>
          <p:cNvPr id="498" name="Google Shape;498;p112"/>
          <p:cNvSpPr/>
          <p:nvPr/>
        </p:nvSpPr>
        <p:spPr>
          <a:xfrm>
            <a:off x="6492240" y="4168800"/>
            <a:ext cx="530352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600" u="none" cap="none" strike="noStrike">
                <a:solidFill>
                  <a:srgbClr val="FFFFFF"/>
                </a:solidFill>
                <a:latin typeface="Calibri"/>
                <a:ea typeface="Calibri"/>
                <a:cs typeface="Calibri"/>
                <a:sym typeface="Calibri"/>
              </a:rPr>
              <a:t>2. Embedding → classification head</a:t>
            </a:r>
            <a:endParaRPr/>
          </a:p>
        </p:txBody>
      </p:sp>
      <p:sp>
        <p:nvSpPr>
          <p:cNvPr id="499" name="Google Shape;499;p112"/>
          <p:cNvSpPr txBox="1"/>
          <p:nvPr/>
        </p:nvSpPr>
        <p:spPr>
          <a:xfrm>
            <a:off x="8778240" y="496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800" u="none" cap="none" strike="noStrike">
                <a:solidFill>
                  <a:srgbClr val="BE1E2D"/>
                </a:solidFill>
                <a:latin typeface="Calibri"/>
                <a:ea typeface="Calibri"/>
                <a:cs typeface="Calibri"/>
                <a:sym typeface="Calibri"/>
              </a:rPr>
              <a:t>↓</a:t>
            </a:r>
            <a:endParaRPr/>
          </a:p>
        </p:txBody>
      </p:sp>
      <p:sp>
        <p:nvSpPr>
          <p:cNvPr id="500" name="Google Shape;500;p112"/>
          <p:cNvSpPr/>
          <p:nvPr/>
        </p:nvSpPr>
        <p:spPr>
          <a:xfrm>
            <a:off x="6492240" y="5338800"/>
            <a:ext cx="5303520" cy="800000"/>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1600" u="none" cap="none" strike="noStrike">
                <a:solidFill>
                  <a:srgbClr val="FFFFFF"/>
                </a:solidFill>
                <a:latin typeface="Calibri"/>
                <a:ea typeface="Calibri"/>
                <a:cs typeface="Calibri"/>
                <a:sym typeface="Calibri"/>
              </a:rPr>
              <a:t>bug / feature / question</a:t>
            </a:r>
            <a:endParaRPr/>
          </a:p>
        </p:txBody>
      </p:sp>
      <p:cxnSp>
        <p:nvCxnSpPr>
          <p:cNvPr id="501" name="Connector 500"/>
          <p:cNvCxnSpPr/>
          <p:nvPr/>
        </p:nvCxnSpPr>
        <p:spPr>
          <a:xfrm flipV="1">
            <a:off x="1357200" y="2140000"/>
            <a:ext cx="592800" cy="550000"/>
          </a:xfrm>
          <a:prstGeom prst="bentConnector3">
            <a:avLst/>
          </a:prstGeom>
          <a:ln w="25400">
            <a:solidFill>
              <a:srgbClr val="BE1E2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2" name="Connector 501"/>
          <p:cNvCxnSpPr/>
          <p:nvPr/>
        </p:nvCxnSpPr>
        <p:spPr>
          <a:xfrm>
            <a:off x="1357200" y="2690000"/>
            <a:ext cx="592800" cy="550000"/>
          </a:xfrm>
          <a:prstGeom prst="bentConnector3">
            <a:avLst/>
          </a:prstGeom>
          <a:ln w="25400">
            <a:solidFill>
              <a:srgbClr val="BE1E2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3" name="Connector 502"/>
          <p:cNvCxnSpPr/>
          <p:nvPr/>
        </p:nvCxnSpPr>
        <p:spPr>
          <a:xfrm>
            <a:off x="3950000" y="2140000"/>
            <a:ext cx="550000" cy="340000"/>
          </a:xfrm>
          <a:prstGeom prst="bentConnector3">
            <a:avLst/>
          </a:prstGeom>
          <a:ln w="25400">
            <a:solidFill>
              <a:srgbClr val="BE1E2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4" name="Connector 503"/>
          <p:cNvCxnSpPr/>
          <p:nvPr/>
        </p:nvCxnSpPr>
        <p:spPr>
          <a:xfrm flipV="1">
            <a:off x="3950000" y="2900000"/>
            <a:ext cx="550000" cy="340000"/>
          </a:xfrm>
          <a:prstGeom prst="bentConnector3">
            <a:avLst/>
          </a:prstGeom>
          <a:ln w="25400">
            <a:solidFill>
              <a:srgbClr val="BE1E2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5" name="Connector 504"/>
          <p:cNvCxnSpPr/>
          <p:nvPr/>
        </p:nvCxnSpPr>
        <p:spPr>
          <a:xfrm>
            <a:off x="4750000" y="2690000"/>
            <a:ext cx="250000" cy="0"/>
          </a:xfrm>
          <a:prstGeom prst="line">
            <a:avLst/>
          </a:prstGeom>
          <a:ln w="25400">
            <a:solidFill>
              <a:srgbClr val="BE1E2D"/>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6"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113"/>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Four Evaluation Protocols</a:t>
            </a:r>
            <a:endParaRPr b="0" i="0" sz="1800" u="none" cap="none" strike="noStrike">
              <a:solidFill>
                <a:srgbClr val="000000"/>
              </a:solidFill>
              <a:latin typeface="Calibri"/>
              <a:ea typeface="Calibri"/>
              <a:cs typeface="Calibri"/>
              <a:sym typeface="Calibri"/>
            </a:endParaRPr>
          </a:p>
        </p:txBody>
      </p:sp>
      <p:sp>
        <p:nvSpPr>
          <p:cNvPr id="507" name="Google Shape;507;p113"/>
          <p:cNvSpPr/>
          <p:nvPr/>
        </p:nvSpPr>
        <p:spPr>
          <a:xfrm>
            <a:off x="457200"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1800" u="none" cap="none" strike="noStrike">
                <a:solidFill>
                  <a:srgbClr val="0B2E63"/>
                </a:solidFill>
                <a:latin typeface="Calibri"/>
                <a:ea typeface="Calibri"/>
                <a:cs typeface="Calibri"/>
                <a:sym typeface="Calibri"/>
              </a:rPr>
              <a:t>Repo-specific CV</a:t>
            </a:r>
            <a:endParaRPr/>
          </a:p>
          <a:p>
            <a:pPr indent="0" lvl="0" marL="0" marR="0" rtl="0" algn="l">
              <a:lnSpc>
                <a:spcPct val="100000"/>
              </a:lnSpc>
              <a:spcBef>
                <a:spcPts val="300"/>
              </a:spcBef>
              <a:spcAft>
                <a:spcPts val="0"/>
              </a:spcAft>
              <a:buNone/>
            </a:pPr>
            <a:r>
              <a:rPr b="0" i="0" lang="en-US" sz="1400" u="none" cap="none" strike="noStrike">
                <a:solidFill>
                  <a:srgbClr val="1F2937"/>
                </a:solidFill>
                <a:latin typeface="Calibri"/>
                <a:ea typeface="Calibri"/>
                <a:cs typeface="Calibri"/>
                <a:sym typeface="Calibri"/>
              </a:rPr>
              <a:t>5 folds per repository; duplicates stay in the same fold</a:t>
            </a:r>
            <a:endParaRPr/>
          </a:p>
        </p:txBody>
      </p:sp>
      <p:sp>
        <p:nvSpPr>
          <p:cNvPr id="508" name="Google Shape;508;p113"/>
          <p:cNvSpPr/>
          <p:nvPr/>
        </p:nvSpPr>
        <p:spPr>
          <a:xfrm>
            <a:off x="3310128"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1800" u="none" cap="none" strike="noStrike">
                <a:solidFill>
                  <a:srgbClr val="0B2E63"/>
                </a:solidFill>
                <a:latin typeface="Calibri"/>
                <a:ea typeface="Calibri"/>
                <a:cs typeface="Calibri"/>
                <a:sym typeface="Calibri"/>
              </a:rPr>
              <a:t>Pooled CV</a:t>
            </a:r>
            <a:endParaRPr/>
          </a:p>
          <a:p>
            <a:pPr indent="0" lvl="0" marL="0" marR="0" rtl="0" algn="l">
              <a:lnSpc>
                <a:spcPct val="100000"/>
              </a:lnSpc>
              <a:spcBef>
                <a:spcPts val="300"/>
              </a:spcBef>
              <a:spcAft>
                <a:spcPts val="0"/>
              </a:spcAft>
              <a:buNone/>
            </a:pPr>
            <a:r>
              <a:rPr b="0" i="0" lang="en-US" sz="1400" u="none" cap="none" strike="noStrike">
                <a:solidFill>
                  <a:srgbClr val="1F2937"/>
                </a:solidFill>
                <a:latin typeface="Calibri"/>
                <a:ea typeface="Calibri"/>
                <a:cs typeface="Calibri"/>
                <a:sym typeface="Calibri"/>
              </a:rPr>
              <a:t>Train on the pooled training folds of all 5 repositories; held-out folds are used only for evaluation</a:t>
            </a:r>
            <a:endParaRPr/>
          </a:p>
        </p:txBody>
      </p:sp>
      <p:sp>
        <p:nvSpPr>
          <p:cNvPr id="509" name="Google Shape;509;p113"/>
          <p:cNvSpPr/>
          <p:nvPr/>
        </p:nvSpPr>
        <p:spPr>
          <a:xfrm>
            <a:off x="6163056"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1800" u="none" cap="none" strike="noStrike">
                <a:solidFill>
                  <a:srgbClr val="0B2E63"/>
                </a:solidFill>
                <a:latin typeface="Calibri"/>
                <a:ea typeface="Calibri"/>
                <a:cs typeface="Calibri"/>
                <a:sym typeface="Calibri"/>
              </a:rPr>
              <a:t>LOO</a:t>
            </a:r>
            <a:endParaRPr/>
          </a:p>
          <a:p>
            <a:pPr indent="0" lvl="0" marL="0" marR="0" rtl="0" algn="l">
              <a:lnSpc>
                <a:spcPct val="100000"/>
              </a:lnSpc>
              <a:spcBef>
                <a:spcPts val="300"/>
              </a:spcBef>
              <a:spcAft>
                <a:spcPts val="0"/>
              </a:spcAft>
              <a:buNone/>
            </a:pPr>
            <a:r>
              <a:rPr b="0" i="0" lang="en-US" sz="1400" u="none" cap="none" strike="noStrike">
                <a:solidFill>
                  <a:srgbClr val="1F2937"/>
                </a:solidFill>
                <a:latin typeface="Calibri"/>
                <a:ea typeface="Calibri"/>
                <a:cs typeface="Calibri"/>
                <a:sym typeface="Calibri"/>
              </a:rPr>
              <a:t>Train on 1,200 official-train issues from 4 repositories; test on 300 issues from the held-out repository</a:t>
            </a:r>
            <a:endParaRPr/>
          </a:p>
        </p:txBody>
      </p:sp>
      <p:sp>
        <p:nvSpPr>
          <p:cNvPr id="510" name="Google Shape;510;p113"/>
          <p:cNvSpPr/>
          <p:nvPr/>
        </p:nvSpPr>
        <p:spPr>
          <a:xfrm>
            <a:off x="9015984"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None/>
            </a:pPr>
            <a:r>
              <a:rPr b="1" i="0" lang="en-US" sz="1800" u="none" cap="none" strike="noStrike">
                <a:solidFill>
                  <a:srgbClr val="0B2E63"/>
                </a:solidFill>
                <a:latin typeface="Calibri"/>
                <a:ea typeface="Calibri"/>
                <a:cs typeface="Calibri"/>
                <a:sym typeface="Calibri"/>
              </a:rPr>
              <a:t>Official Test</a:t>
            </a:r>
            <a:endParaRPr/>
          </a:p>
          <a:p>
            <a:pPr indent="0" lvl="0" marL="0" marR="0" rtl="0" algn="l">
              <a:lnSpc>
                <a:spcPct val="100000"/>
              </a:lnSpc>
              <a:spcBef>
                <a:spcPts val="300"/>
              </a:spcBef>
              <a:spcAft>
                <a:spcPts val="0"/>
              </a:spcAft>
              <a:buNone/>
            </a:pPr>
            <a:r>
              <a:rPr b="0" i="0" lang="en-US" sz="1400" u="none" cap="none" strike="noStrike">
                <a:solidFill>
                  <a:srgbClr val="1F2937"/>
                </a:solidFill>
                <a:latin typeface="Calibri"/>
                <a:ea typeface="Calibri"/>
                <a:cs typeface="Calibri"/>
                <a:sym typeface="Calibri"/>
              </a:rPr>
              <a:t>5 separate classifiers, each with 300 training / 300 test issues</a:t>
            </a:r>
            <a:endParaRPr/>
          </a:p>
        </p:txBody>
      </p:sp>
      <p:sp>
        <p:nvSpPr>
          <p:cNvPr id="511" name="Rectangle 510"/>
          <p:cNvSpPr/>
          <p:nvPr/>
        </p:nvSpPr>
        <p:spPr>
          <a:xfrm>
            <a:off x="8000000" y="1175000"/>
            <a:ext cx="190000" cy="190000"/>
          </a:xfrm>
          <a:prstGeom prst="rect">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Rectangle 511"/>
          <p:cNvSpPr/>
          <p:nvPr/>
        </p:nvSpPr>
        <p:spPr>
          <a:xfrm>
            <a:off x="8220000" y="1130000"/>
            <a:ext cx="1200000" cy="2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0000" tIns="0" rIns="0" bIns="0"/>
          <a:lstStyle/>
          <a:p>
            <a:pPr algn="l"/>
            <a:r>
              <a:rPr sz="1300" b="0">
                <a:solidFill>
                  <a:srgbClr val="1F2937"/>
                </a:solidFill>
                <a:latin typeface="Calibri"/>
              </a:rPr>
              <a:t>Train</a:t>
            </a:r>
          </a:p>
        </p:txBody>
      </p:sp>
      <p:sp>
        <p:nvSpPr>
          <p:cNvPr id="513" name="Rectangle 512"/>
          <p:cNvSpPr/>
          <p:nvPr/>
        </p:nvSpPr>
        <p:spPr>
          <a:xfrm>
            <a:off x="9150000" y="1175000"/>
            <a:ext cx="190000" cy="190000"/>
          </a:xfrm>
          <a:prstGeom prst="rect">
            <a:avLst/>
          </a:prstGeom>
          <a:solidFill>
            <a:srgbClr val="BE1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Rectangle 513"/>
          <p:cNvSpPr/>
          <p:nvPr/>
        </p:nvSpPr>
        <p:spPr>
          <a:xfrm>
            <a:off x="9370000" y="1130000"/>
            <a:ext cx="2200000" cy="2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0000" tIns="0" rIns="0" bIns="0"/>
          <a:lstStyle/>
          <a:p>
            <a:pPr algn="l"/>
            <a:r>
              <a:rPr sz="1300" b="0">
                <a:solidFill>
                  <a:srgbClr val="1F2937"/>
                </a:solidFill>
                <a:latin typeface="Calibri"/>
              </a:rPr>
              <a:t>Evaluate (held out)</a:t>
            </a:r>
          </a:p>
        </p:txBody>
      </p:sp>
      <p:sp>
        <p:nvSpPr>
          <p:cNvPr id="515" name="Rounded Rectangle 514"/>
          <p:cNvSpPr/>
          <p:nvPr/>
        </p:nvSpPr>
        <p:spPr>
          <a:xfrm>
            <a:off x="457200" y="1480000"/>
            <a:ext cx="2724912" cy="2780000"/>
          </a:xfrm>
          <a:prstGeom prst="roundRect">
            <a:avLst>
              <a:gd name="adj" fmla="val 12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tIns="30000" rIns="60000" bIns="30000"/>
          <a:lstStyle/>
          <a:p>
            <a:pPr algn="ctr"/>
            <a:r>
              <a:rPr sz="1000" b="0">
                <a:solidFill>
                  <a:srgbClr val="1F2937"/>
                </a:solidFill>
                <a:latin typeface="Calibri"/>
              </a:rPr>
              <a:t/>
            </a:r>
          </a:p>
        </p:txBody>
      </p:sp>
      <p:sp>
        <p:nvSpPr>
          <p:cNvPr id="516" name="Rectangle 515"/>
          <p:cNvSpPr/>
          <p:nvPr/>
        </p:nvSpPr>
        <p:spPr>
          <a:xfrm>
            <a:off x="497200" y="16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bitcoin</a:t>
            </a:r>
          </a:p>
        </p:txBody>
      </p:sp>
      <p:sp>
        <p:nvSpPr>
          <p:cNvPr id="517" name="Rectangle 516"/>
          <p:cNvSpPr/>
          <p:nvPr/>
        </p:nvSpPr>
        <p:spPr>
          <a:xfrm>
            <a:off x="1517200" y="16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Rectangle 517"/>
          <p:cNvSpPr/>
          <p:nvPr/>
        </p:nvSpPr>
        <p:spPr>
          <a:xfrm>
            <a:off x="1829200" y="16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Rectangle 518"/>
          <p:cNvSpPr/>
          <p:nvPr/>
        </p:nvSpPr>
        <p:spPr>
          <a:xfrm>
            <a:off x="2141200" y="16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Rectangle 519"/>
          <p:cNvSpPr/>
          <p:nvPr/>
        </p:nvSpPr>
        <p:spPr>
          <a:xfrm>
            <a:off x="2453200" y="16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Rectangle 520"/>
          <p:cNvSpPr/>
          <p:nvPr/>
        </p:nvSpPr>
        <p:spPr>
          <a:xfrm>
            <a:off x="2765200" y="1645000"/>
            <a:ext cx="312000" cy="365000"/>
          </a:xfrm>
          <a:prstGeom prst="rect">
            <a:avLst/>
          </a:prstGeom>
          <a:solidFill>
            <a:srgbClr val="BE1E2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Rectangle 521"/>
          <p:cNvSpPr/>
          <p:nvPr/>
        </p:nvSpPr>
        <p:spPr>
          <a:xfrm>
            <a:off x="497200" y="209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react</a:t>
            </a:r>
          </a:p>
        </p:txBody>
      </p:sp>
      <p:sp>
        <p:nvSpPr>
          <p:cNvPr id="523" name="Rectangle 522"/>
          <p:cNvSpPr/>
          <p:nvPr/>
        </p:nvSpPr>
        <p:spPr>
          <a:xfrm>
            <a:off x="1517200" y="20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Rectangle 523"/>
          <p:cNvSpPr/>
          <p:nvPr/>
        </p:nvSpPr>
        <p:spPr>
          <a:xfrm>
            <a:off x="1829200" y="20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Rectangle 524"/>
          <p:cNvSpPr/>
          <p:nvPr/>
        </p:nvSpPr>
        <p:spPr>
          <a:xfrm>
            <a:off x="2141200" y="20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Rectangle 525"/>
          <p:cNvSpPr/>
          <p:nvPr/>
        </p:nvSpPr>
        <p:spPr>
          <a:xfrm>
            <a:off x="2453200" y="2095000"/>
            <a:ext cx="312000" cy="365000"/>
          </a:xfrm>
          <a:prstGeom prst="rect">
            <a:avLst/>
          </a:prstGeom>
          <a:solidFill>
            <a:srgbClr val="BE1E2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Rectangle 526"/>
          <p:cNvSpPr/>
          <p:nvPr/>
        </p:nvSpPr>
        <p:spPr>
          <a:xfrm>
            <a:off x="2765200" y="20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Rectangle 527"/>
          <p:cNvSpPr/>
          <p:nvPr/>
        </p:nvSpPr>
        <p:spPr>
          <a:xfrm>
            <a:off x="497200" y="25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vscode</a:t>
            </a:r>
          </a:p>
        </p:txBody>
      </p:sp>
      <p:sp>
        <p:nvSpPr>
          <p:cNvPr id="529" name="Rectangle 528"/>
          <p:cNvSpPr/>
          <p:nvPr/>
        </p:nvSpPr>
        <p:spPr>
          <a:xfrm>
            <a:off x="1517200" y="25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Rectangle 529"/>
          <p:cNvSpPr/>
          <p:nvPr/>
        </p:nvSpPr>
        <p:spPr>
          <a:xfrm>
            <a:off x="1829200" y="25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Rectangle 530"/>
          <p:cNvSpPr/>
          <p:nvPr/>
        </p:nvSpPr>
        <p:spPr>
          <a:xfrm>
            <a:off x="2141200" y="2545000"/>
            <a:ext cx="312000" cy="365000"/>
          </a:xfrm>
          <a:prstGeom prst="rect">
            <a:avLst/>
          </a:prstGeom>
          <a:solidFill>
            <a:srgbClr val="BE1E2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Rectangle 531"/>
          <p:cNvSpPr/>
          <p:nvPr/>
        </p:nvSpPr>
        <p:spPr>
          <a:xfrm>
            <a:off x="2453200" y="25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Rectangle 532"/>
          <p:cNvSpPr/>
          <p:nvPr/>
        </p:nvSpPr>
        <p:spPr>
          <a:xfrm>
            <a:off x="2765200" y="25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Rectangle 533"/>
          <p:cNvSpPr/>
          <p:nvPr/>
        </p:nvSpPr>
        <p:spPr>
          <a:xfrm>
            <a:off x="497200" y="299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opencv</a:t>
            </a:r>
          </a:p>
        </p:txBody>
      </p:sp>
      <p:sp>
        <p:nvSpPr>
          <p:cNvPr id="535" name="Rectangle 534"/>
          <p:cNvSpPr/>
          <p:nvPr/>
        </p:nvSpPr>
        <p:spPr>
          <a:xfrm>
            <a:off x="1517200" y="29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Rectangle 535"/>
          <p:cNvSpPr/>
          <p:nvPr/>
        </p:nvSpPr>
        <p:spPr>
          <a:xfrm>
            <a:off x="1829200" y="2995000"/>
            <a:ext cx="312000" cy="365000"/>
          </a:xfrm>
          <a:prstGeom prst="rect">
            <a:avLst/>
          </a:prstGeom>
          <a:solidFill>
            <a:srgbClr val="BE1E2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Rectangle 536"/>
          <p:cNvSpPr/>
          <p:nvPr/>
        </p:nvSpPr>
        <p:spPr>
          <a:xfrm>
            <a:off x="2141200" y="29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Rectangle 537"/>
          <p:cNvSpPr/>
          <p:nvPr/>
        </p:nvSpPr>
        <p:spPr>
          <a:xfrm>
            <a:off x="2453200" y="29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Rectangle 538"/>
          <p:cNvSpPr/>
          <p:nvPr/>
        </p:nvSpPr>
        <p:spPr>
          <a:xfrm>
            <a:off x="2765200" y="29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Rectangle 539"/>
          <p:cNvSpPr/>
          <p:nvPr/>
        </p:nvSpPr>
        <p:spPr>
          <a:xfrm>
            <a:off x="497200" y="34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tensorflow</a:t>
            </a:r>
          </a:p>
        </p:txBody>
      </p:sp>
      <p:sp>
        <p:nvSpPr>
          <p:cNvPr id="541" name="Rectangle 540"/>
          <p:cNvSpPr/>
          <p:nvPr/>
        </p:nvSpPr>
        <p:spPr>
          <a:xfrm>
            <a:off x="1517200" y="3445000"/>
            <a:ext cx="312000" cy="365000"/>
          </a:xfrm>
          <a:prstGeom prst="rect">
            <a:avLst/>
          </a:prstGeom>
          <a:solidFill>
            <a:srgbClr val="BE1E2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Rectangle 541"/>
          <p:cNvSpPr/>
          <p:nvPr/>
        </p:nvSpPr>
        <p:spPr>
          <a:xfrm>
            <a:off x="1829200" y="34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Rectangle 542"/>
          <p:cNvSpPr/>
          <p:nvPr/>
        </p:nvSpPr>
        <p:spPr>
          <a:xfrm>
            <a:off x="2141200" y="34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Rectangle 543"/>
          <p:cNvSpPr/>
          <p:nvPr/>
        </p:nvSpPr>
        <p:spPr>
          <a:xfrm>
            <a:off x="2453200" y="34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2765200" y="34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Rectangle 545"/>
          <p:cNvSpPr/>
          <p:nvPr/>
        </p:nvSpPr>
        <p:spPr>
          <a:xfrm>
            <a:off x="1492200" y="1625000"/>
            <a:ext cx="1610000" cy="405000"/>
          </a:xfrm>
          <a:prstGeom prst="rect">
            <a:avLst/>
          </a:prstGeom>
          <a:no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Rectangle 546"/>
          <p:cNvSpPr/>
          <p:nvPr/>
        </p:nvSpPr>
        <p:spPr>
          <a:xfrm>
            <a:off x="1492200" y="2075000"/>
            <a:ext cx="1610000" cy="405000"/>
          </a:xfrm>
          <a:prstGeom prst="rect">
            <a:avLst/>
          </a:prstGeom>
          <a:no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Rectangle 547"/>
          <p:cNvSpPr/>
          <p:nvPr/>
        </p:nvSpPr>
        <p:spPr>
          <a:xfrm>
            <a:off x="1492200" y="2525000"/>
            <a:ext cx="1610000" cy="405000"/>
          </a:xfrm>
          <a:prstGeom prst="rect">
            <a:avLst/>
          </a:prstGeom>
          <a:no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Rectangle 548"/>
          <p:cNvSpPr/>
          <p:nvPr/>
        </p:nvSpPr>
        <p:spPr>
          <a:xfrm>
            <a:off x="1492200" y="2975000"/>
            <a:ext cx="1610000" cy="405000"/>
          </a:xfrm>
          <a:prstGeom prst="rect">
            <a:avLst/>
          </a:prstGeom>
          <a:no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Rectangle 549"/>
          <p:cNvSpPr/>
          <p:nvPr/>
        </p:nvSpPr>
        <p:spPr>
          <a:xfrm>
            <a:off x="1492200" y="3425000"/>
            <a:ext cx="1610000" cy="405000"/>
          </a:xfrm>
          <a:prstGeom prst="rect">
            <a:avLst/>
          </a:prstGeom>
          <a:no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Rectangle 550"/>
          <p:cNvSpPr/>
          <p:nvPr/>
        </p:nvSpPr>
        <p:spPr>
          <a:xfrm>
            <a:off x="457200" y="3900000"/>
            <a:ext cx="2724912" cy="30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200" b="0">
                <a:solidFill>
                  <a:srgbClr val="6B7280"/>
                </a:solidFill>
                <a:latin typeface="Calibri"/>
              </a:rPr>
              <a:t>5 models, one per repository</a:t>
            </a:r>
          </a:p>
        </p:txBody>
      </p:sp>
      <p:sp>
        <p:nvSpPr>
          <p:cNvPr id="552" name="Rounded Rectangle 551"/>
          <p:cNvSpPr/>
          <p:nvPr/>
        </p:nvSpPr>
        <p:spPr>
          <a:xfrm>
            <a:off x="3310128" y="1480000"/>
            <a:ext cx="2724912" cy="2780000"/>
          </a:xfrm>
          <a:prstGeom prst="roundRect">
            <a:avLst>
              <a:gd name="adj" fmla="val 12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tIns="30000" rIns="60000" bIns="30000"/>
          <a:lstStyle/>
          <a:p>
            <a:pPr algn="ctr"/>
            <a:r>
              <a:rPr sz="1000" b="0">
                <a:solidFill>
                  <a:srgbClr val="1F2937"/>
                </a:solidFill>
                <a:latin typeface="Calibri"/>
              </a:rPr>
              <a:t/>
            </a:r>
          </a:p>
        </p:txBody>
      </p:sp>
      <p:sp>
        <p:nvSpPr>
          <p:cNvPr id="553" name="Rectangle 552"/>
          <p:cNvSpPr/>
          <p:nvPr/>
        </p:nvSpPr>
        <p:spPr>
          <a:xfrm>
            <a:off x="3350128" y="16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bitcoin</a:t>
            </a:r>
          </a:p>
        </p:txBody>
      </p:sp>
      <p:sp>
        <p:nvSpPr>
          <p:cNvPr id="554" name="Rectangle 553"/>
          <p:cNvSpPr/>
          <p:nvPr/>
        </p:nvSpPr>
        <p:spPr>
          <a:xfrm>
            <a:off x="4370128" y="16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Rectangle 554"/>
          <p:cNvSpPr/>
          <p:nvPr/>
        </p:nvSpPr>
        <p:spPr>
          <a:xfrm>
            <a:off x="4682128" y="16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Rectangle 555"/>
          <p:cNvSpPr/>
          <p:nvPr/>
        </p:nvSpPr>
        <p:spPr>
          <a:xfrm>
            <a:off x="4994128" y="16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Rectangle 556"/>
          <p:cNvSpPr/>
          <p:nvPr/>
        </p:nvSpPr>
        <p:spPr>
          <a:xfrm>
            <a:off x="5306128" y="16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Rectangle 557"/>
          <p:cNvSpPr/>
          <p:nvPr/>
        </p:nvSpPr>
        <p:spPr>
          <a:xfrm>
            <a:off x="5618128" y="1645000"/>
            <a:ext cx="312000" cy="365000"/>
          </a:xfrm>
          <a:prstGeom prst="rect">
            <a:avLst/>
          </a:prstGeom>
          <a:solidFill>
            <a:srgbClr val="BE1E2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Rectangle 558"/>
          <p:cNvSpPr/>
          <p:nvPr/>
        </p:nvSpPr>
        <p:spPr>
          <a:xfrm>
            <a:off x="3350128" y="209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react</a:t>
            </a:r>
          </a:p>
        </p:txBody>
      </p:sp>
      <p:sp>
        <p:nvSpPr>
          <p:cNvPr id="560" name="Rectangle 559"/>
          <p:cNvSpPr/>
          <p:nvPr/>
        </p:nvSpPr>
        <p:spPr>
          <a:xfrm>
            <a:off x="4370128" y="20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Rectangle 560"/>
          <p:cNvSpPr/>
          <p:nvPr/>
        </p:nvSpPr>
        <p:spPr>
          <a:xfrm>
            <a:off x="4682128" y="20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Rectangle 561"/>
          <p:cNvSpPr/>
          <p:nvPr/>
        </p:nvSpPr>
        <p:spPr>
          <a:xfrm>
            <a:off x="4994128" y="20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Rectangle 562"/>
          <p:cNvSpPr/>
          <p:nvPr/>
        </p:nvSpPr>
        <p:spPr>
          <a:xfrm>
            <a:off x="5306128" y="2095000"/>
            <a:ext cx="312000" cy="365000"/>
          </a:xfrm>
          <a:prstGeom prst="rect">
            <a:avLst/>
          </a:prstGeom>
          <a:solidFill>
            <a:srgbClr val="BE1E2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Rectangle 563"/>
          <p:cNvSpPr/>
          <p:nvPr/>
        </p:nvSpPr>
        <p:spPr>
          <a:xfrm>
            <a:off x="5618128" y="20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Rectangle 564"/>
          <p:cNvSpPr/>
          <p:nvPr/>
        </p:nvSpPr>
        <p:spPr>
          <a:xfrm>
            <a:off x="3350128" y="25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vscode</a:t>
            </a:r>
          </a:p>
        </p:txBody>
      </p:sp>
      <p:sp>
        <p:nvSpPr>
          <p:cNvPr id="566" name="Rectangle 565"/>
          <p:cNvSpPr/>
          <p:nvPr/>
        </p:nvSpPr>
        <p:spPr>
          <a:xfrm>
            <a:off x="4370128" y="25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Rectangle 566"/>
          <p:cNvSpPr/>
          <p:nvPr/>
        </p:nvSpPr>
        <p:spPr>
          <a:xfrm>
            <a:off x="4682128" y="25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Rectangle 567"/>
          <p:cNvSpPr/>
          <p:nvPr/>
        </p:nvSpPr>
        <p:spPr>
          <a:xfrm>
            <a:off x="4994128" y="2545000"/>
            <a:ext cx="312000" cy="365000"/>
          </a:xfrm>
          <a:prstGeom prst="rect">
            <a:avLst/>
          </a:prstGeom>
          <a:solidFill>
            <a:srgbClr val="BE1E2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Rectangle 568"/>
          <p:cNvSpPr/>
          <p:nvPr/>
        </p:nvSpPr>
        <p:spPr>
          <a:xfrm>
            <a:off x="5306128" y="25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Rectangle 569"/>
          <p:cNvSpPr/>
          <p:nvPr/>
        </p:nvSpPr>
        <p:spPr>
          <a:xfrm>
            <a:off x="5618128" y="25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Rectangle 570"/>
          <p:cNvSpPr/>
          <p:nvPr/>
        </p:nvSpPr>
        <p:spPr>
          <a:xfrm>
            <a:off x="3350128" y="299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opencv</a:t>
            </a:r>
          </a:p>
        </p:txBody>
      </p:sp>
      <p:sp>
        <p:nvSpPr>
          <p:cNvPr id="572" name="Rectangle 571"/>
          <p:cNvSpPr/>
          <p:nvPr/>
        </p:nvSpPr>
        <p:spPr>
          <a:xfrm>
            <a:off x="4370128" y="29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Rectangle 572"/>
          <p:cNvSpPr/>
          <p:nvPr/>
        </p:nvSpPr>
        <p:spPr>
          <a:xfrm>
            <a:off x="4682128" y="2995000"/>
            <a:ext cx="312000" cy="365000"/>
          </a:xfrm>
          <a:prstGeom prst="rect">
            <a:avLst/>
          </a:prstGeom>
          <a:solidFill>
            <a:srgbClr val="BE1E2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Rectangle 573"/>
          <p:cNvSpPr/>
          <p:nvPr/>
        </p:nvSpPr>
        <p:spPr>
          <a:xfrm>
            <a:off x="4994128" y="29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Rectangle 574"/>
          <p:cNvSpPr/>
          <p:nvPr/>
        </p:nvSpPr>
        <p:spPr>
          <a:xfrm>
            <a:off x="5306128" y="29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Rectangle 575"/>
          <p:cNvSpPr/>
          <p:nvPr/>
        </p:nvSpPr>
        <p:spPr>
          <a:xfrm>
            <a:off x="5618128" y="299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Rectangle 576"/>
          <p:cNvSpPr/>
          <p:nvPr/>
        </p:nvSpPr>
        <p:spPr>
          <a:xfrm>
            <a:off x="3350128" y="34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tensorflow</a:t>
            </a:r>
          </a:p>
        </p:txBody>
      </p:sp>
      <p:sp>
        <p:nvSpPr>
          <p:cNvPr id="578" name="Rectangle 577"/>
          <p:cNvSpPr/>
          <p:nvPr/>
        </p:nvSpPr>
        <p:spPr>
          <a:xfrm>
            <a:off x="4370128" y="3445000"/>
            <a:ext cx="312000" cy="365000"/>
          </a:xfrm>
          <a:prstGeom prst="rect">
            <a:avLst/>
          </a:prstGeom>
          <a:solidFill>
            <a:srgbClr val="BE1E2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Rectangle 578"/>
          <p:cNvSpPr/>
          <p:nvPr/>
        </p:nvSpPr>
        <p:spPr>
          <a:xfrm>
            <a:off x="4682128" y="34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Rectangle 579"/>
          <p:cNvSpPr/>
          <p:nvPr/>
        </p:nvSpPr>
        <p:spPr>
          <a:xfrm>
            <a:off x="4994128" y="34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Rectangle 580"/>
          <p:cNvSpPr/>
          <p:nvPr/>
        </p:nvSpPr>
        <p:spPr>
          <a:xfrm>
            <a:off x="5306128" y="34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Rectangle 581"/>
          <p:cNvSpPr/>
          <p:nvPr/>
        </p:nvSpPr>
        <p:spPr>
          <a:xfrm>
            <a:off x="5618128" y="3445000"/>
            <a:ext cx="312000" cy="365000"/>
          </a:xfrm>
          <a:prstGeom prst="rect">
            <a:avLst/>
          </a:prstGeom>
          <a:solidFill>
            <a:srgbClr val="0B2E63"/>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Rectangle 582"/>
          <p:cNvSpPr/>
          <p:nvPr/>
        </p:nvSpPr>
        <p:spPr>
          <a:xfrm>
            <a:off x="4325128" y="1600000"/>
            <a:ext cx="1650000" cy="2255000"/>
          </a:xfrm>
          <a:prstGeom prst="rect">
            <a:avLst/>
          </a:prstGeom>
          <a:noFill/>
          <a:ln w="22225">
            <a:solidFill>
              <a:srgbClr val="1F293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Rectangle 583"/>
          <p:cNvSpPr/>
          <p:nvPr/>
        </p:nvSpPr>
        <p:spPr>
          <a:xfrm>
            <a:off x="3310128" y="3900000"/>
            <a:ext cx="2724912" cy="30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200" b="0">
                <a:solidFill>
                  <a:srgbClr val="6B7280"/>
                </a:solidFill>
                <a:latin typeface="Calibri"/>
              </a:rPr>
              <a:t>1 model on all repositories</a:t>
            </a:r>
          </a:p>
        </p:txBody>
      </p:sp>
      <p:sp>
        <p:nvSpPr>
          <p:cNvPr id="585" name="Rounded Rectangle 584"/>
          <p:cNvSpPr/>
          <p:nvPr/>
        </p:nvSpPr>
        <p:spPr>
          <a:xfrm>
            <a:off x="6163056" y="1480000"/>
            <a:ext cx="2724912" cy="2780000"/>
          </a:xfrm>
          <a:prstGeom prst="roundRect">
            <a:avLst>
              <a:gd name="adj" fmla="val 12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tIns="30000" rIns="60000" bIns="30000"/>
          <a:lstStyle/>
          <a:p>
            <a:pPr algn="ctr"/>
            <a:r>
              <a:rPr sz="1000" b="0">
                <a:solidFill>
                  <a:srgbClr val="1F2937"/>
                </a:solidFill>
                <a:latin typeface="Calibri"/>
              </a:rPr>
              <a:t/>
            </a:r>
          </a:p>
        </p:txBody>
      </p:sp>
      <p:sp>
        <p:nvSpPr>
          <p:cNvPr id="586" name="Rectangle 585"/>
          <p:cNvSpPr/>
          <p:nvPr/>
        </p:nvSpPr>
        <p:spPr>
          <a:xfrm>
            <a:off x="6203056" y="16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bitcoin</a:t>
            </a:r>
          </a:p>
        </p:txBody>
      </p:sp>
      <p:sp>
        <p:nvSpPr>
          <p:cNvPr id="587" name="Rectangle 586"/>
          <p:cNvSpPr/>
          <p:nvPr/>
        </p:nvSpPr>
        <p:spPr>
          <a:xfrm>
            <a:off x="7223056" y="1645000"/>
            <a:ext cx="1560000" cy="365000"/>
          </a:xfrm>
          <a:prstGeom prst="rect">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Rectangle 587"/>
          <p:cNvSpPr/>
          <p:nvPr/>
        </p:nvSpPr>
        <p:spPr>
          <a:xfrm>
            <a:off x="6203056" y="209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react</a:t>
            </a:r>
          </a:p>
        </p:txBody>
      </p:sp>
      <p:sp>
        <p:nvSpPr>
          <p:cNvPr id="589" name="Rectangle 588"/>
          <p:cNvSpPr/>
          <p:nvPr/>
        </p:nvSpPr>
        <p:spPr>
          <a:xfrm>
            <a:off x="7223056" y="2095000"/>
            <a:ext cx="1560000" cy="365000"/>
          </a:xfrm>
          <a:prstGeom prst="rect">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Rectangle 589"/>
          <p:cNvSpPr/>
          <p:nvPr/>
        </p:nvSpPr>
        <p:spPr>
          <a:xfrm>
            <a:off x="6203056" y="25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vscode</a:t>
            </a:r>
          </a:p>
        </p:txBody>
      </p:sp>
      <p:sp>
        <p:nvSpPr>
          <p:cNvPr id="591" name="Rectangle 590"/>
          <p:cNvSpPr/>
          <p:nvPr/>
        </p:nvSpPr>
        <p:spPr>
          <a:xfrm>
            <a:off x="7223056" y="2545000"/>
            <a:ext cx="1560000" cy="365000"/>
          </a:xfrm>
          <a:prstGeom prst="rect">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Rectangle 591"/>
          <p:cNvSpPr/>
          <p:nvPr/>
        </p:nvSpPr>
        <p:spPr>
          <a:xfrm>
            <a:off x="6203056" y="299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opencv</a:t>
            </a:r>
          </a:p>
        </p:txBody>
      </p:sp>
      <p:sp>
        <p:nvSpPr>
          <p:cNvPr id="593" name="Rectangle 592"/>
          <p:cNvSpPr/>
          <p:nvPr/>
        </p:nvSpPr>
        <p:spPr>
          <a:xfrm>
            <a:off x="7223056" y="2995000"/>
            <a:ext cx="1560000" cy="365000"/>
          </a:xfrm>
          <a:prstGeom prst="rect">
            <a:avLst/>
          </a:prstGeom>
          <a:solidFill>
            <a:srgbClr val="BE1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Rectangle 593"/>
          <p:cNvSpPr/>
          <p:nvPr/>
        </p:nvSpPr>
        <p:spPr>
          <a:xfrm>
            <a:off x="7223056" y="2995000"/>
            <a:ext cx="156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100" b="1">
                <a:solidFill>
                  <a:srgbClr val="FFFFFF"/>
                </a:solidFill>
                <a:latin typeface="Calibri"/>
              </a:rPr>
              <a:t>held out</a:t>
            </a:r>
          </a:p>
        </p:txBody>
      </p:sp>
      <p:sp>
        <p:nvSpPr>
          <p:cNvPr id="595" name="Rectangle 594"/>
          <p:cNvSpPr/>
          <p:nvPr/>
        </p:nvSpPr>
        <p:spPr>
          <a:xfrm>
            <a:off x="6203056" y="34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tensorflow</a:t>
            </a:r>
          </a:p>
        </p:txBody>
      </p:sp>
      <p:sp>
        <p:nvSpPr>
          <p:cNvPr id="596" name="Rectangle 595"/>
          <p:cNvSpPr/>
          <p:nvPr/>
        </p:nvSpPr>
        <p:spPr>
          <a:xfrm>
            <a:off x="7223056" y="3445000"/>
            <a:ext cx="1560000" cy="365000"/>
          </a:xfrm>
          <a:prstGeom prst="rect">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Rectangle 596"/>
          <p:cNvSpPr/>
          <p:nvPr/>
        </p:nvSpPr>
        <p:spPr>
          <a:xfrm>
            <a:off x="6163056" y="3900000"/>
            <a:ext cx="2724912" cy="30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200" b="0">
                <a:solidFill>
                  <a:srgbClr val="6B7280"/>
                </a:solidFill>
                <a:latin typeface="Calibri"/>
              </a:rPr>
              <a:t>5 runs, one held-out repository each</a:t>
            </a:r>
          </a:p>
        </p:txBody>
      </p:sp>
      <p:sp>
        <p:nvSpPr>
          <p:cNvPr id="598" name="Rounded Rectangle 597"/>
          <p:cNvSpPr/>
          <p:nvPr/>
        </p:nvSpPr>
        <p:spPr>
          <a:xfrm>
            <a:off x="9015984" y="1480000"/>
            <a:ext cx="2724912" cy="2780000"/>
          </a:xfrm>
          <a:prstGeom prst="roundRect">
            <a:avLst>
              <a:gd name="adj" fmla="val 12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tIns="30000" rIns="60000" bIns="30000"/>
          <a:lstStyle/>
          <a:p>
            <a:pPr algn="ctr"/>
            <a:r>
              <a:rPr sz="1000" b="0">
                <a:solidFill>
                  <a:srgbClr val="1F2937"/>
                </a:solidFill>
                <a:latin typeface="Calibri"/>
              </a:rPr>
              <a:t/>
            </a:r>
          </a:p>
        </p:txBody>
      </p:sp>
      <p:sp>
        <p:nvSpPr>
          <p:cNvPr id="599" name="Rectangle 598"/>
          <p:cNvSpPr/>
          <p:nvPr/>
        </p:nvSpPr>
        <p:spPr>
          <a:xfrm>
            <a:off x="9055984" y="16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bitcoin</a:t>
            </a:r>
          </a:p>
        </p:txBody>
      </p:sp>
      <p:sp>
        <p:nvSpPr>
          <p:cNvPr id="600" name="Rectangle 599"/>
          <p:cNvSpPr/>
          <p:nvPr/>
        </p:nvSpPr>
        <p:spPr>
          <a:xfrm>
            <a:off x="10075984" y="1645000"/>
            <a:ext cx="780000" cy="365000"/>
          </a:xfrm>
          <a:prstGeom prst="rect">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Rectangle 600"/>
          <p:cNvSpPr/>
          <p:nvPr/>
        </p:nvSpPr>
        <p:spPr>
          <a:xfrm>
            <a:off x="10855984" y="1645000"/>
            <a:ext cx="780000" cy="365000"/>
          </a:xfrm>
          <a:prstGeom prst="rect">
            <a:avLst/>
          </a:prstGeom>
          <a:solidFill>
            <a:srgbClr val="BE1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Rectangle 601"/>
          <p:cNvSpPr/>
          <p:nvPr/>
        </p:nvSpPr>
        <p:spPr>
          <a:xfrm>
            <a:off x="9055984" y="209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react</a:t>
            </a:r>
          </a:p>
        </p:txBody>
      </p:sp>
      <p:sp>
        <p:nvSpPr>
          <p:cNvPr id="603" name="Rectangle 602"/>
          <p:cNvSpPr/>
          <p:nvPr/>
        </p:nvSpPr>
        <p:spPr>
          <a:xfrm>
            <a:off x="10075984" y="2095000"/>
            <a:ext cx="780000" cy="365000"/>
          </a:xfrm>
          <a:prstGeom prst="rect">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Rectangle 603"/>
          <p:cNvSpPr/>
          <p:nvPr/>
        </p:nvSpPr>
        <p:spPr>
          <a:xfrm>
            <a:off x="10855984" y="2095000"/>
            <a:ext cx="780000" cy="365000"/>
          </a:xfrm>
          <a:prstGeom prst="rect">
            <a:avLst/>
          </a:prstGeom>
          <a:solidFill>
            <a:srgbClr val="BE1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Rectangle 604"/>
          <p:cNvSpPr/>
          <p:nvPr/>
        </p:nvSpPr>
        <p:spPr>
          <a:xfrm>
            <a:off x="9055984" y="25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vscode</a:t>
            </a:r>
          </a:p>
        </p:txBody>
      </p:sp>
      <p:sp>
        <p:nvSpPr>
          <p:cNvPr id="606" name="Rectangle 605"/>
          <p:cNvSpPr/>
          <p:nvPr/>
        </p:nvSpPr>
        <p:spPr>
          <a:xfrm>
            <a:off x="10075984" y="2545000"/>
            <a:ext cx="780000" cy="365000"/>
          </a:xfrm>
          <a:prstGeom prst="rect">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Rectangle 606"/>
          <p:cNvSpPr/>
          <p:nvPr/>
        </p:nvSpPr>
        <p:spPr>
          <a:xfrm>
            <a:off x="10855984" y="2545000"/>
            <a:ext cx="780000" cy="365000"/>
          </a:xfrm>
          <a:prstGeom prst="rect">
            <a:avLst/>
          </a:prstGeom>
          <a:solidFill>
            <a:srgbClr val="BE1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Rectangle 607"/>
          <p:cNvSpPr/>
          <p:nvPr/>
        </p:nvSpPr>
        <p:spPr>
          <a:xfrm>
            <a:off x="9055984" y="299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opencv</a:t>
            </a:r>
          </a:p>
        </p:txBody>
      </p:sp>
      <p:sp>
        <p:nvSpPr>
          <p:cNvPr id="609" name="Rectangle 608"/>
          <p:cNvSpPr/>
          <p:nvPr/>
        </p:nvSpPr>
        <p:spPr>
          <a:xfrm>
            <a:off x="10075984" y="2995000"/>
            <a:ext cx="780000" cy="365000"/>
          </a:xfrm>
          <a:prstGeom prst="rect">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Rectangle 609"/>
          <p:cNvSpPr/>
          <p:nvPr/>
        </p:nvSpPr>
        <p:spPr>
          <a:xfrm>
            <a:off x="10855984" y="2995000"/>
            <a:ext cx="780000" cy="365000"/>
          </a:xfrm>
          <a:prstGeom prst="rect">
            <a:avLst/>
          </a:prstGeom>
          <a:solidFill>
            <a:srgbClr val="BE1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Rectangle 610"/>
          <p:cNvSpPr/>
          <p:nvPr/>
        </p:nvSpPr>
        <p:spPr>
          <a:xfrm>
            <a:off x="9055984" y="3445000"/>
            <a:ext cx="920000" cy="365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50000" bIns="0"/>
          <a:lstStyle/>
          <a:p>
            <a:pPr algn="r"/>
            <a:r>
              <a:rPr sz="1300" b="0">
                <a:solidFill>
                  <a:srgbClr val="6B7280"/>
                </a:solidFill>
                <a:latin typeface="Calibri"/>
              </a:rPr>
              <a:t>tensorflow</a:t>
            </a:r>
          </a:p>
        </p:txBody>
      </p:sp>
      <p:sp>
        <p:nvSpPr>
          <p:cNvPr id="612" name="Rectangle 611"/>
          <p:cNvSpPr/>
          <p:nvPr/>
        </p:nvSpPr>
        <p:spPr>
          <a:xfrm>
            <a:off x="10075984" y="3445000"/>
            <a:ext cx="780000" cy="365000"/>
          </a:xfrm>
          <a:prstGeom prst="rect">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Rectangle 612"/>
          <p:cNvSpPr/>
          <p:nvPr/>
        </p:nvSpPr>
        <p:spPr>
          <a:xfrm>
            <a:off x="10855984" y="3445000"/>
            <a:ext cx="780000" cy="365000"/>
          </a:xfrm>
          <a:prstGeom prst="rect">
            <a:avLst/>
          </a:prstGeom>
          <a:solidFill>
            <a:srgbClr val="BE1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Rectangle 613"/>
          <p:cNvSpPr/>
          <p:nvPr/>
        </p:nvSpPr>
        <p:spPr>
          <a:xfrm>
            <a:off x="9015984" y="3900000"/>
            <a:ext cx="2724912" cy="30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200" b="0">
                <a:solidFill>
                  <a:srgbClr val="6B7280"/>
                </a:solidFill>
                <a:latin typeface="Calibri"/>
              </a:rPr>
              <a:t>5 models, one per repository</a:t>
            </a:r>
          </a:p>
        </p:txBody>
      </p:sp>
      <p:sp>
        <p:nvSpPr>
          <p:cNvPr id="615"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4" name="Shape 514"/>
        <p:cNvGrpSpPr/>
        <p:nvPr/>
      </p:nvGrpSpPr>
      <p:grpSpPr>
        <a:xfrm>
          <a:off x="0" y="0"/>
          <a:ext cx="0" cy="0"/>
          <a:chOff x="0" y="0"/>
          <a:chExt cx="0" cy="0"/>
        </a:xfrm>
      </p:grpSpPr>
      <p:sp>
        <p:nvSpPr>
          <p:cNvPr id="515" name="Google Shape;515;p114"/>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System Pipeline and Contributions</a:t>
            </a:r>
            <a:endParaRPr b="0" i="0" sz="1800" u="none" cap="none" strike="noStrike">
              <a:solidFill>
                <a:srgbClr val="000000"/>
              </a:solidFill>
              <a:latin typeface="Calibri"/>
              <a:ea typeface="Calibri"/>
              <a:cs typeface="Calibri"/>
              <a:sym typeface="Calibri"/>
            </a:endParaRPr>
          </a:p>
        </p:txBody>
      </p:sp>
      <p:graphicFrame>
        <p:nvGraphicFramePr>
          <p:cNvPr id="517" name="Google Shape;517;p114"/>
          <p:cNvGraphicFramePr/>
          <p:nvPr/>
        </p:nvGraphicFramePr>
        <p:xfrm>
          <a:off x="5852160" y="1280160"/>
          <a:ext cx="3000000" cy="3600000"/>
        </p:xfrm>
        <a:graphic>
          <a:graphicData uri="http://schemas.openxmlformats.org/drawingml/2006/table">
            <a:tbl>
              <a:tblPr bandRow="1" firstRow="1">
                <a:noFill/>
                <a:tableStyleId>{20C0CC1B-E2D0-43D2-8BB6-4390CF16C671}</a:tableStyleId>
              </a:tblPr>
              <a:tblGrid>
                <a:gridCol w="640075"/>
                <a:gridCol w="2194550"/>
                <a:gridCol w="3063250"/>
              </a:tblGrid>
              <a:tr h="6000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None/>
                      </a:pPr>
                      <a:r>
                        <a:rPr b="1" i="0" lang="en-US" sz="1400" u="none" cap="none" strike="noStrike">
                          <a:solidFill>
                            <a:srgbClr val="FFFFFF"/>
                          </a:solidFill>
                          <a:latin typeface="Calibri"/>
                          <a:ea typeface="Calibri"/>
                          <a:cs typeface="Calibri"/>
                          <a:sym typeface="Calibri"/>
                        </a:rPr>
                        <a:t>Member</a:t>
                      </a:r>
                      <a:endParaRPr/>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None/>
                      </a:pPr>
                      <a:r>
                        <a:rPr b="1" i="0" lang="en-US" sz="1400" u="none" cap="none" strike="noStrike">
                          <a:solidFill>
                            <a:srgbClr val="FFFFFF"/>
                          </a:solidFill>
                          <a:latin typeface="Calibri"/>
                          <a:ea typeface="Calibri"/>
                          <a:cs typeface="Calibri"/>
                          <a:sym typeface="Calibri"/>
                        </a:rPr>
                        <a:t>Contribution</a:t>
                      </a:r>
                      <a:endParaRPr/>
                    </a:p>
                  </a:txBody>
                  <a:tcPr marT="45725" marB="45725" marR="91450" marL="91450" anchor="ctr">
                    <a:solidFill>
                      <a:srgbClr val="0B2E63"/>
                    </a:solidFill>
                  </a:tcPr>
                </a:tc>
              </a:tr>
              <a:tr h="600000">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P1</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Pham Tuan Kiet</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Leader, data, splits, LR</a:t>
                      </a:r>
                      <a:endParaRPr/>
                    </a:p>
                  </a:txBody>
                  <a:tcPr marT="45725" marB="45725" marR="91450" marL="91450" anchor="ctr">
                    <a:solidFill>
                      <a:srgbClr val="EEF2F8"/>
                    </a:solidFill>
                  </a:tcPr>
                </a:tc>
              </a:tr>
              <a:tr h="600000">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P2</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Nguyen Trung Hieu</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Sparse models, fastText</a:t>
                      </a:r>
                      <a:endParaRPr/>
                    </a:p>
                  </a:txBody>
                  <a:tcPr marT="45725" marB="45725" marR="91450" marL="91450" anchor="ctr">
                    <a:solidFill>
                      <a:srgbClr val="FFFFFF"/>
                    </a:solidFill>
                  </a:tcPr>
                </a:tc>
              </a:tr>
              <a:tr h="600000">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P3</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Le Ngoc Anh</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RoBERTa full / LoRA</a:t>
                      </a:r>
                      <a:endParaRPr/>
                    </a:p>
                  </a:txBody>
                  <a:tcPr marT="45725" marB="45725" marR="91450" marL="91450" anchor="ctr">
                    <a:solidFill>
                      <a:srgbClr val="EEF2F8"/>
                    </a:solidFill>
                  </a:tcPr>
                </a:tc>
              </a:tr>
              <a:tr h="600000">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P4</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Nguyen Hoang Nam</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SetFit MPNet / MiniLM</a:t>
                      </a:r>
                      <a:endParaRPr/>
                    </a:p>
                  </a:txBody>
                  <a:tcPr marT="45725" marB="45725" marR="91450" marL="91450" anchor="ctr">
                    <a:solidFill>
                      <a:srgbClr val="FFFFFF"/>
                    </a:solidFill>
                  </a:tcPr>
                </a:tc>
              </a:tr>
              <a:tr h="600000">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P5</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Bui Tien Dung</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Evaluation, ensemble, demo</a:t>
                      </a:r>
                      <a:endParaRPr/>
                    </a:p>
                  </a:txBody>
                  <a:tcPr marT="45725" marB="45725" marR="91450" marL="91450" anchor="ctr">
                    <a:solidFill>
                      <a:srgbClr val="EEF2F8"/>
                    </a:solidFill>
                  </a:tcPr>
                </a:tc>
              </a:tr>
            </a:tbl>
          </a:graphicData>
        </a:graphic>
      </p:graphicFrame>
      <p:sp>
        <p:nvSpPr>
          <p:cNvPr id="518" name="Google Shape;518;p114"/>
          <p:cNvSpPr txBox="1"/>
          <p:nvPr/>
        </p:nvSpPr>
        <p:spPr>
          <a:xfrm>
            <a:off x="5852160" y="5000000"/>
            <a:ext cx="5897880" cy="13716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The vectorizer is fitted only on the training partition to avoid leakage</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Interchangeable storage: in-memory, CSV, JSON</a:t>
            </a:r>
            <a:endParaRPr/>
          </a:p>
        </p:txBody>
      </p:sp>
      <p:sp>
        <p:nvSpPr>
          <p:cNvPr id="519" name="Rounded Rectangle 518"/>
          <p:cNvSpPr/>
          <p:nvPr/>
        </p:nvSpPr>
        <p:spPr>
          <a:xfrm>
            <a:off x="457200" y="1143000"/>
            <a:ext cx="5000000" cy="470000"/>
          </a:xfrm>
          <a:prstGeom prst="roundRect">
            <a:avLst>
              <a:gd name="adj" fmla="val 12000"/>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tIns="30000" rIns="60000" bIns="30000"/>
          <a:lstStyle/>
          <a:p>
            <a:pPr algn="ctr"/>
            <a:r>
              <a:rPr sz="1500" b="1">
                <a:solidFill>
                  <a:srgbClr val="FFFFFF"/>
                </a:solidFill>
                <a:latin typeface="Calibri"/>
              </a:rPr>
              <a:t>NLBSE’24 dataset</a:t>
            </a:r>
          </a:p>
          <a:p>
            <a:pPr algn="ctr"/>
            <a:r>
              <a:rPr sz="1100" b="0">
                <a:solidFill>
                  <a:srgbClr val="DDE5F2"/>
                </a:solidFill>
                <a:latin typeface="Calibri"/>
              </a:rPr>
              <a:t>1,500 train + 1,500 official test issues</a:t>
            </a:r>
          </a:p>
        </p:txBody>
      </p:sp>
      <p:sp>
        <p:nvSpPr>
          <p:cNvPr id="520" name="Rounded Rectangle 519"/>
          <p:cNvSpPr/>
          <p:nvPr/>
        </p:nvSpPr>
        <p:spPr>
          <a:xfrm>
            <a:off x="457200" y="1788000"/>
            <a:ext cx="5000000" cy="500000"/>
          </a:xfrm>
          <a:prstGeom prst="roundRect">
            <a:avLst>
              <a:gd name="adj" fmla="val 12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tIns="30000" rIns="60000" bIns="30000"/>
          <a:lstStyle/>
          <a:p>
            <a:pPr algn="ctr"/>
            <a:r>
              <a:rPr sz="1500" b="1">
                <a:solidFill>
                  <a:srgbClr val="0B2E63"/>
                </a:solidFill>
                <a:latin typeface="Calibri"/>
              </a:rPr>
              <a:t>Dataset service</a:t>
            </a:r>
          </a:p>
          <a:p>
            <a:pPr algn="ctr"/>
            <a:r>
              <a:rPr sz="1100" b="0">
                <a:solidFill>
                  <a:srgbClr val="6B7280"/>
                </a:solidFill>
                <a:latin typeface="Calibri"/>
              </a:rPr>
              <a:t>title + body + label</a:t>
            </a:r>
          </a:p>
        </p:txBody>
      </p:sp>
      <p:cxnSp>
        <p:nvCxnSpPr>
          <p:cNvPr id="521" name="Connector 520"/>
          <p:cNvCxnSpPr/>
          <p:nvPr/>
        </p:nvCxnSpPr>
        <p:spPr>
          <a:xfrm>
            <a:off x="2957200" y="1628000"/>
            <a:ext cx="0" cy="145000"/>
          </a:xfrm>
          <a:prstGeom prst="line">
            <a:avLst/>
          </a:prstGeom>
          <a:ln w="25400">
            <a:solidFill>
              <a:srgbClr val="BE1E2D"/>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2" name="Rounded Rectangle 521"/>
          <p:cNvSpPr/>
          <p:nvPr/>
        </p:nvSpPr>
        <p:spPr>
          <a:xfrm>
            <a:off x="457200" y="2463000"/>
            <a:ext cx="5000000" cy="500000"/>
          </a:xfrm>
          <a:prstGeom prst="roundRect">
            <a:avLst>
              <a:gd name="adj" fmla="val 12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tIns="30000" rIns="60000" bIns="30000"/>
          <a:lstStyle/>
          <a:p>
            <a:pPr algn="ctr"/>
            <a:r>
              <a:rPr sz="1500" b="1">
                <a:solidFill>
                  <a:srgbClr val="0B2E63"/>
                </a:solidFill>
                <a:latin typeface="Calibri"/>
              </a:rPr>
              <a:t>Data preparation</a:t>
            </a:r>
          </a:p>
          <a:p>
            <a:pPr algn="ctr"/>
            <a:r>
              <a:rPr sz="1100" b="0">
                <a:solidFill>
                  <a:srgbClr val="6B7280"/>
                </a:solidFill>
                <a:latin typeface="Calibri"/>
              </a:rPr>
              <a:t>protocol-aware splits, preprocessing</a:t>
            </a:r>
          </a:p>
        </p:txBody>
      </p:sp>
      <p:cxnSp>
        <p:nvCxnSpPr>
          <p:cNvPr id="523" name="Connector 522"/>
          <p:cNvCxnSpPr/>
          <p:nvPr/>
        </p:nvCxnSpPr>
        <p:spPr>
          <a:xfrm>
            <a:off x="2957200" y="2303000"/>
            <a:ext cx="0" cy="145000"/>
          </a:xfrm>
          <a:prstGeom prst="line">
            <a:avLst/>
          </a:prstGeom>
          <a:ln w="25400">
            <a:solidFill>
              <a:srgbClr val="BE1E2D"/>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4" name="Rounded Rectangle 523"/>
          <p:cNvSpPr/>
          <p:nvPr/>
        </p:nvSpPr>
        <p:spPr>
          <a:xfrm>
            <a:off x="457200" y="3138000"/>
            <a:ext cx="5000000" cy="800000"/>
          </a:xfrm>
          <a:prstGeom prst="roundRect">
            <a:avLst>
              <a:gd name="adj" fmla="val 12000"/>
            </a:avLst>
          </a:prstGeom>
          <a:noFill/>
          <a:ln w="15875">
            <a:solidFill>
              <a:srgbClr val="BE1E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60000" tIns="30000" rIns="60000" bIns="30000"/>
          <a:lstStyle/>
          <a:p>
            <a:pPr algn="ctr"/>
            <a:r>
              <a:rPr sz="1000" b="0">
                <a:solidFill>
                  <a:srgbClr val="1F2937"/>
                </a:solidFill>
                <a:latin typeface="Calibri"/>
              </a:rPr>
              <a:t/>
            </a:r>
          </a:p>
        </p:txBody>
      </p:sp>
      <p:sp>
        <p:nvSpPr>
          <p:cNvPr id="525" name="Rounded Rectangle 524"/>
          <p:cNvSpPr/>
          <p:nvPr/>
        </p:nvSpPr>
        <p:spPr>
          <a:xfrm>
            <a:off x="527200" y="3208000"/>
            <a:ext cx="1560000" cy="660000"/>
          </a:xfrm>
          <a:prstGeom prst="roundRect">
            <a:avLst>
              <a:gd name="adj" fmla="val 12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wrap="square" lIns="30000" tIns="20000" rIns="30000" bIns="20000"/>
          <a:lstStyle/>
          <a:p>
            <a:pPr algn="ctr"/>
            <a:r>
              <a:rPr sz="1400" b="1">
                <a:solidFill>
                  <a:srgbClr val="0B2E63"/>
                </a:solidFill>
                <a:latin typeface="Calibri"/>
              </a:rPr>
              <a:t>Sparse</a:t>
            </a:r>
          </a:p>
          <a:p>
            <a:pPr algn="ctr"/>
            <a:r>
              <a:rPr sz="1100" b="0">
                <a:solidFill>
                  <a:srgbClr val="6B7280"/>
                </a:solidFill>
                <a:latin typeface="Calibri"/>
              </a:rPr>
              <a:t>TF-IDF models, fastText</a:t>
            </a:r>
          </a:p>
        </p:txBody>
      </p:sp>
      <p:sp>
        <p:nvSpPr>
          <p:cNvPr id="526" name="Rounded Rectangle 525"/>
          <p:cNvSpPr/>
          <p:nvPr/>
        </p:nvSpPr>
        <p:spPr>
          <a:xfrm>
            <a:off x="2152200" y="3208000"/>
            <a:ext cx="1560000" cy="660000"/>
          </a:xfrm>
          <a:prstGeom prst="roundRect">
            <a:avLst>
              <a:gd name="adj" fmla="val 12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wrap="square" lIns="30000" tIns="20000" rIns="30000" bIns="20000"/>
          <a:lstStyle/>
          <a:p>
            <a:pPr algn="ctr"/>
            <a:r>
              <a:rPr sz="1400" b="1">
                <a:solidFill>
                  <a:srgbClr val="0B2E63"/>
                </a:solidFill>
                <a:latin typeface="Calibri"/>
              </a:rPr>
              <a:t>RoBERTa</a:t>
            </a:r>
          </a:p>
          <a:p>
            <a:pPr algn="ctr"/>
            <a:r>
              <a:rPr sz="1100" b="0">
                <a:solidFill>
                  <a:srgbClr val="6B7280"/>
                </a:solidFill>
                <a:latin typeface="Calibri"/>
              </a:rPr>
              <a:t>full / LoRA</a:t>
            </a:r>
          </a:p>
        </p:txBody>
      </p:sp>
      <p:sp>
        <p:nvSpPr>
          <p:cNvPr id="527" name="Rounded Rectangle 526"/>
          <p:cNvSpPr/>
          <p:nvPr/>
        </p:nvSpPr>
        <p:spPr>
          <a:xfrm>
            <a:off x="3777200" y="3208000"/>
            <a:ext cx="1560000" cy="660000"/>
          </a:xfrm>
          <a:prstGeom prst="roundRect">
            <a:avLst>
              <a:gd name="adj" fmla="val 12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wrap="square" lIns="30000" tIns="20000" rIns="30000" bIns="20000"/>
          <a:lstStyle/>
          <a:p>
            <a:pPr algn="ctr"/>
            <a:r>
              <a:rPr sz="1400" b="1">
                <a:solidFill>
                  <a:srgbClr val="0B2E63"/>
                </a:solidFill>
                <a:latin typeface="Calibri"/>
              </a:rPr>
              <a:t>SetFit</a:t>
            </a:r>
          </a:p>
          <a:p>
            <a:pPr algn="ctr"/>
            <a:r>
              <a:rPr sz="1100" b="0">
                <a:solidFill>
                  <a:srgbClr val="6B7280"/>
                </a:solidFill>
                <a:latin typeface="Calibri"/>
              </a:rPr>
              <a:t>MPNet / MiniLM</a:t>
            </a:r>
          </a:p>
        </p:txBody>
      </p:sp>
      <p:cxnSp>
        <p:nvCxnSpPr>
          <p:cNvPr id="528" name="Connector 527"/>
          <p:cNvCxnSpPr/>
          <p:nvPr/>
        </p:nvCxnSpPr>
        <p:spPr>
          <a:xfrm>
            <a:off x="2957200" y="2978000"/>
            <a:ext cx="0" cy="145000"/>
          </a:xfrm>
          <a:prstGeom prst="line">
            <a:avLst/>
          </a:prstGeom>
          <a:ln w="25400">
            <a:solidFill>
              <a:srgbClr val="BE1E2D"/>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9" name="Rounded Rectangle 528"/>
          <p:cNvSpPr/>
          <p:nvPr/>
        </p:nvSpPr>
        <p:spPr>
          <a:xfrm>
            <a:off x="457200" y="4113000"/>
            <a:ext cx="5000000" cy="500000"/>
          </a:xfrm>
          <a:prstGeom prst="roundRect">
            <a:avLst>
              <a:gd name="adj" fmla="val 12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tIns="30000" rIns="60000" bIns="30000"/>
          <a:lstStyle/>
          <a:p>
            <a:pPr algn="ctr"/>
            <a:r>
              <a:rPr sz="1500" b="1">
                <a:solidFill>
                  <a:srgbClr val="0B2E63"/>
                </a:solidFill>
                <a:latin typeface="Calibri"/>
              </a:rPr>
              <a:t>Predictions and scores</a:t>
            </a:r>
          </a:p>
          <a:p>
            <a:pPr algn="ctr"/>
            <a:r>
              <a:rPr sz="1100" b="0">
                <a:solidFill>
                  <a:srgbClr val="6B7280"/>
                </a:solidFill>
                <a:latin typeface="Calibri"/>
              </a:rPr>
              <a:t>predicted labels, model outputs</a:t>
            </a:r>
          </a:p>
        </p:txBody>
      </p:sp>
      <p:cxnSp>
        <p:nvCxnSpPr>
          <p:cNvPr id="530" name="Connector 529"/>
          <p:cNvCxnSpPr/>
          <p:nvPr/>
        </p:nvCxnSpPr>
        <p:spPr>
          <a:xfrm>
            <a:off x="2957200" y="3953000"/>
            <a:ext cx="0" cy="145000"/>
          </a:xfrm>
          <a:prstGeom prst="line">
            <a:avLst/>
          </a:prstGeom>
          <a:ln w="25400">
            <a:solidFill>
              <a:srgbClr val="BE1E2D"/>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1" name="Rounded Rectangle 530"/>
          <p:cNvSpPr/>
          <p:nvPr/>
        </p:nvSpPr>
        <p:spPr>
          <a:xfrm>
            <a:off x="457200" y="4788000"/>
            <a:ext cx="5000000" cy="500000"/>
          </a:xfrm>
          <a:prstGeom prst="roundRect">
            <a:avLst>
              <a:gd name="adj" fmla="val 12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tIns="30000" rIns="60000" bIns="30000"/>
          <a:lstStyle/>
          <a:p>
            <a:pPr algn="ctr"/>
            <a:r>
              <a:rPr sz="1500" b="1">
                <a:solidFill>
                  <a:srgbClr val="0B2E63"/>
                </a:solidFill>
                <a:latin typeface="Calibri"/>
              </a:rPr>
              <a:t>Common evaluation layer</a:t>
            </a:r>
          </a:p>
          <a:p>
            <a:pPr algn="ctr"/>
            <a:r>
              <a:rPr sz="1100" b="0">
                <a:solidFill>
                  <a:srgbClr val="6B7280"/>
                </a:solidFill>
                <a:latin typeface="Calibri"/>
              </a:rPr>
              <a:t>Macro-F1, repository-level summaries</a:t>
            </a:r>
          </a:p>
        </p:txBody>
      </p:sp>
      <p:cxnSp>
        <p:nvCxnSpPr>
          <p:cNvPr id="532" name="Connector 531"/>
          <p:cNvCxnSpPr/>
          <p:nvPr/>
        </p:nvCxnSpPr>
        <p:spPr>
          <a:xfrm>
            <a:off x="2957200" y="4628000"/>
            <a:ext cx="0" cy="145000"/>
          </a:xfrm>
          <a:prstGeom prst="line">
            <a:avLst/>
          </a:prstGeom>
          <a:ln w="25400">
            <a:solidFill>
              <a:srgbClr val="BE1E2D"/>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3" name="Rounded Rectangle 532"/>
          <p:cNvSpPr/>
          <p:nvPr/>
        </p:nvSpPr>
        <p:spPr>
          <a:xfrm>
            <a:off x="457200" y="5463000"/>
            <a:ext cx="5000000" cy="500000"/>
          </a:xfrm>
          <a:prstGeom prst="roundRect">
            <a:avLst>
              <a:gd name="adj" fmla="val 12000"/>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tIns="30000" rIns="60000" bIns="30000"/>
          <a:lstStyle/>
          <a:p>
            <a:pPr algn="ctr"/>
            <a:r>
              <a:rPr sz="1500" b="1">
                <a:solidFill>
                  <a:srgbClr val="FFFFFF"/>
                </a:solidFill>
                <a:latin typeface="Calibri"/>
              </a:rPr>
              <a:t>Structured result artifacts</a:t>
            </a:r>
          </a:p>
          <a:p>
            <a:pPr algn="ctr"/>
            <a:r>
              <a:rPr sz="1100" b="0">
                <a:solidFill>
                  <a:srgbClr val="DDE5F2"/>
                </a:solidFill>
                <a:latin typeface="Calibri"/>
              </a:rPr>
              <a:t>configuration, metrics, resources</a:t>
            </a:r>
          </a:p>
        </p:txBody>
      </p:sp>
      <p:cxnSp>
        <p:nvCxnSpPr>
          <p:cNvPr id="534" name="Connector 533"/>
          <p:cNvCxnSpPr/>
          <p:nvPr/>
        </p:nvCxnSpPr>
        <p:spPr>
          <a:xfrm>
            <a:off x="2957200" y="5303000"/>
            <a:ext cx="0" cy="145000"/>
          </a:xfrm>
          <a:prstGeom prst="line">
            <a:avLst/>
          </a:prstGeom>
          <a:ln w="25400">
            <a:solidFill>
              <a:srgbClr val="BE1E2D"/>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5"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120"/>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950" name="Section I."/>
          <p:cNvSpPr/>
          <p:nvPr/>
        </p:nvSpPr>
        <p:spPr>
          <a:xfrm>
            <a:off x="4553712" y="118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Problem and project objectives</a:t>
            </a:r>
          </a:p>
        </p:txBody>
      </p:sp>
      <p:sp>
        <p:nvSpPr>
          <p:cNvPr id="951" name="Section II."/>
          <p:cNvSpPr/>
          <p:nvPr/>
        </p:nvSpPr>
        <p:spPr>
          <a:xfrm>
            <a:off x="4553712" y="216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NLBSE'24 data and its challenges</a:t>
            </a:r>
          </a:p>
        </p:txBody>
      </p:sp>
      <p:sp>
        <p:nvSpPr>
          <p:cNvPr id="952" name="Section III."/>
          <p:cNvSpPr/>
          <p:nvPr/>
        </p:nvSpPr>
        <p:spPr>
          <a:xfrm>
            <a:off x="4553712" y="314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Model families, background, evaluation protocols, pipeline</a:t>
            </a:r>
          </a:p>
        </p:txBody>
      </p:sp>
      <p:sp>
        <p:nvSpPr>
          <p:cNvPr id="953" name="Section IV."/>
          <p:cNvSpPr/>
          <p:nvPr/>
        </p:nvSpPr>
        <p:spPr>
          <a:xfrm>
            <a:off x="4553712" y="4128720"/>
            <a:ext cx="7223760" cy="860000"/>
          </a:xfrm>
          <a:prstGeom prst="roundRect">
            <a:avLst>
              <a:gd name="adj" fmla="val 12000"/>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BE1E2D"/>
                </a:solidFill>
                <a:latin typeface="Calibri"/>
                <a:ea typeface="Calibri"/>
                <a:cs typeface="Calibri"/>
                <a:sym typeface="Calibri"/>
              </a:rPr>
              <a:t>IV.  </a:t>
            </a:r>
            <a:r>
              <a:rPr b="1" i="0" lang="en-US" sz="2200" u="none" cap="none" strike="noStrike">
                <a:solidFill>
                  <a:srgbClr val="0B2E63"/>
                </a:solidFill>
                <a:latin typeface="Calibri"/>
                <a:ea typeface="Calibri"/>
                <a:cs typeface="Calibri"/>
                <a:sym typeface="Calibri"/>
              </a:rPr>
              <a:t>Experiments &amp; Results</a:t>
            </a:r>
          </a:p>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Baseline, lightweight models, RoBERTa, SetFit, comparison</a:t>
            </a:r>
          </a:p>
        </p:txBody>
      </p:sp>
      <p:sp>
        <p:nvSpPr>
          <p:cNvPr id="954" name="Section V."/>
          <p:cNvSpPr/>
          <p:nvPr/>
        </p:nvSpPr>
        <p:spPr>
          <a:xfrm>
            <a:off x="4553712" y="510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Key findings, limitations, future work</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115"/>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Baseline: TF-IDF + Logistic Regression</a:t>
            </a:r>
            <a:endParaRPr b="0" i="0" sz="1800" u="none" cap="none" strike="noStrike">
              <a:solidFill>
                <a:srgbClr val="000000"/>
              </a:solidFill>
              <a:latin typeface="Calibri"/>
              <a:ea typeface="Calibri"/>
              <a:cs typeface="Calibri"/>
              <a:sym typeface="Calibri"/>
            </a:endParaRPr>
          </a:p>
        </p:txBody>
      </p:sp>
      <p:pic>
        <p:nvPicPr>
          <p:cNvPr id="528" name="Picture 527" descr="Bar chart: Macro-F1 of TF-IDF + Logistic Regression with title+body vs title only, under CV and LOO"/>
          <p:cNvPicPr>
            <a:picLocks noChangeAspect="1"/>
          </p:cNvPicPr>
          <p:nvPr/>
        </p:nvPicPr>
        <p:blipFill>
          <a:blip r:embed="rId4"/>
          <a:stretch>
            <a:fillRect/>
          </a:stretch>
        </p:blipFill>
        <p:spPr>
          <a:xfrm>
            <a:off x="537168" y="1188720"/>
            <a:ext cx="6423743" cy="4663440"/>
          </a:xfrm>
          <a:prstGeom prst="rect">
            <a:avLst/>
          </a:prstGeom>
        </p:spPr>
      </p:pic>
      <p:sp>
        <p:nvSpPr>
          <p:cNvPr id="525" name="Google Shape;525;p115"/>
          <p:cNvSpPr/>
          <p:nvPr/>
        </p:nvSpPr>
        <p:spPr>
          <a:xfrm>
            <a:off x="7406640" y="1280160"/>
            <a:ext cx="434340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3200" u="none" cap="none" strike="noStrike">
                <a:solidFill>
                  <a:srgbClr val="BE1E2D"/>
                </a:solidFill>
                <a:latin typeface="Calibri"/>
                <a:ea typeface="Calibri"/>
                <a:cs typeface="Calibri"/>
                <a:sym typeface="Calibri"/>
              </a:rPr>
              <a:t>+0.0801</a:t>
            </a:r>
            <a:endParaRPr/>
          </a:p>
          <a:p>
            <a:pPr indent="0" lvl="0" marL="0" marR="0" rtl="0" algn="l">
              <a:lnSpc>
                <a:spcPct val="100000"/>
              </a:lnSpc>
              <a:spcBef>
                <a:spcPts val="200"/>
              </a:spcBef>
              <a:spcAft>
                <a:spcPts val="0"/>
              </a:spcAft>
              <a:buNone/>
            </a:pPr>
            <a:r>
              <a:rPr b="0" i="0" lang="en-US" sz="1300" u="none" cap="none" strike="noStrike">
                <a:solidFill>
                  <a:srgbClr val="1F2937"/>
                </a:solidFill>
                <a:latin typeface="Calibri"/>
                <a:ea typeface="Calibri"/>
                <a:cs typeface="Calibri"/>
                <a:sym typeface="Calibri"/>
              </a:rPr>
              <a:t>Title + body vs title only (LOO), paired bootstrap 95% CI [0.0484, 0.1120]</a:t>
            </a:r>
            <a:endParaRPr/>
          </a:p>
        </p:txBody>
      </p:sp>
      <p:sp>
        <p:nvSpPr>
          <p:cNvPr id="526" name="Google Shape;526;p115"/>
          <p:cNvSpPr/>
          <p:nvPr/>
        </p:nvSpPr>
        <p:spPr>
          <a:xfrm>
            <a:off x="7406640" y="2834640"/>
            <a:ext cx="434340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3200" u="none" cap="none" strike="noStrike">
                <a:solidFill>
                  <a:srgbClr val="BE1E2D"/>
                </a:solidFill>
                <a:latin typeface="Calibri"/>
                <a:ea typeface="Calibri"/>
                <a:cs typeface="Calibri"/>
                <a:sym typeface="Calibri"/>
              </a:rPr>
              <a:t>0.7636 → 0.5876</a:t>
            </a:r>
            <a:endParaRPr/>
          </a:p>
          <a:p>
            <a:pPr indent="0" lvl="0" marL="0" marR="0" rtl="0" algn="l">
              <a:lnSpc>
                <a:spcPct val="100000"/>
              </a:lnSpc>
              <a:spcBef>
                <a:spcPts val="200"/>
              </a:spcBef>
              <a:spcAft>
                <a:spcPts val="0"/>
              </a:spcAft>
              <a:buNone/>
            </a:pPr>
            <a:r>
              <a:rPr b="0" i="0" lang="en-US" sz="1300" u="none" cap="none" strike="noStrike">
                <a:solidFill>
                  <a:srgbClr val="1F2937"/>
                </a:solidFill>
                <a:latin typeface="Calibri"/>
                <a:ea typeface="Calibri"/>
                <a:cs typeface="Calibri"/>
                <a:sym typeface="Calibri"/>
              </a:rPr>
              <a:t>CV → LOO: unseen repositories are much harder (training data also changes)</a:t>
            </a:r>
            <a:endParaRPr/>
          </a:p>
        </p:txBody>
      </p:sp>
      <p:sp>
        <p:nvSpPr>
          <p:cNvPr id="527" name="Google Shape;527;p115"/>
          <p:cNvSpPr txBox="1"/>
          <p:nvPr/>
        </p:nvSpPr>
        <p:spPr>
          <a:xfrm>
            <a:off x="7406640" y="4389120"/>
            <a:ext cx="4343400" cy="14630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Word 1–2 gram, min_df 2, 50,000 features, C = 4</a:t>
            </a:r>
            <a:endParaRPr/>
          </a:p>
          <a:p>
            <a:pPr indent="-285750" lvl="0" marL="285750" marR="0" rtl="0" algn="l">
              <a:lnSpc>
                <a:spcPct val="100000"/>
              </a:lnSpc>
              <a:spcBef>
                <a:spcPts val="60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Title-only is an ablation that removes the body</a:t>
            </a:r>
            <a:endParaRPr/>
          </a:p>
          <a:p>
            <a:pPr indent="-285750" lvl="0" marL="285750" marR="0" rtl="0" algn="l">
              <a:lnSpc>
                <a:spcPct val="100000"/>
              </a:lnSpc>
              <a:spcBef>
                <a:spcPts val="60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CI uses fixed predictions: excludes training variability and new-repository uncertainty</a:t>
            </a:r>
            <a:endParaRPr/>
          </a:p>
        </p:txBody>
      </p:sp>
      <p:sp>
        <p:nvSpPr>
          <p:cNvPr id="529"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sp>
        <p:nvSpPr>
          <p:cNvPr id="532" name="Google Shape;532;p116"/>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Lightweight Models</a:t>
            </a:r>
            <a:endParaRPr b="0" i="0" sz="1800" u="none" cap="none" strike="noStrike">
              <a:solidFill>
                <a:srgbClr val="000000"/>
              </a:solidFill>
              <a:latin typeface="Calibri"/>
              <a:ea typeface="Calibri"/>
              <a:cs typeface="Calibri"/>
              <a:sym typeface="Calibri"/>
            </a:endParaRPr>
          </a:p>
        </p:txBody>
      </p:sp>
      <p:graphicFrame>
        <p:nvGraphicFramePr>
          <p:cNvPr id="533" name="Google Shape;533;p116"/>
          <p:cNvGraphicFramePr/>
          <p:nvPr/>
        </p:nvGraphicFramePr>
        <p:xfrm>
          <a:off x="457200" y="1280160"/>
          <a:ext cx="3000000" cy="3000000"/>
        </p:xfrm>
        <a:graphic>
          <a:graphicData uri="http://schemas.openxmlformats.org/drawingml/2006/table">
            <a:tbl>
              <a:tblPr bandRow="1" firstRow="1">
                <a:noFill/>
                <a:tableStyleId>{20C0CC1B-E2D0-43D2-8BB6-4390CF16C671}</a:tableStyleId>
              </a:tblPr>
              <a:tblGrid>
                <a:gridCol w="2926075"/>
                <a:gridCol w="1280150"/>
                <a:gridCol w="1280150"/>
                <a:gridCol w="1280150"/>
              </a:tblGrid>
              <a:tr h="640075">
                <a:tc>
                  <a:txBody>
                    <a:bodyPr/>
                    <a:lstStyle/>
                    <a:p>
                      <a:pPr indent="0" lvl="0" marL="0" marR="0" rtl="0" algn="l">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Model</a:t>
                      </a:r>
                      <a:endParaRPr/>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CV</a:t>
                      </a:r>
                      <a:endParaRPr/>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LOO</a:t>
                      </a:r>
                      <a:endParaRPr/>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Official</a:t>
                      </a:r>
                      <a:endParaRPr/>
                    </a:p>
                  </a:txBody>
                  <a:tcPr marT="45725" marB="45725" marR="91450" marL="91450" anchor="ctr">
                    <a:solidFill>
                      <a:srgbClr val="0B2E63"/>
                    </a:solidFill>
                  </a:tcPr>
                </a:tc>
              </a:tr>
              <a:tr h="640075">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Word LinearSVC</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1" i="0" lang="en-US" sz="1500" u="none" cap="none" strike="noStrike">
                          <a:solidFill>
                            <a:srgbClr val="BE1E2D"/>
                          </a:solidFill>
                          <a:latin typeface="Calibri"/>
                          <a:ea typeface="Calibri"/>
                          <a:cs typeface="Calibri"/>
                          <a:sym typeface="Calibri"/>
                        </a:rPr>
                        <a:t>0.7541</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0.5898</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0.7498</a:t>
                      </a:r>
                      <a:endParaRPr/>
                    </a:p>
                  </a:txBody>
                  <a:tcPr marT="45725" marB="45725" marR="91450" marL="91450" anchor="ctr">
                    <a:solidFill>
                      <a:srgbClr val="EEF2F8"/>
                    </a:solidFill>
                  </a:tcPr>
                </a:tc>
              </a:tr>
              <a:tr h="640075">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Word + Char LinearSVC</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0.7533</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0.6003</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1" i="0" lang="en-US" sz="1500" u="none" cap="none" strike="noStrike">
                          <a:solidFill>
                            <a:srgbClr val="BE1E2D"/>
                          </a:solidFill>
                          <a:latin typeface="Calibri"/>
                          <a:ea typeface="Calibri"/>
                          <a:cs typeface="Calibri"/>
                          <a:sym typeface="Calibri"/>
                        </a:rPr>
                        <a:t>0.7591</a:t>
                      </a:r>
                      <a:endParaRPr/>
                    </a:p>
                  </a:txBody>
                  <a:tcPr marT="45725" marB="45725" marR="91450" marL="91450" anchor="ctr">
                    <a:solidFill>
                      <a:srgbClr val="FFFFFF"/>
                    </a:solidFill>
                  </a:tcPr>
                </a:tc>
              </a:tr>
              <a:tr h="640075">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Hashed SGD</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0.7030</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1" i="0" lang="en-US" sz="1500" u="none" cap="none" strike="noStrike">
                          <a:solidFill>
                            <a:srgbClr val="BE1E2D"/>
                          </a:solidFill>
                          <a:latin typeface="Calibri"/>
                          <a:ea typeface="Calibri"/>
                          <a:cs typeface="Calibri"/>
                          <a:sym typeface="Calibri"/>
                        </a:rPr>
                        <a:t>0.6152</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0.7322</a:t>
                      </a:r>
                      <a:endParaRPr/>
                    </a:p>
                  </a:txBody>
                  <a:tcPr marT="45725" marB="45725" marR="91450" marL="91450" anchor="ctr">
                    <a:solidFill>
                      <a:srgbClr val="EEF2F8"/>
                    </a:solidFill>
                  </a:tcPr>
                </a:tc>
              </a:tr>
              <a:tr h="640075">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Supervised fastText</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0.7089</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0.5384</a:t>
                      </a:r>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0.6896</a:t>
                      </a:r>
                      <a:endParaRPr/>
                    </a:p>
                  </a:txBody>
                  <a:tcPr marT="45725" marB="45725" marR="91450" marL="91450" anchor="ctr">
                    <a:solidFill>
                      <a:srgbClr val="FFFFFF"/>
                    </a:solidFill>
                  </a:tcPr>
                </a:tc>
              </a:tr>
              <a:tr h="640075">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Complement NB</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0.7054</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0.4904</a:t>
                      </a:r>
                      <a:endParaRPr/>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None/>
                      </a:pPr>
                      <a:r>
                        <a:rPr b="0" i="0" lang="en-US" sz="1500" u="none" cap="none" strike="noStrike">
                          <a:solidFill>
                            <a:srgbClr val="1F2937"/>
                          </a:solidFill>
                          <a:latin typeface="Calibri"/>
                          <a:ea typeface="Calibri"/>
                          <a:cs typeface="Calibri"/>
                          <a:sym typeface="Calibri"/>
                        </a:rPr>
                        <a:t>0.7108</a:t>
                      </a:r>
                      <a:endParaRPr/>
                    </a:p>
                  </a:txBody>
                  <a:tcPr marT="45725" marB="45725" marR="91450" marL="91450" anchor="ctr">
                    <a:solidFill>
                      <a:srgbClr val="EEF2F8"/>
                    </a:solidFill>
                  </a:tcPr>
                </a:tc>
              </a:tr>
            </a:tbl>
          </a:graphicData>
        </a:graphic>
      </p:graphicFrame>
      <p:sp>
        <p:nvSpPr>
          <p:cNvPr id="534" name="Google Shape;534;p116"/>
          <p:cNvSpPr txBox="1"/>
          <p:nvPr/>
        </p:nvSpPr>
        <p:spPr>
          <a:xfrm>
            <a:off x="7589520" y="1280160"/>
            <a:ext cx="4206240" cy="45720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Word+Char beats Word-only on LOO and Official, but needs ~8.5× the fitting time and ~11.5× the inference time</a:t>
            </a:r>
            <a:endParaRPr/>
          </a:p>
          <a:p>
            <a:pPr indent="-285750" lvl="0" marL="285750" marR="0" rtl="0" algn="l">
              <a:lnSpc>
                <a:spcPct val="100000"/>
              </a:lnSpc>
              <a:spcBef>
                <a:spcPts val="12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Hashed SGD has the highest LOO score (0.6152) despite a CV score of only 0.7030</a:t>
            </a:r>
            <a:endParaRPr/>
          </a:p>
          <a:p>
            <a:pPr indent="-285750" lvl="0" marL="285750" marR="0" rtl="0" algn="l">
              <a:lnSpc>
                <a:spcPct val="100000"/>
              </a:lnSpc>
              <a:spcBef>
                <a:spcPts val="12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Model ranking changes across protocols; each score must be reported with its protocol</a:t>
            </a:r>
            <a:endParaRPr/>
          </a:p>
        </p:txBody>
      </p:sp>
      <p:sp>
        <p:nvSpPr>
          <p:cNvPr id="535" name="Rectangle 534"/>
          <p:cNvSpPr/>
          <p:nvPr/>
        </p:nvSpPr>
        <p:spPr>
          <a:xfrm>
            <a:off x="457200" y="5230610"/>
            <a:ext cx="6800000" cy="3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l"/>
            <a:r>
              <a:rPr sz="1200" b="0">
                <a:solidFill>
                  <a:srgbClr val="6B7280"/>
                </a:solidFill>
                <a:latin typeface="Calibri"/>
              </a:rPr>
              <a:t>Bold red = best in column (Macro-F1, seed 42)</a:t>
            </a:r>
          </a:p>
        </p:txBody>
      </p:sp>
      <p:sp>
        <p:nvSpPr>
          <p:cNvPr id="536"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sp>
        <p:nvSpPr>
          <p:cNvPr id="539" name="Google Shape;539;p11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RoBERTa: Full fine-tuning vs LoRA</a:t>
            </a:r>
            <a:endParaRPr b="0" i="0" sz="1800" u="none" cap="none" strike="noStrike">
              <a:solidFill>
                <a:srgbClr val="000000"/>
              </a:solidFill>
              <a:latin typeface="Calibri"/>
              <a:ea typeface="Calibri"/>
              <a:cs typeface="Calibri"/>
              <a:sym typeface="Calibri"/>
            </a:endParaRPr>
          </a:p>
        </p:txBody>
      </p:sp>
      <p:pic>
        <p:nvPicPr>
          <p:cNvPr id="542" name="Picture 541" descr="Dot plot: Macro-F1 by repository for RoBERTa full fine-tuning vs LoRA"/>
          <p:cNvPicPr>
            <a:picLocks noChangeAspect="1"/>
          </p:cNvPicPr>
          <p:nvPr/>
        </p:nvPicPr>
        <p:blipFill>
          <a:blip r:embed="rId4"/>
          <a:stretch>
            <a:fillRect/>
          </a:stretch>
        </p:blipFill>
        <p:spPr>
          <a:xfrm>
            <a:off x="457200" y="1228622"/>
            <a:ext cx="7315200" cy="4583635"/>
          </a:xfrm>
          <a:prstGeom prst="rect">
            <a:avLst/>
          </a:prstGeom>
        </p:spPr>
      </p:pic>
      <p:sp>
        <p:nvSpPr>
          <p:cNvPr id="541" name="Google Shape;541;p117"/>
          <p:cNvSpPr txBox="1"/>
          <p:nvPr/>
        </p:nvSpPr>
        <p:spPr>
          <a:xfrm>
            <a:off x="8046720" y="1280160"/>
            <a:ext cx="3749039" cy="45720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Repo-specific CV mean: Full 0.7853, LoRA 0.7800 (LoRA − Full = −0.0052)</a:t>
            </a:r>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LoRA − Full by repository: React +0.0240, VS Code +0.0155, TensorFlow −0.0550</a:t>
            </a:r>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Pooled CV (reported separately): Full 0.7924, LoRA 0.7994</a:t>
            </a:r>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The two training recipes differ, so the difference cannot be attributed solely to the adapter mechanism</a:t>
            </a:r>
            <a:endParaRPr/>
          </a:p>
        </p:txBody>
      </p:sp>
      <p:sp>
        <p:nvSpPr>
          <p:cNvPr id="543"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sp>
        <p:nvSpPr>
          <p:cNvPr id="546" name="Google Shape;546;p118"/>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SetFit: Data Size and Contrastive Iterations</a:t>
            </a:r>
            <a:endParaRPr b="0" i="0" sz="1800" u="none" cap="none" strike="noStrike">
              <a:solidFill>
                <a:srgbClr val="000000"/>
              </a:solidFill>
              <a:latin typeface="Calibri"/>
              <a:ea typeface="Calibri"/>
              <a:cs typeface="Calibri"/>
              <a:sym typeface="Calibri"/>
            </a:endParaRPr>
          </a:p>
        </p:txBody>
      </p:sp>
      <p:pic>
        <p:nvPicPr>
          <p:cNvPr id="550" name="Picture 549" descr="Line chart: SetFit MPNet Macro-F1 by samples per class"/>
          <p:cNvPicPr>
            <a:picLocks noChangeAspect="1"/>
          </p:cNvPicPr>
          <p:nvPr/>
        </p:nvPicPr>
        <p:blipFill>
          <a:blip r:embed="rId5"/>
          <a:stretch>
            <a:fillRect/>
          </a:stretch>
        </p:blipFill>
        <p:spPr>
          <a:xfrm>
            <a:off x="514662" y="1188720"/>
            <a:ext cx="5462915" cy="3566160"/>
          </a:xfrm>
          <a:prstGeom prst="rect">
            <a:avLst/>
          </a:prstGeom>
        </p:spPr>
      </p:pic>
      <p:pic>
        <p:nvPicPr>
          <p:cNvPr id="551" name="Picture 550" descr="Bar chart: SetFit MPNet fit time by contrastive iterations"/>
          <p:cNvPicPr>
            <a:picLocks noChangeAspect="1"/>
          </p:cNvPicPr>
          <p:nvPr/>
        </p:nvPicPr>
        <p:blipFill>
          <a:blip r:embed="rId6"/>
          <a:stretch>
            <a:fillRect/>
          </a:stretch>
        </p:blipFill>
        <p:spPr>
          <a:xfrm>
            <a:off x="6424699" y="1188720"/>
            <a:ext cx="5118561" cy="3566160"/>
          </a:xfrm>
          <a:prstGeom prst="rect">
            <a:avLst/>
          </a:prstGeom>
        </p:spPr>
      </p:pic>
      <p:sp>
        <p:nvSpPr>
          <p:cNvPr id="549" name="Google Shape;549;p118"/>
          <p:cNvSpPr txBox="1"/>
          <p:nvPr/>
        </p:nvSpPr>
        <p:spPr>
          <a:xfrm>
            <a:off x="457200" y="4892040"/>
            <a:ext cx="11292840" cy="10972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MPNet reaches 0.7953 vs MiniLM 0.7881, but MiniLM fits faster: 55.1 s vs 145.4 s (mean per run)</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Fewer labeled samples clearly reduce performance; 5 iterations are nearly as good as 80 (0.7976 vs 0.7970) at ~12× lower fit time</a:t>
            </a:r>
            <a:endParaRPr/>
          </a:p>
        </p:txBody>
      </p:sp>
      <p:sp>
        <p:nvSpPr>
          <p:cNvPr id="552"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3" name="Shape 553"/>
        <p:cNvGrpSpPr/>
        <p:nvPr/>
      </p:nvGrpSpPr>
      <p:grpSpPr>
        <a:xfrm>
          <a:off x="0" y="0"/>
          <a:ext cx="0" cy="0"/>
          <a:chOff x="0" y="0"/>
          <a:chExt cx="0" cy="0"/>
        </a:xfrm>
      </p:grpSpPr>
      <p:sp>
        <p:nvSpPr>
          <p:cNvPr id="554" name="Google Shape;554;p119"/>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Overall Comparison (repo-specific CV)</a:t>
            </a:r>
            <a:endParaRPr b="0" i="0" sz="1800" u="none" cap="none" strike="noStrike">
              <a:solidFill>
                <a:srgbClr val="000000"/>
              </a:solidFill>
              <a:latin typeface="Calibri"/>
              <a:ea typeface="Calibri"/>
              <a:cs typeface="Calibri"/>
              <a:sym typeface="Calibri"/>
            </a:endParaRPr>
          </a:p>
        </p:txBody>
      </p:sp>
      <p:pic>
        <p:nvPicPr>
          <p:cNvPr id="559" name="Picture 558" descr="Dot plot: repo-specific CV Macro-F1 of the main models and the LR+MPNet hard vote"/>
          <p:cNvPicPr>
            <a:picLocks noChangeAspect="1"/>
          </p:cNvPicPr>
          <p:nvPr/>
        </p:nvPicPr>
        <p:blipFill>
          <a:blip r:embed="rId4"/>
          <a:stretch>
            <a:fillRect/>
          </a:stretch>
        </p:blipFill>
        <p:spPr>
          <a:xfrm>
            <a:off x="457200" y="1494899"/>
            <a:ext cx="6949440" cy="4051082"/>
          </a:xfrm>
          <a:prstGeom prst="rect">
            <a:avLst/>
          </a:prstGeom>
        </p:spPr>
      </p:pic>
      <p:sp>
        <p:nvSpPr>
          <p:cNvPr id="556" name="Google Shape;556;p119"/>
          <p:cNvSpPr/>
          <p:nvPr/>
        </p:nvSpPr>
        <p:spPr>
          <a:xfrm>
            <a:off x="7772400" y="1280160"/>
            <a:ext cx="3977639"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3200" u="none" cap="none" strike="noStrike">
                <a:solidFill>
                  <a:srgbClr val="BE1E2D"/>
                </a:solidFill>
                <a:latin typeface="Calibri"/>
                <a:ea typeface="Calibri"/>
                <a:cs typeface="Calibri"/>
                <a:sym typeface="Calibri"/>
              </a:rPr>
              <a:t>+0.0317</a:t>
            </a:r>
            <a:endParaRPr/>
          </a:p>
          <a:p>
            <a:pPr indent="0" lvl="0" marL="0" marR="0" rtl="0" algn="l">
              <a:lnSpc>
                <a:spcPct val="100000"/>
              </a:lnSpc>
              <a:spcBef>
                <a:spcPts val="200"/>
              </a:spcBef>
              <a:spcAft>
                <a:spcPts val="0"/>
              </a:spcAft>
              <a:buNone/>
            </a:pPr>
            <a:r>
              <a:rPr b="0" i="0" lang="en-US" sz="1300" u="none" cap="none" strike="noStrike">
                <a:solidFill>
                  <a:srgbClr val="1F2937"/>
                </a:solidFill>
                <a:latin typeface="Calibri"/>
                <a:ea typeface="Calibri"/>
                <a:cs typeface="Calibri"/>
                <a:sym typeface="Calibri"/>
              </a:rPr>
              <a:t>MPNet − LR, paired bootstrap 95% CI [0.0085, 0.0557]</a:t>
            </a:r>
            <a:endParaRPr/>
          </a:p>
        </p:txBody>
      </p:sp>
      <p:sp>
        <p:nvSpPr>
          <p:cNvPr id="557" name="Google Shape;557;p119"/>
          <p:cNvSpPr/>
          <p:nvPr/>
        </p:nvSpPr>
        <p:spPr>
          <a:xfrm>
            <a:off x="7772400" y="2743200"/>
            <a:ext cx="3977639"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None/>
            </a:pPr>
            <a:r>
              <a:rPr b="1" i="0" lang="en-US" sz="3200" u="none" cap="none" strike="noStrike">
                <a:solidFill>
                  <a:srgbClr val="BE1E2D"/>
                </a:solidFill>
                <a:latin typeface="Calibri"/>
                <a:ea typeface="Calibri"/>
                <a:cs typeface="Calibri"/>
                <a:sym typeface="Calibri"/>
              </a:rPr>
              <a:t>0.7885</a:t>
            </a:r>
            <a:endParaRPr/>
          </a:p>
          <a:p>
            <a:pPr indent="0" lvl="0" marL="0" marR="0" rtl="0" algn="l">
              <a:lnSpc>
                <a:spcPct val="100000"/>
              </a:lnSpc>
              <a:spcBef>
                <a:spcPts val="200"/>
              </a:spcBef>
              <a:spcAft>
                <a:spcPts val="0"/>
              </a:spcAft>
              <a:buNone/>
            </a:pPr>
            <a:r>
              <a:rPr b="0" i="0" lang="en-US" sz="1300" u="none" cap="none" strike="noStrike">
                <a:solidFill>
                  <a:srgbClr val="1F2937"/>
                </a:solidFill>
                <a:latin typeface="Calibri"/>
                <a:ea typeface="Calibri"/>
                <a:cs typeface="Calibri"/>
                <a:sym typeface="Calibri"/>
              </a:rPr>
              <a:t>Hard vote of LR + MPNet is below MPNet alone (0.7953)</a:t>
            </a:r>
            <a:endParaRPr/>
          </a:p>
        </p:txBody>
      </p:sp>
      <p:sp>
        <p:nvSpPr>
          <p:cNvPr id="558" name="Google Shape;558;p119"/>
          <p:cNvSpPr txBox="1"/>
          <p:nvPr/>
        </p:nvSpPr>
        <p:spPr>
          <a:xfrm>
            <a:off x="7772400" y="4206240"/>
            <a:ext cx="3977639" cy="164592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CIs condition on fixed predictions: no training variability, no new-repository uncertainty</a:t>
            </a:r>
            <a:endParaRPr/>
          </a:p>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Pooled CV is reported separately: LoRA 0.7994, Full 0.7924</a:t>
            </a:r>
            <a:endParaRPr/>
          </a:p>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Do not rank results across different protocols</a:t>
            </a:r>
            <a:endParaRPr/>
          </a:p>
        </p:txBody>
      </p:sp>
      <p:sp>
        <p:nvSpPr>
          <p:cNvPr id="560" name="Slide number"/>
          <p:cNvSpPr txBox="1"/>
          <p:nvPr/>
        </p:nvSpPr>
        <p:spPr>
          <a:xfrm>
            <a:off x="11050000" y="6470000"/>
            <a:ext cx="820000" cy="300000"/>
          </a:xfrm>
          <a:prstGeom prst="rect">
            <a:avLst/>
          </a:prstGeom>
          <a:noFill/>
        </p:spPr>
        <p:txBody>
          <a:bodyPr wrap="none">
            <a:spAutoFit/>
          </a:bodyPr>
          <a:lstStyle/>
          <a:p>
            <a:pPr algn="r"/>
            <a:fld id="{B6F15528-21DE-4FAA-801E-634DDDAF4B2B}" type="slidenum">
              <a:rPr lang="en-US" sz="1200">
                <a:solidFill>
                  <a:srgbClr val="6B7280"/>
                </a:solidFill>
                <a:latin typeface="Calibri"/>
              </a:rPr>
              <a:t>‹#›</a:t>
            </a:fld>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120"/>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960" name="Section I."/>
          <p:cNvSpPr/>
          <p:nvPr/>
        </p:nvSpPr>
        <p:spPr>
          <a:xfrm>
            <a:off x="4553712" y="118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Problem and project objectives</a:t>
            </a:r>
          </a:p>
        </p:txBody>
      </p:sp>
      <p:sp>
        <p:nvSpPr>
          <p:cNvPr id="961" name="Section II."/>
          <p:cNvSpPr/>
          <p:nvPr/>
        </p:nvSpPr>
        <p:spPr>
          <a:xfrm>
            <a:off x="4553712" y="216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NLBSE'24 data and its challenges</a:t>
            </a:r>
          </a:p>
        </p:txBody>
      </p:sp>
      <p:sp>
        <p:nvSpPr>
          <p:cNvPr id="962" name="Section III."/>
          <p:cNvSpPr/>
          <p:nvPr/>
        </p:nvSpPr>
        <p:spPr>
          <a:xfrm>
            <a:off x="4553712" y="314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Model families, background, evaluation protocols, pipeline</a:t>
            </a:r>
          </a:p>
        </p:txBody>
      </p:sp>
      <p:sp>
        <p:nvSpPr>
          <p:cNvPr id="963" name="Section IV."/>
          <p:cNvSpPr/>
          <p:nvPr/>
        </p:nvSpPr>
        <p:spPr>
          <a:xfrm>
            <a:off x="4553712" y="4128720"/>
            <a:ext cx="7223760" cy="860000"/>
          </a:xfrm>
          <a:prstGeom prst="roundRect">
            <a:avLst>
              <a:gd name="adj" fmla="val 12000"/>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p>
          <a:p>
            <a:pPr indent="0" lvl="0" marL="0" marR="0" rtl="0" algn="l">
              <a:lnSpc>
                <a:spcPct val="100000"/>
              </a:lnSpc>
              <a:spcBef>
                <a:spcPts val="0"/>
              </a:spcBef>
              <a:spcAft>
                <a:spcPts val="0"/>
              </a:spcAft>
              <a:buNone/>
            </a:pPr>
            <a:r>
              <a:rPr b="0" i="0" lang="en-US" sz="1400" u="none" cap="none" strike="noStrike">
                <a:solidFill>
                  <a:srgbClr val="6B7280"/>
                </a:solidFill>
                <a:latin typeface="Calibri"/>
                <a:ea typeface="Calibri"/>
                <a:cs typeface="Calibri"/>
                <a:sym typeface="Calibri"/>
              </a:rPr>
              <a:t>Baseline, lightweight models, RoBERTa, SetFit, comparison</a:t>
            </a:r>
          </a:p>
        </p:txBody>
      </p:sp>
      <p:sp>
        <p:nvSpPr>
          <p:cNvPr id="964" name="Section V."/>
          <p:cNvSpPr/>
          <p:nvPr/>
        </p:nvSpPr>
        <p:spPr>
          <a:xfrm>
            <a:off x="4553712" y="5108720"/>
            <a:ext cx="7223760" cy="860000"/>
          </a:xfrm>
          <a:prstGeom prst="roundRect">
            <a:avLst>
              <a:gd name="adj" fmla="val 12000"/>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None/>
            </a:pPr>
            <a:r>
              <a:rPr b="1" i="0" lang="en-US" sz="2200" u="none" cap="none" strike="noStrike">
                <a:solidFill>
                  <a:srgbClr val="BE1E2D"/>
                </a:solidFill>
                <a:latin typeface="Calibri"/>
                <a:ea typeface="Calibri"/>
                <a:cs typeface="Calibri"/>
                <a:sym typeface="Calibri"/>
              </a:rPr>
              <a:t>V.  </a:t>
            </a:r>
            <a:r>
              <a:rPr b="1" i="0" lang="en-US" sz="2200" u="none" cap="none" strike="noStrike">
                <a:solidFill>
                  <a:srgbClr val="0B2E63"/>
                </a:solidFill>
                <a:latin typeface="Calibri"/>
                <a:ea typeface="Calibri"/>
                <a:cs typeface="Calibri"/>
                <a:sym typeface="Calibri"/>
              </a:rPr>
              <a:t>Conclusion</a:t>
            </a:r>
          </a:p>
          <a:p>
            <a:pPr indent="0" lvl="0" marL="0" marR="0" rtl="0" algn="l">
              <a:lnSpc>
                <a:spcPct val="100000"/>
              </a:lnSpc>
              <a:spcBef>
                <a:spcPts val="0"/>
              </a:spcBef>
              <a:spcAft>
                <a:spcPts val="0"/>
              </a:spcAft>
              <a:buNone/>
            </a:pPr>
            <a:r>
              <a:rPr b="0" i="0" lang="en-US" sz="1400" u="none" cap="none" strike="noStrike">
                <a:solidFill>
                  <a:srgbClr val="1F2937"/>
                </a:solidFill>
                <a:latin typeface="Calibri"/>
                <a:ea typeface="Calibri"/>
                <a:cs typeface="Calibri"/>
                <a:sym typeface="Calibri"/>
              </a:rPr>
              <a:t>Key findings, limitations, future work</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120"/>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Conclusion</a:t>
            </a:r>
            <a:endParaRPr b="0" i="0" sz="1800" u="none" cap="none" strike="noStrike">
              <a:solidFill>
                <a:srgbClr val="000000"/>
              </a:solidFill>
              <a:latin typeface="Calibri"/>
              <a:ea typeface="Calibri"/>
              <a:cs typeface="Calibri"/>
              <a:sym typeface="Calibri"/>
            </a:endParaRPr>
          </a:p>
        </p:txBody>
      </p:sp>
      <p:sp>
        <p:nvSpPr>
          <p:cNvPr id="564" name="Google Shape;564;p120"/>
          <p:cNvSpPr txBox="1"/>
          <p:nvPr/>
        </p:nvSpPr>
        <p:spPr>
          <a:xfrm>
            <a:off x="4553712" y="1188720"/>
            <a:ext cx="7223760" cy="4754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0B2E63"/>
                </a:solidFill>
                <a:latin typeface="Calibri"/>
                <a:ea typeface="Calibri"/>
                <a:cs typeface="Calibri"/>
                <a:sym typeface="Calibri"/>
              </a:rPr>
              <a:t>Key Findings</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The body is more informative than the title; transfer to unseen repositories is difficult (LR: 0.7636 CV → 0.5876 LOO)</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Dense models achieve the strongest CV results (SetFit MPNet 0.7953 vs LR 0.7636), but the gains are moderate; sparse models remain suitable when simplicity and low cost matter</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A hard-vote ensemble of LR + MPNet (0.7885) does not outperform MPNet alone</a:t>
            </a:r>
            <a:endParaRPr/>
          </a:p>
          <a:p>
            <a:pPr indent="0" lvl="0" marL="0" marR="0" rtl="0" algn="l">
              <a:lnSpc>
                <a:spcPct val="100000"/>
              </a:lnSpc>
              <a:spcBef>
                <a:spcPts val="1000"/>
              </a:spcBef>
              <a:spcAft>
                <a:spcPts val="0"/>
              </a:spcAft>
              <a:buNone/>
            </a:pPr>
            <a:r>
              <a:rPr b="1" i="0" lang="en-US" sz="1900" u="none" cap="none" strike="noStrike">
                <a:solidFill>
                  <a:srgbClr val="0B2E63"/>
                </a:solidFill>
                <a:latin typeface="Calibri"/>
                <a:ea typeface="Calibri"/>
                <a:cs typeface="Calibri"/>
                <a:sym typeface="Calibri"/>
              </a:rPr>
              <a:t>Limitations</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Seed counts differ across model families, and configurations were selected on CV, so CV scores may be optimistic</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Hardware and measurement conditions are not documented, so cost results are descriptive, not a controlled Pareto comparison</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Protocol coverage is uneven: Official scores only for sparse models; LOO only for LR and sparse models; dense models compared under CV only</a:t>
            </a:r>
            <a:endParaRPr/>
          </a:p>
          <a:p>
            <a:pPr indent="0" lvl="0" marL="0" marR="0" rtl="0" algn="l">
              <a:lnSpc>
                <a:spcPct val="100000"/>
              </a:lnSpc>
              <a:spcBef>
                <a:spcPts val="1000"/>
              </a:spcBef>
              <a:spcAft>
                <a:spcPts val="0"/>
              </a:spcAft>
              <a:buNone/>
            </a:pPr>
            <a:r>
              <a:rPr b="1" i="0" lang="en-US" sz="1900" u="none" cap="none" strike="noStrike">
                <a:solidFill>
                  <a:srgbClr val="0B2E63"/>
                </a:solidFill>
                <a:latin typeface="Calibri"/>
                <a:ea typeface="Calibri"/>
                <a:cs typeface="Calibri"/>
                <a:sym typeface="Calibri"/>
              </a:rPr>
              <a:t>Future Work</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Evaluate more pretrained models under LOO with consistent repeated seeds</a:t>
            </a:r>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Benchmark cost on one documented hardware setup and extend class-level error analysis beyond Logistic Regression</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121"/>
          <p:cNvSpPr/>
          <p:nvPr/>
        </p:nvSpPr>
        <p:spPr>
          <a:xfrm>
            <a:off x="5756400" y="2824200"/>
            <a:ext cx="5136480" cy="970920"/>
          </a:xfrm>
          <a:prstGeom prst="rect">
            <a:avLst/>
          </a:prstGeom>
          <a:noFill/>
          <a:ln>
            <a:noFill/>
          </a:ln>
        </p:spPr>
        <p:txBody>
          <a:bodyPr anchorCtr="0" anchor="t" bIns="45000" lIns="90000" spcFirstLastPara="1" rIns="90000" wrap="square" tIns="45000">
            <a:noAutofit/>
          </a:bodyPr>
          <a:lstStyle/>
          <a:p>
            <a:pPr indent="0" lvl="0" marL="0" marR="0" rtl="0" algn="l">
              <a:lnSpc>
                <a:spcPct val="90000"/>
              </a:lnSpc>
              <a:spcBef>
                <a:spcPts val="0"/>
              </a:spcBef>
              <a:spcAft>
                <a:spcPts val="0"/>
              </a:spcAft>
              <a:buClr>
                <a:srgbClr val="000000"/>
              </a:buClr>
              <a:buSzPts val="6000"/>
              <a:buFont typeface="Arial"/>
              <a:buNone/>
            </a:pPr>
            <a:r>
              <a:rPr b="1" i="0" lang="en-US" sz="6000" u="none" cap="none" strike="noStrike">
                <a:solidFill>
                  <a:srgbClr val="C00000"/>
                </a:solidFill>
                <a:latin typeface="Lato"/>
                <a:ea typeface="Lato"/>
                <a:cs typeface="Lato"/>
                <a:sym typeface="Lato"/>
              </a:rPr>
              <a:t>THANK YOU !</a:t>
            </a:r>
            <a:endParaRPr b="0" i="0" sz="6000" u="none" cap="none" strike="noStrike">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3" name="Shape 573"/>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