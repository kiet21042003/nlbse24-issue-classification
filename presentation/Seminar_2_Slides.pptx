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44" r:id="rId4"/>
    <p:sldMasterId id="2147483745" r:id="rId5"/>
    <p:sldMasterId id="2147483746" r:id="rId6"/>
    <p:sldMasterId id="2147483747" r:id="rId7"/>
    <p:sldMasterId id="2147483748" r:id="rId8"/>
    <p:sldMasterId id="2147483749" r:id="rId9"/>
    <p:sldMasterId id="2147483750" r:id="rId10"/>
    <p:sldMasterId id="2147483751" r:id="rId11"/>
  </p:sldMasterIdLst>
  <p:notesMasterIdLst>
    <p:notesMasterId r:id="rId12"/>
  </p:notesMasterIdLst>
  <p:sldIdLst>
    <p:sldId id="256" r:id="rId13"/>
    <p:sldId id="276" r:id="rId37"/>
    <p:sldId id="277" r:id="rId38"/>
    <p:sldId id="257" r:id="rId14"/>
    <p:sldId id="258" r:id="rId15"/>
    <p:sldId id="278" r:id="rId39"/>
    <p:sldId id="259" r:id="rId16"/>
    <p:sldId id="260" r:id="rId17"/>
    <p:sldId id="279" r:id="rId40"/>
    <p:sldId id="261" r:id="rId18"/>
    <p:sldId id="262" r:id="rId19"/>
    <p:sldId id="263" r:id="rId20"/>
    <p:sldId id="264" r:id="rId21"/>
    <p:sldId id="265" r:id="rId22"/>
    <p:sldId id="280" r:id="rId41"/>
    <p:sldId id="266" r:id="rId23"/>
    <p:sldId id="267" r:id="rId24"/>
    <p:sldId id="268" r:id="rId25"/>
    <p:sldId id="269" r:id="rId26"/>
    <p:sldId id="270" r:id="rId27"/>
    <p:sldId id="281" r:id="rId42"/>
    <p:sldId id="271" r:id="rId28"/>
    <p:sldId id="272" r:id="rId29"/>
    <p:sldId id="273" r:id="rId30"/>
  </p:sldIdLst>
  <p:sldSz cy="6858000" cx="12192000"/>
  <p:notesSz cx="7559675" cy="10691800"/>
  <p:embeddedFontLst>
    <p:embeddedFont>
      <p:font typeface="Lato"/>
      <p:regular r:id="rId33"/>
      <p:bold r:id="rId34"/>
      <p:italic r:id="rId35"/>
      <p:boldItalic r:id="rId3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0C0CC1B-E2D0-43D2-8BB6-4390CF16C671}">
  <a:tblStyle styleId="{20C0CC1B-E2D0-43D2-8BB6-4390CF16C671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fill>
          <a:solidFill>
            <a:srgbClr val="CDD4EA"/>
          </a:solidFill>
        </a:fill>
      </a:tcStyle>
    </a:band1H>
    <a:band2H>
      <a:tcTxStyle/>
    </a:band2H>
    <a:band1V>
      <a:tcTxStyle/>
      <a:tcStyle>
        <a:fill>
          <a:solidFill>
            <a:srgbClr val="CDD4EA"/>
          </a:solidFill>
        </a:fill>
      </a:tcStyle>
    </a:band1V>
    <a:band2V>
      <a:tcTxStyle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7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1" Type="http://schemas.openxmlformats.org/officeDocument/2006/relationships/slideMaster" Target="slideMasters/slideMaster8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1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3" Type="http://schemas.openxmlformats.org/officeDocument/2006/relationships/font" Target="fonts/Lato-regular.fntdata"/><Relationship Id="rId34" Type="http://schemas.openxmlformats.org/officeDocument/2006/relationships/font" Target="fonts/Lato-bold.fntdata"/><Relationship Id="rId35" Type="http://schemas.openxmlformats.org/officeDocument/2006/relationships/font" Target="fonts/Lato-italic.fntdata"/><Relationship Id="rId36" Type="http://schemas.openxmlformats.org/officeDocument/2006/relationships/font" Target="fonts/Lato-boldItalic.fntdata"/><Relationship Id="rId37" Type="http://schemas.openxmlformats.org/officeDocument/2006/relationships/slide" Target="slides/slide2.xml"/><Relationship Id="rId38" Type="http://schemas.openxmlformats.org/officeDocument/2006/relationships/slide" Target="slides/slide3.xml"/><Relationship Id="rId39" Type="http://schemas.openxmlformats.org/officeDocument/2006/relationships/slide" Target="slides/slide6.xml"/><Relationship Id="rId40" Type="http://schemas.openxmlformats.org/officeDocument/2006/relationships/slide" Target="slides/slide9.xml"/><Relationship Id="rId41" Type="http://schemas.openxmlformats.org/officeDocument/2006/relationships/slide" Target="slides/slide15.xml"/><Relationship Id="rId42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1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17" name="Google Shape;417;p1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2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4" name="Google Shape;424;p2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7" name="Google Shape;437;p3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46" name="Google Shape;446;p4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5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55" name="Google Shape;455;p5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6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6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7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5" name="Google Shape;475;p7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8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9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9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10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10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11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1" name="Google Shape;521;p11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8" name="Shape 5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Google Shape;529;p12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0" name="Google Shape;530;p12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13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13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14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14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0" name="Shape 5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Google Shape;551;p15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15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16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1" name="Google Shape;561;p16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7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67" name="Google Shape;567;p17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8:notes"/>
          <p:cNvSpPr txBox="1"/>
          <p:nvPr>
            <p:ph idx="1" type="body"/>
          </p:nvPr>
        </p:nvSpPr>
        <p:spPr>
          <a:xfrm>
            <a:off x="755950" y="5078600"/>
            <a:ext cx="6047725" cy="48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572" name="Google Shape;572;p18:notes"/>
          <p:cNvSpPr/>
          <p:nvPr>
            <p:ph idx="2" type="sldImg"/>
          </p:nvPr>
        </p:nvSpPr>
        <p:spPr>
          <a:xfrm>
            <a:off x="1260175" y="801875"/>
            <a:ext cx="5040025" cy="40094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" name="Google Shape;11;p3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4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5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5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7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8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8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8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9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9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9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0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0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0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1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11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2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12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12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3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3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3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8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8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0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1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1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1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2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2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2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23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23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3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24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24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25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25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25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25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26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2" name="Google Shape;102;p26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26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26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26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26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29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3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30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9" name="Google Shape;119;p31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31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34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34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9" name="Google Shape;129;p34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3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35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35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35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36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36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36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3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37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37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6" name="Google Shape;146;p38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38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38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38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39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39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39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5" name="Google Shape;155;p39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39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7" name="Google Shape;157;p39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5" name="Google Shape;165;p42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4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8" name="Google Shape;168;p43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4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1" name="Google Shape;171;p44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44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6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47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0" name="Google Shape;180;p47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47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4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4" name="Google Shape;184;p48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5" name="Google Shape;185;p48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6" name="Google Shape;186;p48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4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49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49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p49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5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4" name="Google Shape;194;p50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5" name="Google Shape;195;p50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5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51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9" name="Google Shape;199;p51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51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51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4" name="Google Shape;204;p52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5" name="Google Shape;205;p52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6" name="Google Shape;206;p52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52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8" name="Google Shape;208;p52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9" name="Google Shape;209;p52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7" name="Google Shape;217;p55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5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0" name="Google Shape;220;p56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57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4" name="Google Shape;224;p57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5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59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6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1" name="Google Shape;231;p60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60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3" name="Google Shape;233;p60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6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6" name="Google Shape;236;p61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7" name="Google Shape;237;p61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8" name="Google Shape;238;p61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62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2" name="Google Shape;242;p62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3" name="Google Shape;243;p62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6" name="Google Shape;246;p63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7" name="Google Shape;247;p63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6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64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1" name="Google Shape;251;p64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2" name="Google Shape;252;p64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3" name="Google Shape;253;p64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6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6" name="Google Shape;256;p65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65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8" name="Google Shape;258;p65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9" name="Google Shape;259;p65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0" name="Google Shape;260;p65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1" name="Google Shape;261;p65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6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68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6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69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7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4" name="Google Shape;274;p70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5" name="Google Shape;275;p70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7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72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7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2" name="Google Shape;282;p73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3" name="Google Shape;283;p73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4" name="Google Shape;284;p73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7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7" name="Google Shape;287;p74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8" name="Google Shape;288;p74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9" name="Google Shape;289;p74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2" name="Google Shape;292;p75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3" name="Google Shape;293;p75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4" name="Google Shape;294;p75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7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7" name="Google Shape;297;p76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8" name="Google Shape;298;p76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7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1" name="Google Shape;301;p77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2" name="Google Shape;302;p77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3" name="Google Shape;303;p77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4" name="Google Shape;304;p77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7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7" name="Google Shape;307;p78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8" name="Google Shape;308;p78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9" name="Google Shape;309;p78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0" name="Google Shape;310;p78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1" name="Google Shape;311;p78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2" name="Google Shape;312;p78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8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9" name="Google Shape;319;p81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2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8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5" name="Google Shape;325;p83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6" name="Google Shape;326;p83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8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85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8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3" name="Google Shape;333;p86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4" name="Google Shape;334;p86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6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8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87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9" name="Google Shape;339;p87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0" name="Google Shape;340;p87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8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8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4" name="Google Shape;344;p88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5" name="Google Shape;345;p88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8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8" name="Google Shape;348;p89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89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9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2" name="Google Shape;352;p90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3" name="Google Shape;353;p90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4" name="Google Shape;354;p90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5" name="Google Shape;355;p90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9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8" name="Google Shape;358;p91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9" name="Google Shape;359;p91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0" name="Google Shape;360;p91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1" name="Google Shape;361;p91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2" name="Google Shape;362;p91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1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Slide" type="blank">
  <p:cSld name="BLANK"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x">
  <p:cSld name="TITLE_AND_BODY"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9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0" name="Google Shape;370;p94"/>
          <p:cNvSpPr txBox="1"/>
          <p:nvPr>
            <p:ph idx="1"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" type="obj">
  <p:cSld name="OBJECT"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95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3" name="Google Shape;373;p95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" type="twoObj">
  <p:cSld name="TWO_OBJECTS"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9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6" name="Google Shape;376;p96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7" name="Google Shape;377;p96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97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entered Text" type="objOnly">
  <p:cSld name="OBJECT_ONLY"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98"/>
          <p:cNvSpPr txBox="1"/>
          <p:nvPr>
            <p:ph idx="1"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and Content" type="twoObjAndObj">
  <p:cSld name="TWO_OBJECTS_AND_OBJECT"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9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4" name="Google Shape;384;p99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5" name="Google Shape;385;p99"/>
          <p:cNvSpPr txBox="1"/>
          <p:nvPr>
            <p:ph idx="2"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6" name="Google Shape;386;p99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Content and 2 Content" type="objAndTwoObj">
  <p:cSld name="OBJECT_AND_TWO_OBJECTS"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100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9" name="Google Shape;389;p100"/>
          <p:cNvSpPr txBox="1"/>
          <p:nvPr>
            <p:ph idx="1"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100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1" name="Google Shape;391;p100"/>
          <p:cNvSpPr txBox="1"/>
          <p:nvPr>
            <p:ph idx="3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2 Content over Content" type="twoObjOverTx">
  <p:cSld name="TWO_OBJECTS_OVER_TEXT"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10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4" name="Google Shape;394;p101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5" name="Google Shape;395;p101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6" name="Google Shape;396;p101"/>
          <p:cNvSpPr txBox="1"/>
          <p:nvPr>
            <p:ph idx="3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over Content" type="objOverTx">
  <p:cSld name="OBJECT_OVER_TEXT"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02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9" name="Google Shape;399;p102"/>
          <p:cNvSpPr txBox="1"/>
          <p:nvPr>
            <p:ph idx="1"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0" name="Google Shape;400;p102"/>
          <p:cNvSpPr txBox="1"/>
          <p:nvPr>
            <p:ph idx="2"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4 Content" type="fourObj">
  <p:cSld name="FOUR_OBJECTS"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03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3" name="Google Shape;403;p103"/>
          <p:cNvSpPr txBox="1"/>
          <p:nvPr>
            <p:ph idx="1"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4" name="Google Shape;404;p103"/>
          <p:cNvSpPr txBox="1"/>
          <p:nvPr>
            <p:ph idx="2"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5" name="Google Shape;405;p103"/>
          <p:cNvSpPr txBox="1"/>
          <p:nvPr>
            <p:ph idx="3"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6" name="Google Shape;406;p103"/>
          <p:cNvSpPr txBox="1"/>
          <p:nvPr>
            <p:ph idx="4"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6 Content">
  <p:cSld name="Title, 6 Content"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104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9" name="Google Shape;409;p104"/>
          <p:cNvSpPr txBox="1"/>
          <p:nvPr>
            <p:ph idx="1"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0" name="Google Shape;410;p104"/>
          <p:cNvSpPr txBox="1"/>
          <p:nvPr>
            <p:ph idx="2"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1" name="Google Shape;411;p104"/>
          <p:cNvSpPr txBox="1"/>
          <p:nvPr>
            <p:ph idx="3"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2" name="Google Shape;412;p104"/>
          <p:cNvSpPr txBox="1"/>
          <p:nvPr>
            <p:ph idx="4"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3" name="Google Shape;413;p104"/>
          <p:cNvSpPr txBox="1"/>
          <p:nvPr>
            <p:ph idx="5"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4" name="Google Shape;414;p104"/>
          <p:cNvSpPr txBox="1"/>
          <p:nvPr>
            <p:ph idx="6"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theme" Target="../theme/theme7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theme" Target="../theme/theme1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<Relationship Id="rId14" Type="http://schemas.openxmlformats.org/officeDocument/2006/relationships/theme" Target="../theme/theme8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<Relationship Id="rId14" Type="http://schemas.openxmlformats.org/officeDocument/2006/relationships/theme" Target="../theme/theme2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<Relationship Id="rId14" Type="http://schemas.openxmlformats.org/officeDocument/2006/relationships/theme" Target="../theme/theme9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<Relationship Id="rId14" Type="http://schemas.openxmlformats.org/officeDocument/2006/relationships/theme" Target="../theme/theme4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<Relationship Id="rId14" Type="http://schemas.openxmlformats.org/officeDocument/2006/relationships/theme" Target="../theme/theme3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<Relationship Id="rId14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" type="body"/>
          </p:nvPr>
        </p:nvSpPr>
        <p:spPr>
          <a:xfrm>
            <a:off x="4558320" y="1248480"/>
            <a:ext cx="7391160" cy="5204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8" name="Google Shape;58;p14"/>
          <p:cNvSpPr txBox="1"/>
          <p:nvPr>
            <p:ph type="title"/>
          </p:nvPr>
        </p:nvSpPr>
        <p:spPr>
          <a:xfrm>
            <a:off x="4558320" y="404280"/>
            <a:ext cx="739116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7"/>
          <p:cNvSpPr txBox="1"/>
          <p:nvPr>
            <p:ph idx="1" type="body"/>
          </p:nvPr>
        </p:nvSpPr>
        <p:spPr>
          <a:xfrm>
            <a:off x="338760" y="1058760"/>
            <a:ext cx="11514240" cy="49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9" name="Google Shape;109;p27"/>
          <p:cNvSpPr txBox="1"/>
          <p:nvPr>
            <p:ph type="title"/>
          </p:nvPr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40"/>
          <p:cNvSpPr txBox="1"/>
          <p:nvPr>
            <p:ph type="title"/>
          </p:nvPr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0" name="Google Shape;160;p40"/>
          <p:cNvSpPr txBox="1"/>
          <p:nvPr>
            <p:ph idx="1" type="body"/>
          </p:nvPr>
        </p:nvSpPr>
        <p:spPr>
          <a:xfrm>
            <a:off x="338760" y="1406520"/>
            <a:ext cx="5756760" cy="4669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1" name="Google Shape;161;p40"/>
          <p:cNvSpPr txBox="1"/>
          <p:nvPr>
            <p:ph idx="2" type="body"/>
          </p:nvPr>
        </p:nvSpPr>
        <p:spPr>
          <a:xfrm>
            <a:off x="6210360" y="1392120"/>
            <a:ext cx="5592240" cy="468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  <p:sldLayoutId id="2147483694" r:id="rId12"/>
    <p:sldLayoutId id="2147483695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53"/>
          <p:cNvSpPr txBox="1"/>
          <p:nvPr>
            <p:ph idx="1" type="body"/>
          </p:nvPr>
        </p:nvSpPr>
        <p:spPr>
          <a:xfrm>
            <a:off x="330120" y="1406880"/>
            <a:ext cx="5765400" cy="4655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2" name="Google Shape;212;p53"/>
          <p:cNvSpPr txBox="1"/>
          <p:nvPr>
            <p:ph idx="2" type="body"/>
          </p:nvPr>
        </p:nvSpPr>
        <p:spPr>
          <a:xfrm>
            <a:off x="6238800" y="1414440"/>
            <a:ext cx="5444640" cy="4655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13" name="Google Shape;213;p53"/>
          <p:cNvSpPr txBox="1"/>
          <p:nvPr>
            <p:ph type="title"/>
          </p:nvPr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66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64" name="Google Shape;264;p66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19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79"/>
          <p:cNvSpPr txBox="1"/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15" name="Google Shape;315;p79"/>
          <p:cNvSpPr txBox="1"/>
          <p:nvPr>
            <p:ph idx="1"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92"/>
          <p:cNvSpPr txBox="1"/>
          <p:nvPr>
            <p:ph type="title"/>
          </p:nvPr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66" name="Google Shape;366;p92"/>
          <p:cNvSpPr txBox="1"/>
          <p:nvPr>
            <p:ph idx="1" type="body"/>
          </p:nvPr>
        </p:nvSpPr>
        <p:spPr>
          <a:xfrm>
            <a:off x="337680" y="1032480"/>
            <a:ext cx="11515320" cy="4938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32" r:id="rId2"/>
    <p:sldLayoutId id="2147483733" r:id="rId3"/>
    <p:sldLayoutId id="2147483734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740" r:id="rId10"/>
    <p:sldLayoutId id="2147483741" r:id="rId11"/>
    <p:sldLayoutId id="2147483742" r:id="rId12"/>
    <p:sldLayoutId id="2147483743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ext&#10;&#10;Description automatically generated" id="419" name="Google Shape;419;p10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2040" y="271440"/>
            <a:ext cx="3174120" cy="1153080"/>
          </a:xfrm>
          <a:prstGeom prst="rect">
            <a:avLst/>
          </a:prstGeom>
          <a:noFill/>
          <a:ln>
            <a:noFill/>
          </a:ln>
        </p:spPr>
      </p:pic>
      <p:sp>
        <p:nvSpPr>
          <p:cNvPr id="420" name="Google Shape;420;p105"/>
          <p:cNvSpPr/>
          <p:nvPr/>
        </p:nvSpPr>
        <p:spPr>
          <a:xfrm>
            <a:off x="695520" y="2269440"/>
            <a:ext cx="8251560" cy="84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rPr b="1" i="0" lang="en-US" sz="3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NLBSE'24 GitHub Issue Classification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1" name="Subtitle"/>
          <p:cNvSpPr/>
          <p:nvPr/>
        </p:nvSpPr>
        <p:spPr>
          <a:xfrm>
            <a:off x="695525" y="3150000"/>
            <a:ext cx="8251560" cy="38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>Seminar 2 · AI for Software Engineering (AI4SE)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105"/>
          <p:cNvSpPr/>
          <p:nvPr/>
        </p:nvSpPr>
        <p:spPr>
          <a:xfrm>
            <a:off x="695525" y="3650000"/>
            <a:ext cx="4329000" cy="1369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Pham Tuan Kiet · 20252751M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Nguyen Trung Hieu · 20261059M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Le Ngoc Anh · 20252275M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Nguyen Hoang Nam · 20261081M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Bui Tien Dung · 20261204M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120"/>
          <p:cNvSpPr txBox="1"/>
          <p:nvPr/>
        </p:nvSpPr>
        <p:spPr>
          <a:xfrm>
            <a:off x="4558320" y="404280"/>
            <a:ext cx="739116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Outline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" name="Section I."/>
          <p:cNvSpPr/>
          <p:nvPr/>
        </p:nvSpPr>
        <p:spPr>
          <a:xfrm>
            <a:off x="4553712" y="118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I.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Problem and project objectives</a:t>
            </a:r>
          </a:p>
        </p:txBody>
      </p:sp>
      <p:sp>
        <p:nvSpPr>
          <p:cNvPr id="911" name="Section II."/>
          <p:cNvSpPr/>
          <p:nvPr/>
        </p:nvSpPr>
        <p:spPr>
          <a:xfrm>
            <a:off x="4553712" y="216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II.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NLBSE'24 data and its challenges</a:t>
            </a:r>
          </a:p>
        </p:txBody>
      </p:sp>
      <p:sp>
        <p:nvSpPr>
          <p:cNvPr id="912" name="Section III."/>
          <p:cNvSpPr/>
          <p:nvPr/>
        </p:nvSpPr>
        <p:spPr>
          <a:xfrm>
            <a:off x="4553712" y="314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III.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Model families, background, evaluation protocols, pipeline</a:t>
            </a:r>
          </a:p>
        </p:txBody>
      </p:sp>
      <p:sp>
        <p:nvSpPr>
          <p:cNvPr id="913" name="Section IV."/>
          <p:cNvSpPr/>
          <p:nvPr/>
        </p:nvSpPr>
        <p:spPr>
          <a:xfrm>
            <a:off x="4553712" y="412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IV.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Experiments &amp; Results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Baseline, lightweight models, RoBERTa, SetFit, comparison</a:t>
            </a:r>
          </a:p>
        </p:txBody>
      </p:sp>
      <p:sp>
        <p:nvSpPr>
          <p:cNvPr id="914" name="Section V."/>
          <p:cNvSpPr/>
          <p:nvPr/>
        </p:nvSpPr>
        <p:spPr>
          <a:xfrm>
            <a:off x="4553712" y="510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V.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Key findings, limitations,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120"/>
          <p:cNvSpPr txBox="1"/>
          <p:nvPr/>
        </p:nvSpPr>
        <p:spPr>
          <a:xfrm>
            <a:off x="4558320" y="404280"/>
            <a:ext cx="739116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Outline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" name="Section I."/>
          <p:cNvSpPr/>
          <p:nvPr/>
        </p:nvSpPr>
        <p:spPr>
          <a:xfrm>
            <a:off x="4553712" y="118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I.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Problem and project objectives</a:t>
            </a:r>
          </a:p>
        </p:txBody>
      </p:sp>
      <p:sp>
        <p:nvSpPr>
          <p:cNvPr id="921" name="Section II."/>
          <p:cNvSpPr/>
          <p:nvPr/>
        </p:nvSpPr>
        <p:spPr>
          <a:xfrm>
            <a:off x="4553712" y="216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NLBSE'24 data and its challenges</a:t>
            </a:r>
          </a:p>
        </p:txBody>
      </p:sp>
      <p:sp>
        <p:nvSpPr>
          <p:cNvPr id="922" name="Section III."/>
          <p:cNvSpPr/>
          <p:nvPr/>
        </p:nvSpPr>
        <p:spPr>
          <a:xfrm>
            <a:off x="4553712" y="314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III.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Model families, background, evaluation protocols, pipeline</a:t>
            </a:r>
          </a:p>
        </p:txBody>
      </p:sp>
      <p:sp>
        <p:nvSpPr>
          <p:cNvPr id="923" name="Section IV."/>
          <p:cNvSpPr/>
          <p:nvPr/>
        </p:nvSpPr>
        <p:spPr>
          <a:xfrm>
            <a:off x="4553712" y="412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IV.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Experiments &amp; Results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Baseline, lightweight models, RoBERTa, SetFit, comparison</a:t>
            </a:r>
          </a:p>
        </p:txBody>
      </p:sp>
      <p:sp>
        <p:nvSpPr>
          <p:cNvPr id="924" name="Section V."/>
          <p:cNvSpPr/>
          <p:nvPr/>
        </p:nvSpPr>
        <p:spPr>
          <a:xfrm>
            <a:off x="4553712" y="510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V.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Key findings, limitations, future work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106"/>
          <p:cNvSpPr txBox="1"/>
          <p:nvPr/>
        </p:nvSpPr>
        <p:spPr>
          <a:xfrm>
            <a:off x="4558320" y="404280"/>
            <a:ext cx="739116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Problem: GitHub Issue Classification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06"/>
          <p:cNvSpPr txBox="1"/>
          <p:nvPr/>
        </p:nvSpPr>
        <p:spPr>
          <a:xfrm>
            <a:off x="4553712" y="1234440"/>
            <a:ext cx="7223760" cy="2377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Maintainers need to classify issues before prioritizing and assigning them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Manual labeling is time-consuming and can be inconsistent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Issues contain a mix of text, code, stack traces, URLs, and versions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b="0" i="0" lang="en-US" sz="18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Each repository has its own terminology and templates</a:t>
            </a:r>
            <a:endParaRPr/>
          </a:p>
        </p:txBody>
      </p:sp>
      <p:sp>
        <p:nvSpPr>
          <p:cNvPr id="428" name="Google Shape;428;p106"/>
          <p:cNvSpPr/>
          <p:nvPr/>
        </p:nvSpPr>
        <p:spPr>
          <a:xfrm>
            <a:off x="4553712" y="3840480"/>
            <a:ext cx="2103120" cy="13716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Issue</a:t>
            </a:r>
            <a:endParaRPr/>
          </a:p>
          <a:p>
            <a:pPr indent="0" lvl="0" marL="0" marR="0" rtl="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title + body</a:t>
            </a:r>
            <a:endParaRPr/>
          </a:p>
        </p:txBody>
      </p:sp>
      <p:sp>
        <p:nvSpPr>
          <p:cNvPr id="429" name="Google Shape;429;p106"/>
          <p:cNvSpPr txBox="1"/>
          <p:nvPr/>
        </p:nvSpPr>
        <p:spPr>
          <a:xfrm>
            <a:off x="6675120" y="425196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430" name="Google Shape;430;p106"/>
          <p:cNvSpPr/>
          <p:nvPr/>
        </p:nvSpPr>
        <p:spPr>
          <a:xfrm>
            <a:off x="7269480" y="3840480"/>
            <a:ext cx="1828800" cy="1371600"/>
          </a:xfrm>
          <a:prstGeom prst="roundRect">
            <a:avLst>
              <a:gd fmla="val 6000" name="adj"/>
            </a:avLst>
          </a:prstGeom>
          <a:solidFill>
            <a:srgbClr val="0B2E63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Classifier</a:t>
            </a:r>
            <a:endParaRPr/>
          </a:p>
        </p:txBody>
      </p:sp>
      <p:sp>
        <p:nvSpPr>
          <p:cNvPr id="431" name="Google Shape;431;p106"/>
          <p:cNvSpPr txBox="1"/>
          <p:nvPr/>
        </p:nvSpPr>
        <p:spPr>
          <a:xfrm>
            <a:off x="9098280" y="425196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/>
          </a:p>
        </p:txBody>
      </p:sp>
      <p:sp>
        <p:nvSpPr>
          <p:cNvPr id="432" name="Google Shape;432;p106"/>
          <p:cNvSpPr/>
          <p:nvPr/>
        </p:nvSpPr>
        <p:spPr>
          <a:xfrm>
            <a:off x="9646920" y="3611880"/>
            <a:ext cx="2148840" cy="493776"/>
          </a:xfrm>
          <a:prstGeom prst="roundRect">
            <a:avLst>
              <a:gd fmla="val 6000" name="adj"/>
            </a:avLst>
          </a:prstGeom>
          <a:solidFill>
            <a:srgbClr val="BE1E2D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bug  ·  incorrect behavior or defect</a:t>
            </a:r>
            <a:endParaRPr/>
          </a:p>
        </p:txBody>
      </p:sp>
      <p:sp>
        <p:nvSpPr>
          <p:cNvPr id="433" name="Google Shape;433;p106"/>
          <p:cNvSpPr/>
          <p:nvPr/>
        </p:nvSpPr>
        <p:spPr>
          <a:xfrm>
            <a:off x="9646920" y="4178808"/>
            <a:ext cx="2148840" cy="493776"/>
          </a:xfrm>
          <a:prstGeom prst="roundRect">
            <a:avLst>
              <a:gd fmla="val 6000" name="adj"/>
            </a:avLst>
          </a:prstGeom>
          <a:solidFill>
            <a:srgbClr val="BE1E2D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feature  ·  feature request</a:t>
            </a:r>
            <a:endParaRPr/>
          </a:p>
        </p:txBody>
      </p:sp>
      <p:sp>
        <p:nvSpPr>
          <p:cNvPr id="434" name="Google Shape;434;p106"/>
          <p:cNvSpPr/>
          <p:nvPr/>
        </p:nvSpPr>
        <p:spPr>
          <a:xfrm>
            <a:off x="9646920" y="4745736"/>
            <a:ext cx="2148840" cy="493776"/>
          </a:xfrm>
          <a:prstGeom prst="roundRect">
            <a:avLst>
              <a:gd fmla="val 6000" name="adj"/>
            </a:avLst>
          </a:prstGeom>
          <a:solidFill>
            <a:srgbClr val="BE1E2D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question  ·  question or help request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107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Project Objectives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07"/>
          <p:cNvSpPr/>
          <p:nvPr/>
        </p:nvSpPr>
        <p:spPr>
          <a:xfrm>
            <a:off x="457200" y="1280160"/>
            <a:ext cx="3611880" cy="246888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1. Model Comparison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From TF-IDF to dense encoders (RoBERTa, SetFit)</a:t>
            </a:r>
            <a:endParaRPr/>
          </a:p>
        </p:txBody>
      </p:sp>
      <p:sp>
        <p:nvSpPr>
          <p:cNvPr id="441" name="Google Shape;441;p107"/>
          <p:cNvSpPr/>
          <p:nvPr/>
        </p:nvSpPr>
        <p:spPr>
          <a:xfrm>
            <a:off x="4297680" y="1280160"/>
            <a:ext cx="3611880" cy="246888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2. Multiple Evaluation Protocols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Repo-specific CV, Pooled CV, LOO, Official Test</a:t>
            </a:r>
            <a:endParaRPr/>
          </a:p>
        </p:txBody>
      </p:sp>
      <p:sp>
        <p:nvSpPr>
          <p:cNvPr id="442" name="Google Shape;442;p107"/>
          <p:cNvSpPr/>
          <p:nvPr/>
        </p:nvSpPr>
        <p:spPr>
          <a:xfrm>
            <a:off x="8138160" y="1280160"/>
            <a:ext cx="3611880" cy="246888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3. Performance and Cost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Consider fitting time, inference time, and implementation complexity</a:t>
            </a:r>
            <a:endParaRPr/>
          </a:p>
        </p:txBody>
      </p:sp>
      <p:sp>
        <p:nvSpPr>
          <p:cNvPr id="443" name="Google Shape;443;p107"/>
          <p:cNvSpPr/>
          <p:nvPr/>
        </p:nvSpPr>
        <p:spPr>
          <a:xfrm>
            <a:off x="457200" y="4114800"/>
            <a:ext cx="11292840" cy="1371600"/>
          </a:xfrm>
          <a:prstGeom prst="roundRect">
            <a:avLst>
              <a:gd fmla="val 6000" name="adj"/>
            </a:avLst>
          </a:prstGeom>
          <a:solidFill>
            <a:srgbClr val="0B2E63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Primary Metric: Macro-F1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Computed per repository and then averaged across 5 repositories; predictions are not pooled across repositories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120"/>
          <p:cNvSpPr txBox="1"/>
          <p:nvPr/>
        </p:nvSpPr>
        <p:spPr>
          <a:xfrm>
            <a:off x="4558320" y="404280"/>
            <a:ext cx="739116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Outline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" name="Section I."/>
          <p:cNvSpPr/>
          <p:nvPr/>
        </p:nvSpPr>
        <p:spPr>
          <a:xfrm>
            <a:off x="4553712" y="118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Problem and project objectives</a:t>
            </a:r>
          </a:p>
        </p:txBody>
      </p:sp>
      <p:sp>
        <p:nvSpPr>
          <p:cNvPr id="931" name="Section II."/>
          <p:cNvSpPr/>
          <p:nvPr/>
        </p:nvSpPr>
        <p:spPr>
          <a:xfrm>
            <a:off x="4553712" y="216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II.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NLBSE'24 data and its challenges</a:t>
            </a:r>
          </a:p>
        </p:txBody>
      </p:sp>
      <p:sp>
        <p:nvSpPr>
          <p:cNvPr id="932" name="Section III."/>
          <p:cNvSpPr/>
          <p:nvPr/>
        </p:nvSpPr>
        <p:spPr>
          <a:xfrm>
            <a:off x="4553712" y="314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III.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Model families, background, evaluation protocols, pipeline</a:t>
            </a:r>
          </a:p>
        </p:txBody>
      </p:sp>
      <p:sp>
        <p:nvSpPr>
          <p:cNvPr id="933" name="Section IV."/>
          <p:cNvSpPr/>
          <p:nvPr/>
        </p:nvSpPr>
        <p:spPr>
          <a:xfrm>
            <a:off x="4553712" y="412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IV.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Experiments &amp; Results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Baseline, lightweight models, RoBERTa, SetFit, comparison</a:t>
            </a:r>
          </a:p>
        </p:txBody>
      </p:sp>
      <p:sp>
        <p:nvSpPr>
          <p:cNvPr id="934" name="Section V."/>
          <p:cNvSpPr/>
          <p:nvPr/>
        </p:nvSpPr>
        <p:spPr>
          <a:xfrm>
            <a:off x="4553712" y="510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V.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Key findings, limitations, future work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108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Dataset NLBSE'24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08"/>
          <p:cNvSpPr/>
          <p:nvPr/>
        </p:nvSpPr>
        <p:spPr>
          <a:xfrm>
            <a:off x="457200" y="1280160"/>
            <a:ext cx="3383280" cy="128016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1,500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training issues</a:t>
            </a:r>
            <a:endParaRPr/>
          </a:p>
        </p:txBody>
      </p:sp>
      <p:sp>
        <p:nvSpPr>
          <p:cNvPr id="450" name="Google Shape;450;p108"/>
          <p:cNvSpPr/>
          <p:nvPr/>
        </p:nvSpPr>
        <p:spPr>
          <a:xfrm>
            <a:off x="457200" y="2743200"/>
            <a:ext cx="3383280" cy="128016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1,500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official test issues</a:t>
            </a:r>
            <a:endParaRPr/>
          </a:p>
        </p:txBody>
      </p:sp>
      <p:sp>
        <p:nvSpPr>
          <p:cNvPr id="451" name="Google Shape;451;p108"/>
          <p:cNvSpPr/>
          <p:nvPr/>
        </p:nvSpPr>
        <p:spPr>
          <a:xfrm>
            <a:off x="457200" y="4206240"/>
            <a:ext cx="3383280" cy="128016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5 × 3 × 100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repositories × labels × samples per split</a:t>
            </a:r>
            <a:endParaRPr/>
          </a:p>
        </p:txBody>
      </p:sp>
      <p:graphicFrame>
        <p:nvGraphicFramePr>
          <p:cNvPr id="452" name="Google Shape;452;p108"/>
          <p:cNvGraphicFramePr/>
          <p:nvPr/>
        </p:nvGraphicFramePr>
        <p:xfrm>
          <a:off x="4206240" y="12801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{20C0CC1B-E2D0-43D2-8BB6-4390CF16C671}</a:tableStyleId>
              </a:tblPr>
              <a:tblGrid>
                <a:gridCol w="2194550"/>
                <a:gridCol w="5349250"/>
              </a:tblGrid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Property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B2E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Value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B2E63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Train / Test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1,500 / 1,500 issue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Repositories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bitcoin, react, vscode, opencv, tensorflow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Labels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bug; feature; question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Class balance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 samples per label, per repository, per split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6583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Input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title and body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109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Dataset Challenges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09"/>
          <p:cNvSpPr/>
          <p:nvPr/>
        </p:nvSpPr>
        <p:spPr>
          <a:xfrm>
            <a:off x="457200" y="1280160"/>
            <a:ext cx="3611880" cy="214884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Repository-specific language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Different templates and terminology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Hard to transfer to unseen repositories</a:t>
            </a:r>
            <a:endParaRPr/>
          </a:p>
        </p:txBody>
      </p:sp>
      <p:sp>
        <p:nvSpPr>
          <p:cNvPr id="459" name="Google Shape;459;p109"/>
          <p:cNvSpPr/>
          <p:nvPr/>
        </p:nvSpPr>
        <p:spPr>
          <a:xfrm>
            <a:off x="4297680" y="1280160"/>
            <a:ext cx="3611880" cy="214884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Duplicate leakage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3 shared normalized keys between train and test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1 pair has conflicting labels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CV keeps identical texts in the same fold</a:t>
            </a:r>
            <a:endParaRPr/>
          </a:p>
        </p:txBody>
      </p:sp>
      <p:sp>
        <p:nvSpPr>
          <p:cNvPr id="460" name="Google Shape;460;p109"/>
          <p:cNvSpPr/>
          <p:nvPr/>
        </p:nvSpPr>
        <p:spPr>
          <a:xfrm>
            <a:off x="8138160" y="1280160"/>
            <a:ext cx="3611880" cy="214884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Technical content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Code, paths, and version strings are retained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Because they may carry predictive signals</a:t>
            </a:r>
            <a:endParaRPr/>
          </a:p>
        </p:txBody>
      </p:sp>
      <p:sp>
        <p:nvSpPr>
          <p:cNvPr id="461" name="Google Shape;461;p109"/>
          <p:cNvSpPr/>
          <p:nvPr/>
        </p:nvSpPr>
        <p:spPr>
          <a:xfrm>
            <a:off x="457200" y="3657600"/>
            <a:ext cx="3611880" cy="214884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Label overlap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Questions can resemble both bugs and features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Feature requests may be phrased as questions</a:t>
            </a:r>
            <a:endParaRPr/>
          </a:p>
        </p:txBody>
      </p:sp>
      <p:sp>
        <p:nvSpPr>
          <p:cNvPr id="462" name="Google Shape;462;p109"/>
          <p:cNvSpPr/>
          <p:nvPr/>
        </p:nvSpPr>
        <p:spPr>
          <a:xfrm>
            <a:off x="4297680" y="3657600"/>
            <a:ext cx="3611880" cy="214884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Highly skewed text length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Train median: 150 words; P95: 536 words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Train maximum: 21,595 words → truncation is required</a:t>
            </a:r>
            <a:endParaRPr/>
          </a:p>
        </p:txBody>
      </p:sp>
      <p:sp>
        <p:nvSpPr>
          <p:cNvPr id="463" name="Google Shape;463;p109"/>
          <p:cNvSpPr/>
          <p:nvPr/>
        </p:nvSpPr>
        <p:spPr>
          <a:xfrm>
            <a:off x="8138160" y="3657600"/>
            <a:ext cx="3611880" cy="214884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Missing data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2 test bodies are missing → replaced with empty strings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Train has no missing bodies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120"/>
          <p:cNvSpPr txBox="1"/>
          <p:nvPr/>
        </p:nvSpPr>
        <p:spPr>
          <a:xfrm>
            <a:off x="4558320" y="404280"/>
            <a:ext cx="739116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Outline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" name="Section I."/>
          <p:cNvSpPr/>
          <p:nvPr/>
        </p:nvSpPr>
        <p:spPr>
          <a:xfrm>
            <a:off x="4553712" y="118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Problem and project objectives</a:t>
            </a:r>
          </a:p>
        </p:txBody>
      </p:sp>
      <p:sp>
        <p:nvSpPr>
          <p:cNvPr id="941" name="Section II."/>
          <p:cNvSpPr/>
          <p:nvPr/>
        </p:nvSpPr>
        <p:spPr>
          <a:xfrm>
            <a:off x="4553712" y="216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NLBSE'24 data and its challenges</a:t>
            </a:r>
          </a:p>
        </p:txBody>
      </p:sp>
      <p:sp>
        <p:nvSpPr>
          <p:cNvPr id="942" name="Section III."/>
          <p:cNvSpPr/>
          <p:nvPr/>
        </p:nvSpPr>
        <p:spPr>
          <a:xfrm>
            <a:off x="4553712" y="314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III.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Model families, background, evaluation protocols, pipeline</a:t>
            </a:r>
          </a:p>
        </p:txBody>
      </p:sp>
      <p:sp>
        <p:nvSpPr>
          <p:cNvPr id="943" name="Section IV."/>
          <p:cNvSpPr/>
          <p:nvPr/>
        </p:nvSpPr>
        <p:spPr>
          <a:xfrm>
            <a:off x="4553712" y="412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IV.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Experiments &amp; Results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Baseline, lightweight models, RoBERTa, SetFit, comparison</a:t>
            </a:r>
          </a:p>
        </p:txBody>
      </p:sp>
      <p:sp>
        <p:nvSpPr>
          <p:cNvPr id="944" name="Section V."/>
          <p:cNvSpPr/>
          <p:nvPr/>
        </p:nvSpPr>
        <p:spPr>
          <a:xfrm>
            <a:off x="4553712" y="510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V.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Key findings, limitations, future work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10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Three Model Families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10"/>
          <p:cNvSpPr/>
          <p:nvPr/>
        </p:nvSpPr>
        <p:spPr>
          <a:xfrm>
            <a:off x="457200" y="1280160"/>
            <a:ext cx="3611880" cy="32500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Sparse / Lightweight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TF-IDF + Logistic Regression (baseline)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LinearSVC: word, word + char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Complement NB, Hashed SGD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fastText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Evaluated under CV, LOO, and Official Test</a:t>
            </a:r>
            <a:endParaRPr/>
          </a:p>
        </p:txBody>
      </p:sp>
      <p:sp>
        <p:nvSpPr>
          <p:cNvPr id="470" name="Google Shape;470;p110"/>
          <p:cNvSpPr/>
          <p:nvPr/>
        </p:nvSpPr>
        <p:spPr>
          <a:xfrm>
            <a:off x="4297680" y="1280160"/>
            <a:ext cx="3611880" cy="32500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RoBERTa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RoBERTa-base, max 160 tokens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Full fine-tuning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LoRA: low-rank adapters (r = 48)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Repo-specific CV and pooled CV</a:t>
            </a:r>
            <a:endParaRPr/>
          </a:p>
        </p:txBody>
      </p:sp>
      <p:sp>
        <p:nvSpPr>
          <p:cNvPr id="471" name="Google Shape;471;p110"/>
          <p:cNvSpPr/>
          <p:nvPr/>
        </p:nvSpPr>
        <p:spPr>
          <a:xfrm>
            <a:off x="8138160" y="1280160"/>
            <a:ext cx="3611880" cy="32500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SetFit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Sentence encoder: MPNet, MiniLM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Few-shot k = 8 / 16 / 32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Contrastive iterations: 5–80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Char char="•"/>
            </a:pPr>
            <a:r>
              <a:rPr b="0" i="0" lang="en-US" sz="16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Data-size and iteration ablations</a:t>
            </a:r>
            <a:endParaRPr/>
          </a:p>
        </p:txBody>
      </p:sp>
      <p:sp>
        <p:nvSpPr>
          <p:cNvPr id="472" name="Google Shape;472;p110"/>
          <p:cNvSpPr/>
          <p:nvPr/>
        </p:nvSpPr>
        <p:spPr>
          <a:xfrm>
            <a:off x="457200" y="4720000"/>
            <a:ext cx="11292840" cy="640080"/>
          </a:xfrm>
          <a:prstGeom prst="roundRect">
            <a:avLst>
              <a:gd fmla="val 6000" name="adj"/>
            </a:avLst>
          </a:prstGeom>
          <a:solidFill>
            <a:srgbClr val="0B2E63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same data and evaluation pipeline is used for all model families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111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Background: Transformer and RoBERTa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transformer.png" id="478" name="Google Shape;478;p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371600"/>
            <a:ext cx="5120640" cy="4039340"/>
          </a:xfrm>
          <a:prstGeom prst="rect">
            <a:avLst/>
          </a:prstGeom>
          <a:noFill/>
          <a:ln>
            <a:noFill/>
          </a:ln>
        </p:spPr>
      </p:pic>
      <p:sp>
        <p:nvSpPr>
          <p:cNvPr id="479" name="Google Shape;479;p111"/>
          <p:cNvSpPr txBox="1"/>
          <p:nvPr/>
        </p:nvSpPr>
        <p:spPr>
          <a:xfrm>
            <a:off x="457200" y="544068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 u="none" cap="none" strike="noStrike">
                <a:solidFill>
                  <a:srgbClr val="5B6472"/>
                </a:solidFill>
                <a:latin typeface="Calibri"/>
                <a:ea typeface="Calibri"/>
                <a:cs typeface="Calibri"/>
                <a:sym typeface="Calibri"/>
              </a:rPr>
              <a:t>Fig. 2.1. Transformer architecture (Vaswani et al.)</a:t>
            </a:r>
            <a:endParaRPr/>
          </a:p>
        </p:txBody>
      </p:sp>
      <p:sp>
        <p:nvSpPr>
          <p:cNvPr id="480" name="Google Shape;480;p111"/>
          <p:cNvSpPr txBox="1"/>
          <p:nvPr/>
        </p:nvSpPr>
        <p:spPr>
          <a:xfrm>
            <a:off x="5943600" y="1234440"/>
            <a:ext cx="585216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Transformer encoder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Self-attention and multi-head attention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Positional information for token order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Feed-forward + residual + normalization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RoBERTa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Optimized BERT pretraining: removes Next Sentence Prediction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Dynamic masking and more pretraining data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Add a classification head and fine-tune on issue data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112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LoRA and SetFit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12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LoRA: learn only low-rank updates</a:t>
            </a:r>
            <a:endParaRPr/>
          </a:p>
        </p:txBody>
      </p:sp>
      <p:sp>
        <p:nvSpPr>
          <p:cNvPr id="487" name="Google Shape;487;p112"/>
          <p:cNvSpPr/>
          <p:nvPr/>
        </p:nvSpPr>
        <p:spPr>
          <a:xfrm>
            <a:off x="457200" y="1920240"/>
            <a:ext cx="1371600" cy="82296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x</a:t>
            </a:r>
            <a:endParaRPr/>
          </a:p>
        </p:txBody>
      </p:sp>
      <p:sp>
        <p:nvSpPr>
          <p:cNvPr id="488" name="Google Shape;488;p112"/>
          <p:cNvSpPr/>
          <p:nvPr/>
        </p:nvSpPr>
        <p:spPr>
          <a:xfrm>
            <a:off x="2286000" y="1783080"/>
            <a:ext cx="2011680" cy="822960"/>
          </a:xfrm>
          <a:prstGeom prst="roundRect">
            <a:avLst>
              <a:gd fmla="val 6000" name="adj"/>
            </a:avLst>
          </a:prstGeom>
          <a:solidFill>
            <a:srgbClr val="D5D9E0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W₀ (frozen)</a:t>
            </a:r>
            <a:endParaRPr/>
          </a:p>
        </p:txBody>
      </p:sp>
      <p:sp>
        <p:nvSpPr>
          <p:cNvPr id="489" name="Google Shape;489;p112"/>
          <p:cNvSpPr/>
          <p:nvPr/>
        </p:nvSpPr>
        <p:spPr>
          <a:xfrm>
            <a:off x="2286000" y="2788920"/>
            <a:ext cx="2011680" cy="822960"/>
          </a:xfrm>
          <a:prstGeom prst="roundRect">
            <a:avLst>
              <a:gd fmla="val 6000" name="adj"/>
            </a:avLst>
          </a:prstGeom>
          <a:solidFill>
            <a:srgbClr val="BE1E2D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 · A (trainable)</a:t>
            </a:r>
            <a:endParaRPr/>
          </a:p>
        </p:txBody>
      </p:sp>
      <p:sp>
        <p:nvSpPr>
          <p:cNvPr id="490" name="Google Shape;490;p112"/>
          <p:cNvSpPr txBox="1"/>
          <p:nvPr/>
        </p:nvSpPr>
        <p:spPr>
          <a:xfrm>
            <a:off x="4389120" y="219456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+</a:t>
            </a:r>
            <a:endParaRPr/>
          </a:p>
        </p:txBody>
      </p:sp>
      <p:sp>
        <p:nvSpPr>
          <p:cNvPr id="491" name="Google Shape;491;p112"/>
          <p:cNvSpPr/>
          <p:nvPr/>
        </p:nvSpPr>
        <p:spPr>
          <a:xfrm>
            <a:off x="4846320" y="2011680"/>
            <a:ext cx="1280160" cy="1097280"/>
          </a:xfrm>
          <a:prstGeom prst="roundRect">
            <a:avLst>
              <a:gd fmla="val 6000" name="adj"/>
            </a:avLst>
          </a:prstGeom>
          <a:solidFill>
            <a:srgbClr val="0B2E63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</a:t>
            </a:r>
            <a:endParaRPr/>
          </a:p>
        </p:txBody>
      </p:sp>
      <p:sp>
        <p:nvSpPr>
          <p:cNvPr id="492" name="Google Shape;492;p112"/>
          <p:cNvSpPr txBox="1"/>
          <p:nvPr/>
        </p:nvSpPr>
        <p:spPr>
          <a:xfrm>
            <a:off x="457200" y="3840480"/>
            <a:ext cx="566928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h = W₀x + BAx, with rank r ≪ matrix dimension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Configuration: rank 48, alpha 96, dropout 0.1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Reduces trainable parameters and memory usage</a:t>
            </a:r>
            <a:endParaRPr/>
          </a:p>
        </p:txBody>
      </p:sp>
      <p:sp>
        <p:nvSpPr>
          <p:cNvPr id="493" name="Google Shape;493;p112"/>
          <p:cNvSpPr txBox="1"/>
          <p:nvPr/>
        </p:nvSpPr>
        <p:spPr>
          <a:xfrm>
            <a:off x="6492240" y="118872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SetFit: two stages</a:t>
            </a:r>
            <a:endParaRPr/>
          </a:p>
        </p:txBody>
      </p:sp>
      <p:sp>
        <p:nvSpPr>
          <p:cNvPr id="494" name="Google Shape;494;p112"/>
          <p:cNvSpPr/>
          <p:nvPr/>
        </p:nvSpPr>
        <p:spPr>
          <a:xfrm>
            <a:off x="6492240" y="1828800"/>
            <a:ext cx="5303520" cy="6858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Labeled issues</a:t>
            </a:r>
            <a:endParaRPr/>
          </a:p>
        </p:txBody>
      </p:sp>
      <p:sp>
        <p:nvSpPr>
          <p:cNvPr id="495" name="Google Shape;495;p112"/>
          <p:cNvSpPr txBox="1"/>
          <p:nvPr/>
        </p:nvSpPr>
        <p:spPr>
          <a:xfrm>
            <a:off x="8778240" y="2487168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/>
          </a:p>
        </p:txBody>
      </p:sp>
      <p:sp>
        <p:nvSpPr>
          <p:cNvPr id="496" name="Google Shape;496;p112"/>
          <p:cNvSpPr/>
          <p:nvPr/>
        </p:nvSpPr>
        <p:spPr>
          <a:xfrm>
            <a:off x="6492240" y="2834640"/>
            <a:ext cx="5303520" cy="685800"/>
          </a:xfrm>
          <a:prstGeom prst="roundRect">
            <a:avLst>
              <a:gd fmla="val 6000" name="adj"/>
            </a:avLst>
          </a:prstGeom>
          <a:solidFill>
            <a:srgbClr val="0B2E63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1. Contrastive fine-tune sentence encoder</a:t>
            </a:r>
            <a:endParaRPr/>
          </a:p>
        </p:txBody>
      </p:sp>
      <p:sp>
        <p:nvSpPr>
          <p:cNvPr id="497" name="Google Shape;497;p112"/>
          <p:cNvSpPr txBox="1"/>
          <p:nvPr/>
        </p:nvSpPr>
        <p:spPr>
          <a:xfrm>
            <a:off x="8778240" y="3493008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/>
          </a:p>
        </p:txBody>
      </p:sp>
      <p:sp>
        <p:nvSpPr>
          <p:cNvPr id="498" name="Google Shape;498;p112"/>
          <p:cNvSpPr/>
          <p:nvPr/>
        </p:nvSpPr>
        <p:spPr>
          <a:xfrm>
            <a:off x="6492240" y="3840480"/>
            <a:ext cx="5303520" cy="685800"/>
          </a:xfrm>
          <a:prstGeom prst="roundRect">
            <a:avLst>
              <a:gd fmla="val 6000" name="adj"/>
            </a:avLst>
          </a:prstGeom>
          <a:solidFill>
            <a:srgbClr val="0B2E63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2. Embedding → classification head</a:t>
            </a:r>
            <a:endParaRPr/>
          </a:p>
        </p:txBody>
      </p:sp>
      <p:sp>
        <p:nvSpPr>
          <p:cNvPr id="499" name="Google Shape;499;p112"/>
          <p:cNvSpPr txBox="1"/>
          <p:nvPr/>
        </p:nvSpPr>
        <p:spPr>
          <a:xfrm>
            <a:off x="8778240" y="4498848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/>
          </a:p>
        </p:txBody>
      </p:sp>
      <p:sp>
        <p:nvSpPr>
          <p:cNvPr id="500" name="Google Shape;500;p112"/>
          <p:cNvSpPr/>
          <p:nvPr/>
        </p:nvSpPr>
        <p:spPr>
          <a:xfrm>
            <a:off x="6492240" y="4846320"/>
            <a:ext cx="5303520" cy="685800"/>
          </a:xfrm>
          <a:prstGeom prst="roundRect">
            <a:avLst>
              <a:gd fmla="val 6000" name="adj"/>
            </a:avLst>
          </a:prstGeom>
          <a:solidFill>
            <a:srgbClr val="BE1E2D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bug / feature / question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113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Four Evaluation Protocols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g31.png" id="506" name="Google Shape;506;p1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37360" y="1143000"/>
            <a:ext cx="8686800" cy="3216105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113"/>
          <p:cNvSpPr/>
          <p:nvPr/>
        </p:nvSpPr>
        <p:spPr>
          <a:xfrm>
            <a:off x="457200" y="4526280"/>
            <a:ext cx="2724912" cy="13716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Repo-specific CV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5 folds per repository; duplicates stay in the same fold</a:t>
            </a:r>
            <a:endParaRPr/>
          </a:p>
        </p:txBody>
      </p:sp>
      <p:sp>
        <p:nvSpPr>
          <p:cNvPr id="508" name="Google Shape;508;p113"/>
          <p:cNvSpPr/>
          <p:nvPr/>
        </p:nvSpPr>
        <p:spPr>
          <a:xfrm>
            <a:off x="3310128" y="4526280"/>
            <a:ext cx="2724912" cy="13716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Pooled CV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Train on the pooled training folds of all 5 repositories; held-out folds are used only for evaluation</a:t>
            </a:r>
            <a:endParaRPr/>
          </a:p>
        </p:txBody>
      </p:sp>
      <p:sp>
        <p:nvSpPr>
          <p:cNvPr id="509" name="Google Shape;509;p113"/>
          <p:cNvSpPr/>
          <p:nvPr/>
        </p:nvSpPr>
        <p:spPr>
          <a:xfrm>
            <a:off x="6163056" y="4526280"/>
            <a:ext cx="2724912" cy="13716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LOO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Train on 1,200 official-train issues from 4 repositories; test on 300 issues from the held-out repository</a:t>
            </a:r>
            <a:endParaRPr/>
          </a:p>
        </p:txBody>
      </p:sp>
      <p:sp>
        <p:nvSpPr>
          <p:cNvPr id="510" name="Google Shape;510;p113"/>
          <p:cNvSpPr/>
          <p:nvPr/>
        </p:nvSpPr>
        <p:spPr>
          <a:xfrm>
            <a:off x="9015984" y="4526280"/>
            <a:ext cx="2724912" cy="13716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t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Official Test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5 separate classifiers, each with 300 training / 300 test issues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14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System Pipeline and Contributions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fig41.png" id="516" name="Google Shape;516;p1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143000"/>
            <a:ext cx="4754880" cy="475488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17" name="Google Shape;517;p114"/>
          <p:cNvGraphicFramePr/>
          <p:nvPr/>
        </p:nvGraphicFramePr>
        <p:xfrm>
          <a:off x="5852160" y="12801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{20C0CC1B-E2D0-43D2-8BB6-4390CF16C671}</a:tableStyleId>
              </a:tblPr>
              <a:tblGrid>
                <a:gridCol w="640075"/>
                <a:gridCol w="2194550"/>
                <a:gridCol w="3063250"/>
              </a:tblGrid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0" i="0" sz="1400" u="none" cap="none" strike="noStrik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solidFill>
                      <a:srgbClr val="0B2E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4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Member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B2E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4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Contribution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B2E63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P1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Pham Tuan Kiet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Leader, data, splits, LR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P2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Nguyen Trung Hieu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Sparse models, fastText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P3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 Ngoc Anh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RoBERTa full / LoRA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P4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Nguyen Hoang Nam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SetFit MPNet / MiniLM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50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 Tien Dung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4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Evaluation, ensemble, demo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518" name="Google Shape;518;p114"/>
          <p:cNvSpPr txBox="1"/>
          <p:nvPr/>
        </p:nvSpPr>
        <p:spPr>
          <a:xfrm>
            <a:off x="5852160" y="4480560"/>
            <a:ext cx="58978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vectorizer is fitted only on the training partition to avoid leakage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Interchangeable storage: in-memory, CSV, JSON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120"/>
          <p:cNvSpPr txBox="1"/>
          <p:nvPr/>
        </p:nvSpPr>
        <p:spPr>
          <a:xfrm>
            <a:off x="4558320" y="404280"/>
            <a:ext cx="739116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Outline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" name="Section I."/>
          <p:cNvSpPr/>
          <p:nvPr/>
        </p:nvSpPr>
        <p:spPr>
          <a:xfrm>
            <a:off x="4553712" y="118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Problem and project objectives</a:t>
            </a:r>
          </a:p>
        </p:txBody>
      </p:sp>
      <p:sp>
        <p:nvSpPr>
          <p:cNvPr id="951" name="Section II."/>
          <p:cNvSpPr/>
          <p:nvPr/>
        </p:nvSpPr>
        <p:spPr>
          <a:xfrm>
            <a:off x="4553712" y="216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NLBSE'24 data and its challenges</a:t>
            </a:r>
          </a:p>
        </p:txBody>
      </p:sp>
      <p:sp>
        <p:nvSpPr>
          <p:cNvPr id="952" name="Section III."/>
          <p:cNvSpPr/>
          <p:nvPr/>
        </p:nvSpPr>
        <p:spPr>
          <a:xfrm>
            <a:off x="4553712" y="314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III.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Model families, background, evaluation protocols, pipeline</a:t>
            </a:r>
          </a:p>
        </p:txBody>
      </p:sp>
      <p:sp>
        <p:nvSpPr>
          <p:cNvPr id="953" name="Section IV."/>
          <p:cNvSpPr/>
          <p:nvPr/>
        </p:nvSpPr>
        <p:spPr>
          <a:xfrm>
            <a:off x="4553712" y="412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IV.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Experiments &amp; Results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Baseline, lightweight models, RoBERTa, SetFit, comparison</a:t>
            </a:r>
          </a:p>
        </p:txBody>
      </p:sp>
      <p:sp>
        <p:nvSpPr>
          <p:cNvPr id="954" name="Section V."/>
          <p:cNvSpPr/>
          <p:nvPr/>
        </p:nvSpPr>
        <p:spPr>
          <a:xfrm>
            <a:off x="4553712" y="510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V.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Key findings, limitations, future work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2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115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Baseline: TF-IDF + Logistic Regression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8" name="Picture 527" descr="Bar chart: Macro-F1 of TF-IDF + Logistic Regression with title+body vs title only, under CV and LO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168" y="1188720"/>
            <a:ext cx="6423743" cy="4663440"/>
          </a:xfrm>
          <a:prstGeom prst="rect">
            <a:avLst/>
          </a:prstGeom>
        </p:spPr>
      </p:pic>
      <p:sp>
        <p:nvSpPr>
          <p:cNvPr id="525" name="Google Shape;525;p115"/>
          <p:cNvSpPr/>
          <p:nvPr/>
        </p:nvSpPr>
        <p:spPr>
          <a:xfrm>
            <a:off x="7406640" y="1280160"/>
            <a:ext cx="4343400" cy="13716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+0.0801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Title + body vs title only (LOO), paired bootstrap 95% CI [0.0484, 0.1120]</a:t>
            </a:r>
            <a:endParaRPr/>
          </a:p>
        </p:txBody>
      </p:sp>
      <p:sp>
        <p:nvSpPr>
          <p:cNvPr id="526" name="Google Shape;526;p115"/>
          <p:cNvSpPr/>
          <p:nvPr/>
        </p:nvSpPr>
        <p:spPr>
          <a:xfrm>
            <a:off x="7406640" y="2834640"/>
            <a:ext cx="4343400" cy="137160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0.7636 → 0.5876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CV → LOO: unseen repositories are much harder (training data also changes)</a:t>
            </a:r>
            <a:endParaRPr/>
          </a:p>
        </p:txBody>
      </p:sp>
      <p:sp>
        <p:nvSpPr>
          <p:cNvPr id="527" name="Google Shape;527;p115"/>
          <p:cNvSpPr txBox="1"/>
          <p:nvPr/>
        </p:nvSpPr>
        <p:spPr>
          <a:xfrm>
            <a:off x="7406640" y="4389120"/>
            <a:ext cx="4343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Word 1–2 gram, min_df 2, 50,000 features, C = 4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Title-only is an ablation that removes the body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CI uses fixed predictions: excludes training variability and new-repository uncertainty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16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Lightweight Models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533" name="Google Shape;533;p116"/>
          <p:cNvGraphicFramePr/>
          <p:nvPr/>
        </p:nvGraphicFramePr>
        <p:xfrm>
          <a:off x="457200" y="128016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{20C0CC1B-E2D0-43D2-8BB6-4390CF16C671}</a:tableStyleId>
              </a:tblPr>
              <a:tblGrid>
                <a:gridCol w="2926075"/>
                <a:gridCol w="1280150"/>
                <a:gridCol w="1280150"/>
                <a:gridCol w="1280150"/>
              </a:tblGrid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B2E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CV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B2E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LOO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B2E6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5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Official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B2E63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Word LinearSVC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0.7541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0.5898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0.7498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Word + Char LinearSVC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0.7533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0.6003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0.7591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Hashed SGD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0.7030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0.6152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0.7322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Supervised fastText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0.7089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0.5384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0.6896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FFFFFF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Complement NB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0.7054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0.4904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500" u="none" cap="none" strike="noStrike">
                          <a:solidFill>
                            <a:srgbClr val="1F29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0.7108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EEF2F8"/>
                    </a:solidFill>
                  </a:tcPr>
                </a:tc>
              </a:tr>
            </a:tbl>
          </a:graphicData>
        </a:graphic>
      </p:graphicFrame>
      <p:sp>
        <p:nvSpPr>
          <p:cNvPr id="534" name="Google Shape;534;p116"/>
          <p:cNvSpPr txBox="1"/>
          <p:nvPr/>
        </p:nvSpPr>
        <p:spPr>
          <a:xfrm>
            <a:off x="7589520" y="1280160"/>
            <a:ext cx="4206240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Word+Char beats Word-only on LOO and Official, but needs ~8.5× the fitting time and ~11.5× the inference time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Hashed SGD has the highest LOO score (0.6152) despite a CV score of only 0.7030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Char char="•"/>
            </a:pPr>
            <a:r>
              <a:rPr b="0" i="0" lang="en-US" sz="17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Model ranking changes across protocols; each score must be reported with its protocol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117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RoBERTa: Full fine-tuning vs LoRA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42" name="Picture 541" descr="Dot plot: Macro-F1 by repository for RoBERTa full fine-tuning vs LoR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28622"/>
            <a:ext cx="7315200" cy="4583635"/>
          </a:xfrm>
          <a:prstGeom prst="rect">
            <a:avLst/>
          </a:prstGeom>
        </p:spPr>
      </p:pic>
      <p:sp>
        <p:nvSpPr>
          <p:cNvPr id="541" name="Google Shape;541;p117"/>
          <p:cNvSpPr txBox="1"/>
          <p:nvPr/>
        </p:nvSpPr>
        <p:spPr>
          <a:xfrm>
            <a:off x="8046720" y="1280160"/>
            <a:ext cx="3749039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Repo-specific CV mean: Full 0.7853, LoRA 0.7800 (LoRA − Full = −0.0052)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LoRA − Full by repository: React +0.0240, VS Code +0.0155, TensorFlow −0.0550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Pooled CV (reported separately): Full 0.7924, LoRA 0.7994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two training recipes differ, so the difference cannot be attributed solely to the adapter mechanism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118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SetFit: Data Size and Contrastive Iterations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50" name="Picture 549" descr="Line chart: SetFit MPNet Macro-F1 by samples per clas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662" y="1188720"/>
            <a:ext cx="5462915" cy="3566160"/>
          </a:xfrm>
          <a:prstGeom prst="rect">
            <a:avLst/>
          </a:prstGeom>
        </p:spPr>
      </p:pic>
      <p:pic>
        <p:nvPicPr>
          <p:cNvPr id="551" name="Picture 550" descr="Bar chart: SetFit MPNet fit time by contrastive iteration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4699" y="1188720"/>
            <a:ext cx="5118561" cy="3566160"/>
          </a:xfrm>
          <a:prstGeom prst="rect">
            <a:avLst/>
          </a:prstGeom>
        </p:spPr>
      </p:pic>
      <p:sp>
        <p:nvSpPr>
          <p:cNvPr id="549" name="Google Shape;549;p118"/>
          <p:cNvSpPr txBox="1"/>
          <p:nvPr/>
        </p:nvSpPr>
        <p:spPr>
          <a:xfrm>
            <a:off x="457200" y="4892040"/>
            <a:ext cx="112928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MPNet reaches 0.7953 vs MiniLM 0.7881, but MiniLM fits faster: 55.1 s vs 145.4 s (mean per run)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Fewer labeled samples clearly reduce performance; 5 iterations are nearly as good as 80 (0.7976 vs 0.7970) at ~12× lower fit time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119"/>
          <p:cNvSpPr txBox="1"/>
          <p:nvPr/>
        </p:nvSpPr>
        <p:spPr>
          <a:xfrm>
            <a:off x="338760" y="112680"/>
            <a:ext cx="1151424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Overall Comparison (repo-specific CV)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59" name="Picture 558" descr="Dot plot: repo-specific CV Macro-F1 of the main models and the LR+MPNet hard vo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494899"/>
            <a:ext cx="6949440" cy="4051082"/>
          </a:xfrm>
          <a:prstGeom prst="rect">
            <a:avLst/>
          </a:prstGeom>
        </p:spPr>
      </p:pic>
      <p:sp>
        <p:nvSpPr>
          <p:cNvPr id="556" name="Google Shape;556;p119"/>
          <p:cNvSpPr/>
          <p:nvPr/>
        </p:nvSpPr>
        <p:spPr>
          <a:xfrm>
            <a:off x="7772400" y="1280160"/>
            <a:ext cx="3977639" cy="128016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+0.0317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MPNet − LR, paired bootstrap 95% CI [0.0085, 0.0557]</a:t>
            </a:r>
            <a:endParaRPr/>
          </a:p>
        </p:txBody>
      </p:sp>
      <p:sp>
        <p:nvSpPr>
          <p:cNvPr id="557" name="Google Shape;557;p119"/>
          <p:cNvSpPr/>
          <p:nvPr/>
        </p:nvSpPr>
        <p:spPr>
          <a:xfrm>
            <a:off x="7772400" y="2743200"/>
            <a:ext cx="3977639" cy="1280160"/>
          </a:xfrm>
          <a:prstGeom prst="roundRect">
            <a:avLst>
              <a:gd fmla="val 6000" name="adj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73150" lIns="137150" spcFirstLastPara="1" rIns="137150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0.7885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Hard vote of LR + MPNet is below MPNet alone (0.7953)</a:t>
            </a:r>
            <a:endParaRPr/>
          </a:p>
        </p:txBody>
      </p:sp>
      <p:sp>
        <p:nvSpPr>
          <p:cNvPr id="558" name="Google Shape;558;p119"/>
          <p:cNvSpPr txBox="1"/>
          <p:nvPr/>
        </p:nvSpPr>
        <p:spPr>
          <a:xfrm>
            <a:off x="7772400" y="4206240"/>
            <a:ext cx="3977639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CIs condition on fixed predictions: no training variability, no new-repository uncertainty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Pooled CV is reported separately: LoRA 0.7994, Full 0.7924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•"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Do not rank results across different protocols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120"/>
          <p:cNvSpPr txBox="1"/>
          <p:nvPr/>
        </p:nvSpPr>
        <p:spPr>
          <a:xfrm>
            <a:off x="4558320" y="404280"/>
            <a:ext cx="739116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Outline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0" name="Section I."/>
          <p:cNvSpPr/>
          <p:nvPr/>
        </p:nvSpPr>
        <p:spPr>
          <a:xfrm>
            <a:off x="4553712" y="118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Problem and project objectives</a:t>
            </a:r>
          </a:p>
        </p:txBody>
      </p:sp>
      <p:sp>
        <p:nvSpPr>
          <p:cNvPr id="961" name="Section II."/>
          <p:cNvSpPr/>
          <p:nvPr/>
        </p:nvSpPr>
        <p:spPr>
          <a:xfrm>
            <a:off x="4553712" y="216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NLBSE'24 data and its challenges</a:t>
            </a:r>
          </a:p>
        </p:txBody>
      </p:sp>
      <p:sp>
        <p:nvSpPr>
          <p:cNvPr id="962" name="Section III."/>
          <p:cNvSpPr/>
          <p:nvPr/>
        </p:nvSpPr>
        <p:spPr>
          <a:xfrm>
            <a:off x="4553712" y="314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III.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Model families, background, evaluation protocols, pipeline</a:t>
            </a:r>
          </a:p>
        </p:txBody>
      </p:sp>
      <p:sp>
        <p:nvSpPr>
          <p:cNvPr id="963" name="Section IV."/>
          <p:cNvSpPr/>
          <p:nvPr/>
        </p:nvSpPr>
        <p:spPr>
          <a:xfrm>
            <a:off x="4553712" y="4128720"/>
            <a:ext cx="7223760" cy="860000"/>
          </a:xfrm>
          <a:prstGeom prst="roundRect">
            <a:avLst>
              <a:gd name="adj" fmla="val 12000"/>
            </a:avLst>
          </a:prstGeom>
          <a:noFill/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IV.  </a:t>
            </a:r>
            <a:r>
              <a:rPr b="0" i="0" lang="en-US" sz="22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Experiments &amp; Results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Baseline, lightweight models, RoBERTa, SetFit, comparison</a:t>
            </a:r>
          </a:p>
        </p:txBody>
      </p:sp>
      <p:sp>
        <p:nvSpPr>
          <p:cNvPr id="964" name="Section V."/>
          <p:cNvSpPr/>
          <p:nvPr/>
        </p:nvSpPr>
        <p:spPr>
          <a:xfrm>
            <a:off x="4553712" y="5108720"/>
            <a:ext cx="7223760" cy="860000"/>
          </a:xfrm>
          <a:prstGeom prst="roundRect">
            <a:avLst>
              <a:gd name="adj" fmla="val 12000"/>
            </a:avLst>
          </a:prstGeom>
          <a:solidFill>
            <a:srgbClr val="EEF2F8"/>
          </a:solidFill>
          <a:ln>
            <a:noFill/>
          </a:ln>
        </p:spPr>
        <p:txBody>
          <a:bodyPr anchorCtr="0" anchor="ctr" bIns="45700" lIns="228600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BE1E2D"/>
                </a:solidFill>
                <a:latin typeface="Calibri"/>
                <a:ea typeface="Calibri"/>
                <a:cs typeface="Calibri"/>
                <a:sym typeface="Calibri"/>
              </a:rPr>
              <a:t>V.  </a:t>
            </a:r>
            <a:r>
              <a:rPr b="1" i="0" lang="en-US" sz="22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Key findings, limitations, future work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120"/>
          <p:cNvSpPr txBox="1"/>
          <p:nvPr/>
        </p:nvSpPr>
        <p:spPr>
          <a:xfrm>
            <a:off x="4558320" y="404280"/>
            <a:ext cx="7391160" cy="43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1" i="0" lang="en-US" sz="28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120"/>
          <p:cNvSpPr txBox="1"/>
          <p:nvPr/>
        </p:nvSpPr>
        <p:spPr>
          <a:xfrm>
            <a:off x="4553712" y="1188720"/>
            <a:ext cx="7223760" cy="4754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Key Findings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The body is more informative than the title; transfer to unseen repositories is difficult (LR: 0.7636 CV → 0.5876 LOO)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Dense models achieve the strongest CV results (SetFit MPNet 0.7953 vs LR 0.7636), but the gains are moderate; sparse models remain suitable when simplicity and low cost matter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A hard-vote ensemble of LR + MPNet (0.7885) does not outperform MPNet alone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Limitations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Seed counts differ across model families, and configurations were selected on CV, so CV scores may be optimistic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Hardware and measurement conditions are not documented, so cost results are descriptive, not a controlled Pareto comparison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Protocol coverage is uneven: Official scores only for sparse models; LOO only for LR and sparse models; dense models compared under CV only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i="0" lang="en-US" sz="1900" u="none" cap="none" strike="noStrike">
                <a:solidFill>
                  <a:srgbClr val="0B2E63"/>
                </a:solidFill>
                <a:latin typeface="Calibri"/>
                <a:ea typeface="Calibri"/>
                <a:cs typeface="Calibri"/>
                <a:sym typeface="Calibri"/>
              </a:rPr>
              <a:t>Future Work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Evaluate more pretrained models under LOO with consistent repeated seeds</a:t>
            </a:r>
            <a:endParaRPr/>
          </a:p>
          <a:p>
            <a:pPr indent="-285750" lvl="0" marL="28575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Char char="•"/>
            </a:pPr>
            <a:r>
              <a:rPr b="0" i="0" lang="en-US" sz="1500" u="none" cap="none" strike="noStrike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Benchmark cost on one documented hardware setup and extend class-level error analysis beyond Logistic Regression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121"/>
          <p:cNvSpPr/>
          <p:nvPr/>
        </p:nvSpPr>
        <p:spPr>
          <a:xfrm>
            <a:off x="5756400" y="2824200"/>
            <a:ext cx="5136480" cy="970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000" lIns="90000" spcFirstLastPara="1" rIns="90000" wrap="square" tIns="45000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THANK YOU !</a:t>
            </a:r>
            <a:endParaRPr b="0" i="0" sz="6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3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