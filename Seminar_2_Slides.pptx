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9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theme+xml" PartName="/ppt/theme/theme8.xml"/>
  <Override ContentType="application/vnd.openxmlformats-officedocument.theme+xml" PartName="/ppt/theme/theme9.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44" r:id="rId4"/>
    <p:sldMasterId id="2147483745" r:id="rId5"/>
    <p:sldMasterId id="2147483746" r:id="rId6"/>
    <p:sldMasterId id="2147483747" r:id="rId7"/>
    <p:sldMasterId id="2147483748" r:id="rId8"/>
    <p:sldMasterId id="2147483749" r:id="rId9"/>
    <p:sldMasterId id="2147483750" r:id="rId10"/>
    <p:sldMasterId id="2147483751" r:id="rId11"/>
  </p:sldMasterIdLst>
  <p:notesMasterIdLst>
    <p:notesMasterId r:id="rId12"/>
  </p:notesMasterIdLst>
  <p:sldIdLst>
    <p:sldId id="256" r:id="rId13"/>
    <p:sldId id="276" r:id="rId37"/>
    <p:sldId id="277" r:id="rId38"/>
    <p:sldId id="257" r:id="rId14"/>
    <p:sldId id="258" r:id="rId15"/>
    <p:sldId id="278" r:id="rId39"/>
    <p:sldId id="259" r:id="rId16"/>
    <p:sldId id="260" r:id="rId17"/>
    <p:sldId id="279" r:id="rId40"/>
    <p:sldId id="261" r:id="rId18"/>
    <p:sldId id="262" r:id="rId19"/>
    <p:sldId id="263" r:id="rId20"/>
    <p:sldId id="264" r:id="rId21"/>
    <p:sldId id="265" r:id="rId22"/>
    <p:sldId id="280" r:id="rId41"/>
    <p:sldId id="266" r:id="rId23"/>
    <p:sldId id="267" r:id="rId24"/>
    <p:sldId id="268" r:id="rId25"/>
    <p:sldId id="269" r:id="rId26"/>
    <p:sldId id="270" r:id="rId27"/>
    <p:sldId id="281" r:id="rId42"/>
    <p:sldId id="271" r:id="rId28"/>
    <p:sldId id="272" r:id="rId29"/>
    <p:sldId id="273" r:id="rId30"/>
    <p:sldId id="274" r:id="rId31"/>
    <p:sldId id="275" r:id="rId32"/>
  </p:sldIdLst>
  <p:sldSz cy="6858000" cx="12192000"/>
  <p:notesSz cx="7559675" cy="10691800"/>
  <p:embeddedFontLst>
    <p:embeddedFont>
      <p:font typeface="La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C0CC1B-E2D0-43D2-8BB6-4390CF16C671}">
  <a:tblStyle styleId="{20C0CC1B-E2D0-43D2-8BB6-4390CF16C67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8.xml"/><Relationship Id="rId22" Type="http://schemas.openxmlformats.org/officeDocument/2006/relationships/slide" Target="slides/slide10.xml"/><Relationship Id="rId21" Type="http://schemas.openxmlformats.org/officeDocument/2006/relationships/slide" Target="slides/slide9.xml"/><Relationship Id="rId24" Type="http://schemas.openxmlformats.org/officeDocument/2006/relationships/slide" Target="slides/slide12.xml"/><Relationship Id="rId23" Type="http://schemas.openxmlformats.org/officeDocument/2006/relationships/slide" Target="slides/slide11.xml"/><Relationship Id="rId1" Type="http://schemas.openxmlformats.org/officeDocument/2006/relationships/theme" Target="theme/theme7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26" Type="http://schemas.openxmlformats.org/officeDocument/2006/relationships/slide" Target="slides/slide14.xml"/><Relationship Id="rId25" Type="http://schemas.openxmlformats.org/officeDocument/2006/relationships/slide" Target="slides/slide13.xml"/><Relationship Id="rId28" Type="http://schemas.openxmlformats.org/officeDocument/2006/relationships/slide" Target="slides/slide16.xml"/><Relationship Id="rId27" Type="http://schemas.openxmlformats.org/officeDocument/2006/relationships/slide" Target="slides/slide15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17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31" Type="http://schemas.openxmlformats.org/officeDocument/2006/relationships/slide" Target="slides/slide19.xml"/><Relationship Id="rId30" Type="http://schemas.openxmlformats.org/officeDocument/2006/relationships/slide" Target="slides/slide18.xml"/><Relationship Id="rId11" Type="http://schemas.openxmlformats.org/officeDocument/2006/relationships/slideMaster" Target="slideMasters/slideMaster8.xml"/><Relationship Id="rId33" Type="http://schemas.openxmlformats.org/officeDocument/2006/relationships/font" Target="fonts/Lato-regular.fntdata"/><Relationship Id="rId10" Type="http://schemas.openxmlformats.org/officeDocument/2006/relationships/slideMaster" Target="slideMasters/slideMaster7.xml"/><Relationship Id="rId32" Type="http://schemas.openxmlformats.org/officeDocument/2006/relationships/slide" Target="slides/slide20.xml"/><Relationship Id="rId13" Type="http://schemas.openxmlformats.org/officeDocument/2006/relationships/slide" Target="slides/slide1.xml"/><Relationship Id="rId35" Type="http://schemas.openxmlformats.org/officeDocument/2006/relationships/font" Target="fonts/Lato-italic.fntdata"/><Relationship Id="rId12" Type="http://schemas.openxmlformats.org/officeDocument/2006/relationships/notesMaster" Target="notesMasters/notesMaster1.xml"/><Relationship Id="rId34" Type="http://schemas.openxmlformats.org/officeDocument/2006/relationships/font" Target="fonts/Lato-bold.fntdata"/><Relationship Id="rId15" Type="http://schemas.openxmlformats.org/officeDocument/2006/relationships/slide" Target="slides/slide3.xml"/><Relationship Id="rId14" Type="http://schemas.openxmlformats.org/officeDocument/2006/relationships/slide" Target="slides/slide2.xml"/><Relationship Id="rId36" Type="http://schemas.openxmlformats.org/officeDocument/2006/relationships/font" Target="fonts/Lato-boldItalic.fntdata"/><Relationship Id="rId17" Type="http://schemas.openxmlformats.org/officeDocument/2006/relationships/slide" Target="slides/slide5.xml"/><Relationship Id="rId16" Type="http://schemas.openxmlformats.org/officeDocument/2006/relationships/slide" Target="slides/slide4.xml"/><Relationship Id="rId19" Type="http://schemas.openxmlformats.org/officeDocument/2006/relationships/slide" Target="slides/slide7.xml"/><Relationship Id="rId18" Type="http://schemas.openxmlformats.org/officeDocument/2006/relationships/slide" Target="slides/slide6.xml"/>  <Relationship Id="rId37" Type="http://schemas.openxmlformats.org/officeDocument/2006/relationships/slide" Target="slides/slide21.xml"/>
  <Relationship Id="rId38" Type="http://schemas.openxmlformats.org/officeDocument/2006/relationships/slide" Target="slides/slide22.xml"/>
  <Relationship Id="rId39" Type="http://schemas.openxmlformats.org/officeDocument/2006/relationships/slide" Target="slides/slide23.xml"/>
  <Relationship Id="rId40" Type="http://schemas.openxmlformats.org/officeDocument/2006/relationships/slide" Target="slides/slide24.xml"/>
  <Relationship Id="rId41" Type="http://schemas.openxmlformats.org/officeDocument/2006/relationships/slide" Target="slides/slide25.xml"/>
  <Relationship Id="rId42" Type="http://schemas.openxmlformats.org/officeDocument/2006/relationships/slide" Target="slides/slide2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7" name="Google Shape;417;p1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4" name="Google Shape;424;p2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7" name="Google Shape;437;p3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6" name="Google Shape;446;p4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5" name="Google Shape;455;p5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6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7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8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9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9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0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1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1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2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12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3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3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4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4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5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5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6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16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7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7" name="Google Shape;567;p17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8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2" name="Google Shape;572;p18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9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6" name="Google Shape;576;p19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20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2" name="Google Shape;582;p20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3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1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4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4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5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6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6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6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6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6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9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6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7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7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8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9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9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39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9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9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9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42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43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44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6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7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47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7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4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p4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p48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49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9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50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50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5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9" name="Google Shape;199;p51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5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51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52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52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52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52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52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9" name="Google Shape;209;p52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55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56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57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57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9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6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60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60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61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6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62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63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63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6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1" name="Google Shape;251;p64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2" name="Google Shape;252;p6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64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6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6" name="Google Shape;256;p65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65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65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65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0" name="Google Shape;260;p65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1" name="Google Shape;261;p65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6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68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6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69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7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70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70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7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72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7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7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3" name="Google Shape;283;p73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4" name="Google Shape;284;p73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7" name="Google Shape;287;p74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8" name="Google Shape;288;p74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74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7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7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4" name="Google Shape;294;p75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76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76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1" name="Google Shape;301;p77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2" name="Google Shape;302;p77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77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4" name="Google Shape;304;p77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7" name="Google Shape;307;p78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8" name="Google Shape;308;p78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9" name="Google Shape;309;p78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0" name="Google Shape;310;p78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1" name="Google Shape;311;p78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2" name="Google Shape;312;p78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8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9" name="Google Shape;319;p81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2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8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5" name="Google Shape;325;p83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6" name="Google Shape;326;p83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8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85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8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3" name="Google Shape;333;p8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86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6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8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87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9" name="Google Shape;339;p87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87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8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5" name="Google Shape;345;p88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8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8" name="Google Shape;348;p89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89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9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9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9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4" name="Google Shape;354;p90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5" name="Google Shape;355;p90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8" name="Google Shape;358;p91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91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0" name="Google Shape;360;p91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1" name="Google Shape;361;p91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2" name="Google Shape;362;p91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1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9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0" name="Google Shape;370;p94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9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3" name="Google Shape;373;p95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9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6" name="Google Shape;376;p96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7" name="Google Shape;377;p96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9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98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9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4" name="Google Shape;384;p99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5" name="Google Shape;385;p99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6" name="Google Shape;386;p99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0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9" name="Google Shape;389;p100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10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1" name="Google Shape;391;p100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0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4" name="Google Shape;394;p10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101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6" name="Google Shape;396;p101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0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9" name="Google Shape;399;p102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0" name="Google Shape;400;p102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0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3" name="Google Shape;403;p10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4" name="Google Shape;404;p10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5" name="Google Shape;405;p103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6" name="Google Shape;406;p103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0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9" name="Google Shape;409;p104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0" name="Google Shape;410;p104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1" name="Google Shape;411;p104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2" name="Google Shape;412;p104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104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4" name="Google Shape;414;p104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4" Type="http://schemas.openxmlformats.org/officeDocument/2006/relationships/theme" Target="../theme/theme7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35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theme" Target="../theme/theme8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/Relationships>
</file>

<file path=ppt/slideMasters/_rels/slideMaster4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47.xml"/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/Relationships>
</file>

<file path=ppt/slideMasters/_rels/slideMaster5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59.xml"/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6.xml"/><Relationship Id="rId14" Type="http://schemas.openxmlformats.org/officeDocument/2006/relationships/theme" Target="../theme/theme9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/Relationships>
</file>

<file path=ppt/slideMasters/_rels/slideMaster6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1.xml"/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9" Type="http://schemas.openxmlformats.org/officeDocument/2006/relationships/slideLayout" Target="../slideLayouts/slideLayout68.xml"/><Relationship Id="rId14" Type="http://schemas.openxmlformats.org/officeDocument/2006/relationships/theme" Target="../theme/theme4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/Relationships>
</file>

<file path=ppt/slideMasters/_rels/slideMaster7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1.xml"/><Relationship Id="rId13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3.xml"/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9" Type="http://schemas.openxmlformats.org/officeDocument/2006/relationships/slideLayout" Target="../slideLayouts/slideLayout80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/Relationships>
</file>

<file path=ppt/slideMasters/_rels/slideMaster8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4.xml"/><Relationship Id="rId10" Type="http://schemas.openxmlformats.org/officeDocument/2006/relationships/slideLayout" Target="../slideLayouts/slideLayout93.xml"/><Relationship Id="rId13" Type="http://schemas.openxmlformats.org/officeDocument/2006/relationships/slideLayout" Target="../slideLayouts/slideLayout96.xml"/><Relationship Id="rId12" Type="http://schemas.openxmlformats.org/officeDocument/2006/relationships/slideLayout" Target="../slideLayouts/slideLayout95.xml"/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9" Type="http://schemas.openxmlformats.org/officeDocument/2006/relationships/slideLayout" Target="../slideLayouts/slideLayout92.xml"/><Relationship Id="rId14" Type="http://schemas.openxmlformats.org/officeDocument/2006/relationships/theme" Target="../theme/theme6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4558320" y="1248480"/>
            <a:ext cx="7391160" cy="520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/>
          <p:nvPr>
            <p:ph idx="1" type="body"/>
          </p:nvPr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7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0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40"/>
          <p:cNvSpPr txBox="1"/>
          <p:nvPr>
            <p:ph idx="1" type="body"/>
          </p:nvPr>
        </p:nvSpPr>
        <p:spPr>
          <a:xfrm>
            <a:off x="338760" y="1406520"/>
            <a:ext cx="5756760" cy="4669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40"/>
          <p:cNvSpPr txBox="1"/>
          <p:nvPr>
            <p:ph idx="2" type="body"/>
          </p:nvPr>
        </p:nvSpPr>
        <p:spPr>
          <a:xfrm>
            <a:off x="6210360" y="1392120"/>
            <a:ext cx="5592240" cy="468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3"/>
          <p:cNvSpPr txBox="1"/>
          <p:nvPr>
            <p:ph idx="1" type="body"/>
          </p:nvPr>
        </p:nvSpPr>
        <p:spPr>
          <a:xfrm>
            <a:off x="330120" y="1406880"/>
            <a:ext cx="5765400" cy="465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2" name="Google Shape;212;p53"/>
          <p:cNvSpPr txBox="1"/>
          <p:nvPr>
            <p:ph idx="2" type="body"/>
          </p:nvPr>
        </p:nvSpPr>
        <p:spPr>
          <a:xfrm>
            <a:off x="6238800" y="1414440"/>
            <a:ext cx="5444640" cy="465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3" name="Google Shape;213;p53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4" name="Google Shape;264;p66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5" name="Google Shape;315;p79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2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6" name="Google Shape;366;p92"/>
          <p:cNvSpPr txBox="1"/>
          <p:nvPr>
            <p:ph idx="1" type="body"/>
          </p:nvPr>
        </p:nvSpPr>
        <p:spPr>
          <a:xfrm>
            <a:off x="337680" y="1032480"/>
            <a:ext cx="11515320" cy="49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ext&#10;&#10;Description automatically generated" id="419" name="Google Shape;419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2040" y="271440"/>
            <a:ext cx="3174120" cy="115308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105"/>
          <p:cNvSpPr/>
          <p:nvPr/>
        </p:nvSpPr>
        <p:spPr>
          <a:xfrm>
            <a:off x="695520" y="2269440"/>
            <a:ext cx="8251560" cy="84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NLBSE'24 GitHub Issue Classification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05"/>
          <p:cNvSpPr/>
          <p:nvPr/>
        </p:nvSpPr>
        <p:spPr>
          <a:xfrm>
            <a:off x="695525" y="3238955"/>
            <a:ext cx="4329000" cy="13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Pham Tuan Kiet · 20252751M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Nguyen Trung Hieu · 20261059M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Le Ngoc Anh · 20252275M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Nguyen Hoang Nam · 20261081M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Bui Tien Dung · 20261204M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06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Problem: GitHub Issue Classification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06"/>
          <p:cNvSpPr txBox="1"/>
          <p:nvPr/>
        </p:nvSpPr>
        <p:spPr>
          <a:xfrm>
            <a:off x="4553712" y="1234440"/>
            <a:ext cx="722376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Maintainers need to classify issues before prioritizing and assigning them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Manual labeling is time-consuming and can be inconsistent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Issues contain a mix of text, code, stack traces, URLs, and versions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Each repository has its own terminology and templates</a:t>
            </a:r>
            <a:endParaRPr/>
          </a:p>
        </p:txBody>
      </p:sp>
      <p:sp>
        <p:nvSpPr>
          <p:cNvPr id="428" name="Google Shape;428;p106"/>
          <p:cNvSpPr/>
          <p:nvPr/>
        </p:nvSpPr>
        <p:spPr>
          <a:xfrm>
            <a:off x="4553712" y="3840480"/>
            <a:ext cx="210312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Issue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title + body</a:t>
            </a:r>
            <a:endParaRPr/>
          </a:p>
        </p:txBody>
      </p:sp>
      <p:sp>
        <p:nvSpPr>
          <p:cNvPr id="429" name="Google Shape;429;p106"/>
          <p:cNvSpPr txBox="1"/>
          <p:nvPr/>
        </p:nvSpPr>
        <p:spPr>
          <a:xfrm>
            <a:off x="6675120" y="42519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430" name="Google Shape;430;p106"/>
          <p:cNvSpPr/>
          <p:nvPr/>
        </p:nvSpPr>
        <p:spPr>
          <a:xfrm>
            <a:off x="7269480" y="3840480"/>
            <a:ext cx="1828800" cy="13716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Classifier</a:t>
            </a:r>
            <a:endParaRPr/>
          </a:p>
        </p:txBody>
      </p:sp>
      <p:sp>
        <p:nvSpPr>
          <p:cNvPr id="431" name="Google Shape;431;p106"/>
          <p:cNvSpPr txBox="1"/>
          <p:nvPr/>
        </p:nvSpPr>
        <p:spPr>
          <a:xfrm>
            <a:off x="9098280" y="42519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432" name="Google Shape;432;p106"/>
          <p:cNvSpPr/>
          <p:nvPr/>
        </p:nvSpPr>
        <p:spPr>
          <a:xfrm>
            <a:off x="9646920" y="3611880"/>
            <a:ext cx="2148840" cy="493776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 ·  incorrect behavior or defect</a:t>
            </a:r>
            <a:endParaRPr/>
          </a:p>
        </p:txBody>
      </p:sp>
      <p:sp>
        <p:nvSpPr>
          <p:cNvPr id="433" name="Google Shape;433;p106"/>
          <p:cNvSpPr/>
          <p:nvPr/>
        </p:nvSpPr>
        <p:spPr>
          <a:xfrm>
            <a:off x="9646920" y="4178808"/>
            <a:ext cx="2148840" cy="493776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 ·  feature request</a:t>
            </a:r>
            <a:endParaRPr/>
          </a:p>
        </p:txBody>
      </p:sp>
      <p:sp>
        <p:nvSpPr>
          <p:cNvPr id="434" name="Google Shape;434;p106"/>
          <p:cNvSpPr/>
          <p:nvPr/>
        </p:nvSpPr>
        <p:spPr>
          <a:xfrm>
            <a:off x="9646920" y="4745736"/>
            <a:ext cx="2148840" cy="493776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question  ·  question or help request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07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Objectives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07"/>
          <p:cNvSpPr/>
          <p:nvPr/>
        </p:nvSpPr>
        <p:spPr>
          <a:xfrm>
            <a:off x="457200" y="1280160"/>
            <a:ext cx="3611880" cy="24688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1. Model Comparison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From TF-IDF to dense encoders (RoBERTa, SetFit)</a:t>
            </a:r>
            <a:endParaRPr/>
          </a:p>
        </p:txBody>
      </p:sp>
      <p:sp>
        <p:nvSpPr>
          <p:cNvPr id="441" name="Google Shape;441;p107"/>
          <p:cNvSpPr/>
          <p:nvPr/>
        </p:nvSpPr>
        <p:spPr>
          <a:xfrm>
            <a:off x="4297680" y="1280160"/>
            <a:ext cx="3611880" cy="24688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2. Multiple Evaluation Protocols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Repo-specific CV, Pooled CV, LOO, Official Test</a:t>
            </a:r>
            <a:endParaRPr/>
          </a:p>
        </p:txBody>
      </p:sp>
      <p:sp>
        <p:nvSpPr>
          <p:cNvPr id="442" name="Google Shape;442;p107"/>
          <p:cNvSpPr/>
          <p:nvPr/>
        </p:nvSpPr>
        <p:spPr>
          <a:xfrm>
            <a:off x="8138160" y="1280160"/>
            <a:ext cx="3611880" cy="24688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3. Performance and Cost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Consider fitting time, inference time, and implementation complexity</a:t>
            </a:r>
            <a:endParaRPr/>
          </a:p>
        </p:txBody>
      </p:sp>
      <p:sp>
        <p:nvSpPr>
          <p:cNvPr id="443" name="Google Shape;443;p107"/>
          <p:cNvSpPr/>
          <p:nvPr/>
        </p:nvSpPr>
        <p:spPr>
          <a:xfrm>
            <a:off x="457200" y="4114800"/>
            <a:ext cx="11292840" cy="13716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Primary Metric: Macro-F1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Computed per repository and then averaged across 5 repositories; predictions are not pooled across repositories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08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NLBSE'24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08"/>
          <p:cNvSpPr/>
          <p:nvPr/>
        </p:nvSpPr>
        <p:spPr>
          <a:xfrm>
            <a:off x="457200" y="1280160"/>
            <a:ext cx="3383280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1,500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training issues</a:t>
            </a:r>
            <a:endParaRPr/>
          </a:p>
        </p:txBody>
      </p:sp>
      <p:sp>
        <p:nvSpPr>
          <p:cNvPr id="450" name="Google Shape;450;p108"/>
          <p:cNvSpPr/>
          <p:nvPr/>
        </p:nvSpPr>
        <p:spPr>
          <a:xfrm>
            <a:off x="457200" y="2743200"/>
            <a:ext cx="3383280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1,500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official test issues</a:t>
            </a:r>
            <a:endParaRPr/>
          </a:p>
        </p:txBody>
      </p:sp>
      <p:sp>
        <p:nvSpPr>
          <p:cNvPr id="451" name="Google Shape;451;p108"/>
          <p:cNvSpPr/>
          <p:nvPr/>
        </p:nvSpPr>
        <p:spPr>
          <a:xfrm>
            <a:off x="457200" y="4206240"/>
            <a:ext cx="3383280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5 × 3 × 100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repositories × labels × samples per split</a:t>
            </a:r>
            <a:endParaRPr/>
          </a:p>
        </p:txBody>
      </p:sp>
      <p:graphicFrame>
        <p:nvGraphicFramePr>
          <p:cNvPr id="452" name="Google Shape;452;p108"/>
          <p:cNvGraphicFramePr/>
          <p:nvPr/>
        </p:nvGraphicFramePr>
        <p:xfrm>
          <a:off x="420624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{20C0CC1B-E2D0-43D2-8BB6-4390CF16C671}</a:tableStyleId>
              </a:tblPr>
              <a:tblGrid>
                <a:gridCol w="2194550"/>
                <a:gridCol w="5349250"/>
              </a:tblGrid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Property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 / Test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1,500 / 1,500 issue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Repositories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bitcoin, react, vscode, opencv, tensorflow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Labels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bug; feature; question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 balance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 samples per label, per repository, per split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Input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title and body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09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Challenges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09"/>
          <p:cNvSpPr/>
          <p:nvPr/>
        </p:nvSpPr>
        <p:spPr>
          <a:xfrm>
            <a:off x="457200" y="128016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Repository-specific language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Different templates and terminology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Hard to transfer to unseen repositories</a:t>
            </a:r>
            <a:endParaRPr/>
          </a:p>
        </p:txBody>
      </p:sp>
      <p:sp>
        <p:nvSpPr>
          <p:cNvPr id="459" name="Google Shape;459;p109"/>
          <p:cNvSpPr/>
          <p:nvPr/>
        </p:nvSpPr>
        <p:spPr>
          <a:xfrm>
            <a:off x="4297680" y="128016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Duplicate leakage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3 shared normalized keys between train and test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1 pair has conflicting labels</a:t>
            </a:r>
            <a:endParaRPr/>
          </a:p>
        </p:txBody>
      </p:sp>
      <p:sp>
        <p:nvSpPr>
          <p:cNvPr id="460" name="Google Shape;460;p109"/>
          <p:cNvSpPr/>
          <p:nvPr/>
        </p:nvSpPr>
        <p:spPr>
          <a:xfrm>
            <a:off x="8138160" y="128016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Technical content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Code, paths, and version strings are retained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Because they may carry predictive signals</a:t>
            </a:r>
            <a:endParaRPr/>
          </a:p>
        </p:txBody>
      </p:sp>
      <p:sp>
        <p:nvSpPr>
          <p:cNvPr id="461" name="Google Shape;461;p109"/>
          <p:cNvSpPr/>
          <p:nvPr/>
        </p:nvSpPr>
        <p:spPr>
          <a:xfrm>
            <a:off x="45720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Label overlap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Questions can resemble both bugs and features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Feature requests may be phrased as questions</a:t>
            </a:r>
            <a:endParaRPr/>
          </a:p>
        </p:txBody>
      </p:sp>
      <p:sp>
        <p:nvSpPr>
          <p:cNvPr id="462" name="Google Shape;462;p109"/>
          <p:cNvSpPr/>
          <p:nvPr/>
        </p:nvSpPr>
        <p:spPr>
          <a:xfrm>
            <a:off x="429768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Highly skewed text length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Median: 150 words; P95: 536 words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Maximum: 21,595 words → truncation is required</a:t>
            </a:r>
            <a:endParaRPr/>
          </a:p>
        </p:txBody>
      </p:sp>
      <p:sp>
        <p:nvSpPr>
          <p:cNvPr id="463" name="Google Shape;463;p109"/>
          <p:cNvSpPr/>
          <p:nvPr/>
        </p:nvSpPr>
        <p:spPr>
          <a:xfrm>
            <a:off x="813816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Missing data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2 test bodies are missing → replaced with empty strings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CV keeps duplicates in the same fold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10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Three Model Families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10"/>
          <p:cNvSpPr/>
          <p:nvPr/>
        </p:nvSpPr>
        <p:spPr>
          <a:xfrm>
            <a:off x="457200" y="1280160"/>
            <a:ext cx="3611880" cy="3749039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Sparse / Lightweight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TF-IDF + Logistic Regression (baseline)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LinearSVC: word, word + char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Complement NB, Hashed SGD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fastText</a:t>
            </a:r>
            <a:endParaRPr/>
          </a:p>
        </p:txBody>
      </p:sp>
      <p:sp>
        <p:nvSpPr>
          <p:cNvPr id="470" name="Google Shape;470;p110"/>
          <p:cNvSpPr/>
          <p:nvPr/>
        </p:nvSpPr>
        <p:spPr>
          <a:xfrm>
            <a:off x="4297680" y="1280160"/>
            <a:ext cx="3611880" cy="3749039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RoBERTa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RoBERTa-base, max 160 tokens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Full fine-tuning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LoRA: low-rank adapters (r = 48)</a:t>
            </a:r>
            <a:endParaRPr/>
          </a:p>
        </p:txBody>
      </p:sp>
      <p:sp>
        <p:nvSpPr>
          <p:cNvPr id="471" name="Google Shape;471;p110"/>
          <p:cNvSpPr/>
          <p:nvPr/>
        </p:nvSpPr>
        <p:spPr>
          <a:xfrm>
            <a:off x="8138160" y="1280160"/>
            <a:ext cx="3611880" cy="3749039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SetFit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Sentence encoder: MPNet, MiniLM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Few-shot k = 8 / 16 / 32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Contrastive iterations: 5–80</a:t>
            </a:r>
            <a:endParaRPr/>
          </a:p>
        </p:txBody>
      </p:sp>
      <p:sp>
        <p:nvSpPr>
          <p:cNvPr id="472" name="Google Shape;472;p110"/>
          <p:cNvSpPr/>
          <p:nvPr/>
        </p:nvSpPr>
        <p:spPr>
          <a:xfrm>
            <a:off x="457200" y="5212080"/>
            <a:ext cx="11292840" cy="64008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same data and evaluation pipeline is used for all model families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11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Background: Transformer and RoBERTa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ransformer.png" id="478" name="Google Shape;478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71600"/>
            <a:ext cx="5120640" cy="4039340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111"/>
          <p:cNvSpPr txBox="1"/>
          <p:nvPr/>
        </p:nvSpPr>
        <p:spPr>
          <a:xfrm>
            <a:off x="457200" y="54406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Fig. 2.1. Transformer architecture (Vaswani et al.)</a:t>
            </a:r>
            <a:endParaRPr/>
          </a:p>
        </p:txBody>
      </p:sp>
      <p:sp>
        <p:nvSpPr>
          <p:cNvPr id="480" name="Google Shape;480;p111"/>
          <p:cNvSpPr txBox="1"/>
          <p:nvPr/>
        </p:nvSpPr>
        <p:spPr>
          <a:xfrm>
            <a:off x="5943600" y="1234440"/>
            <a:ext cx="58521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Transformer encoder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Self-attention and multi-head attention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Positional information for token order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Feed-forward + residual + normalization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RoBERTa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Optimized BERT pretraining: removes Next Sentence Prediction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Dynamic masking and more pretraining data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Add a classification head and fine-tune on issue data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112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LoRA and SetFit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1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LoRA: learn only low-rank updates</a:t>
            </a:r>
            <a:endParaRPr/>
          </a:p>
        </p:txBody>
      </p:sp>
      <p:sp>
        <p:nvSpPr>
          <p:cNvPr id="487" name="Google Shape;487;p112"/>
          <p:cNvSpPr/>
          <p:nvPr/>
        </p:nvSpPr>
        <p:spPr>
          <a:xfrm>
            <a:off x="457200" y="1920240"/>
            <a:ext cx="1371600" cy="8229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488" name="Google Shape;488;p112"/>
          <p:cNvSpPr/>
          <p:nvPr/>
        </p:nvSpPr>
        <p:spPr>
          <a:xfrm>
            <a:off x="2286000" y="1783080"/>
            <a:ext cx="2011680" cy="822960"/>
          </a:xfrm>
          <a:prstGeom prst="roundRect">
            <a:avLst>
              <a:gd fmla="val 6000" name="adj"/>
            </a:avLst>
          </a:prstGeom>
          <a:solidFill>
            <a:srgbClr val="D5D9E0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W₀ (frozen)</a:t>
            </a:r>
            <a:endParaRPr/>
          </a:p>
        </p:txBody>
      </p:sp>
      <p:sp>
        <p:nvSpPr>
          <p:cNvPr id="489" name="Google Shape;489;p112"/>
          <p:cNvSpPr/>
          <p:nvPr/>
        </p:nvSpPr>
        <p:spPr>
          <a:xfrm>
            <a:off x="2286000" y="2788920"/>
            <a:ext cx="2011680" cy="822960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 · A (trainable)</a:t>
            </a:r>
            <a:endParaRPr/>
          </a:p>
        </p:txBody>
      </p:sp>
      <p:sp>
        <p:nvSpPr>
          <p:cNvPr id="490" name="Google Shape;490;p112"/>
          <p:cNvSpPr txBox="1"/>
          <p:nvPr/>
        </p:nvSpPr>
        <p:spPr>
          <a:xfrm>
            <a:off x="4389120" y="21945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/>
          </a:p>
        </p:txBody>
      </p:sp>
      <p:sp>
        <p:nvSpPr>
          <p:cNvPr id="491" name="Google Shape;491;p112"/>
          <p:cNvSpPr/>
          <p:nvPr/>
        </p:nvSpPr>
        <p:spPr>
          <a:xfrm>
            <a:off x="4846320" y="2011680"/>
            <a:ext cx="1280160" cy="109728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endParaRPr/>
          </a:p>
        </p:txBody>
      </p:sp>
      <p:sp>
        <p:nvSpPr>
          <p:cNvPr id="492" name="Google Shape;492;p112"/>
          <p:cNvSpPr txBox="1"/>
          <p:nvPr/>
        </p:nvSpPr>
        <p:spPr>
          <a:xfrm>
            <a:off x="457200" y="3840480"/>
            <a:ext cx="56692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 = W₀x + BAx, with rank r ≪ matrix dimension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Configuration: rank 48, alpha 96, dropout 0.1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Reduces trainable parameters and memory usage</a:t>
            </a:r>
            <a:endParaRPr/>
          </a:p>
        </p:txBody>
      </p:sp>
      <p:sp>
        <p:nvSpPr>
          <p:cNvPr id="493" name="Google Shape;493;p112"/>
          <p:cNvSpPr txBox="1"/>
          <p:nvPr/>
        </p:nvSpPr>
        <p:spPr>
          <a:xfrm>
            <a:off x="6492240" y="118872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SetFit: two stages</a:t>
            </a:r>
            <a:endParaRPr/>
          </a:p>
        </p:txBody>
      </p:sp>
      <p:sp>
        <p:nvSpPr>
          <p:cNvPr id="494" name="Google Shape;494;p112"/>
          <p:cNvSpPr/>
          <p:nvPr/>
        </p:nvSpPr>
        <p:spPr>
          <a:xfrm>
            <a:off x="6492240" y="182880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Labeled issues</a:t>
            </a:r>
            <a:endParaRPr/>
          </a:p>
        </p:txBody>
      </p:sp>
      <p:sp>
        <p:nvSpPr>
          <p:cNvPr id="495" name="Google Shape;495;p112"/>
          <p:cNvSpPr txBox="1"/>
          <p:nvPr/>
        </p:nvSpPr>
        <p:spPr>
          <a:xfrm>
            <a:off x="8778240" y="2487168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496" name="Google Shape;496;p112"/>
          <p:cNvSpPr/>
          <p:nvPr/>
        </p:nvSpPr>
        <p:spPr>
          <a:xfrm>
            <a:off x="6492240" y="283464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Contrastive fine-tune sentence encoder</a:t>
            </a:r>
            <a:endParaRPr/>
          </a:p>
        </p:txBody>
      </p:sp>
      <p:sp>
        <p:nvSpPr>
          <p:cNvPr id="497" name="Google Shape;497;p112"/>
          <p:cNvSpPr txBox="1"/>
          <p:nvPr/>
        </p:nvSpPr>
        <p:spPr>
          <a:xfrm>
            <a:off x="8778240" y="3493008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498" name="Google Shape;498;p112"/>
          <p:cNvSpPr/>
          <p:nvPr/>
        </p:nvSpPr>
        <p:spPr>
          <a:xfrm>
            <a:off x="6492240" y="384048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Embedding → classification head</a:t>
            </a:r>
            <a:endParaRPr/>
          </a:p>
        </p:txBody>
      </p:sp>
      <p:sp>
        <p:nvSpPr>
          <p:cNvPr id="499" name="Google Shape;499;p112"/>
          <p:cNvSpPr txBox="1"/>
          <p:nvPr/>
        </p:nvSpPr>
        <p:spPr>
          <a:xfrm>
            <a:off x="8778240" y="4498848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500" name="Google Shape;500;p112"/>
          <p:cNvSpPr/>
          <p:nvPr/>
        </p:nvSpPr>
        <p:spPr>
          <a:xfrm>
            <a:off x="6492240" y="484632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/ feature / question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113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Four Evaluation Protocols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31.png" id="506" name="Google Shape;506;p1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37360" y="1143000"/>
            <a:ext cx="8686800" cy="3216105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113"/>
          <p:cNvSpPr/>
          <p:nvPr/>
        </p:nvSpPr>
        <p:spPr>
          <a:xfrm>
            <a:off x="457200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Repo-specific CV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5 folds per repository; duplicates stay in the same fold</a:t>
            </a:r>
            <a:endParaRPr/>
          </a:p>
        </p:txBody>
      </p:sp>
      <p:sp>
        <p:nvSpPr>
          <p:cNvPr id="508" name="Google Shape;508;p113"/>
          <p:cNvSpPr/>
          <p:nvPr/>
        </p:nvSpPr>
        <p:spPr>
          <a:xfrm>
            <a:off x="3310128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Pooled CV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Combine all 5 repositories for training</a:t>
            </a:r>
            <a:endParaRPr/>
          </a:p>
        </p:txBody>
      </p:sp>
      <p:sp>
        <p:nvSpPr>
          <p:cNvPr id="509" name="Google Shape;509;p113"/>
          <p:cNvSpPr/>
          <p:nvPr/>
        </p:nvSpPr>
        <p:spPr>
          <a:xfrm>
            <a:off x="6163056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LOO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 on 1,200 issues from 4 repositories and test on 300 issues from the held-out repository</a:t>
            </a:r>
            <a:endParaRPr/>
          </a:p>
        </p:txBody>
      </p:sp>
      <p:sp>
        <p:nvSpPr>
          <p:cNvPr id="510" name="Google Shape;510;p113"/>
          <p:cNvSpPr/>
          <p:nvPr/>
        </p:nvSpPr>
        <p:spPr>
          <a:xfrm>
            <a:off x="9015984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Official Test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5 separate classifiers, each with 300 training / 300 test issues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14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Pipeline and Contributions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41.png" id="516" name="Google Shape;516;p1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43000"/>
            <a:ext cx="4754880" cy="475488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17" name="Google Shape;517;p114"/>
          <p:cNvGraphicFramePr/>
          <p:nvPr/>
        </p:nvGraphicFramePr>
        <p:xfrm>
          <a:off x="585216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{20C0CC1B-E2D0-43D2-8BB6-4390CF16C671}</a:tableStyleId>
              </a:tblPr>
              <a:tblGrid>
                <a:gridCol w="640075"/>
                <a:gridCol w="2194550"/>
                <a:gridCol w="30632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Contribution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Pham Tuan Kiet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Leader, data, splits, LR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Nguyen Trung Hieu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Sparse models, fastText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 Ngoc Anh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RoBERTa full / LoRA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Nguyen Hoang Nam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SetFit MPNet / MiniLM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 Tien Dung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Integration, ensemble, demo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18" name="Google Shape;518;p114"/>
          <p:cNvSpPr txBox="1"/>
          <p:nvPr/>
        </p:nvSpPr>
        <p:spPr>
          <a:xfrm>
            <a:off x="5852160" y="4480560"/>
            <a:ext cx="58978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vectorizer is fitted only on the training partition to avoid leakage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Interchangeable storage: in-memory, CSV, JSON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115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Baseline: TF-IDF + Logistic Regression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4" name="Google Shape;524;p1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6583680" cy="4663440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115"/>
          <p:cNvSpPr/>
          <p:nvPr/>
        </p:nvSpPr>
        <p:spPr>
          <a:xfrm>
            <a:off x="7406640" y="1280160"/>
            <a:ext cx="434340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+0.0801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Body text improves performance (LOO), 95% CI [0.0484, 0.1120]</a:t>
            </a:r>
            <a:endParaRPr/>
          </a:p>
        </p:txBody>
      </p:sp>
      <p:sp>
        <p:nvSpPr>
          <p:cNvPr id="526" name="Google Shape;526;p115"/>
          <p:cNvSpPr/>
          <p:nvPr/>
        </p:nvSpPr>
        <p:spPr>
          <a:xfrm>
            <a:off x="7406640" y="2834640"/>
            <a:ext cx="434340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0.7636 → 0.5876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CV → LOO: unseen repositories are much harder</a:t>
            </a:r>
            <a:endParaRPr/>
          </a:p>
        </p:txBody>
      </p:sp>
      <p:sp>
        <p:nvSpPr>
          <p:cNvPr id="527" name="Google Shape;527;p115"/>
          <p:cNvSpPr txBox="1"/>
          <p:nvPr/>
        </p:nvSpPr>
        <p:spPr>
          <a:xfrm>
            <a:off x="7406640" y="4389120"/>
            <a:ext cx="4343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Word 1–2 gram, min_df 2, 50,000 features, C = 4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Title-only is an ablation that removes the body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6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Lightweight Models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33" name="Google Shape;533;p116"/>
          <p:cNvGraphicFramePr/>
          <p:nvPr/>
        </p:nvGraphicFramePr>
        <p:xfrm>
          <a:off x="45720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{20C0CC1B-E2D0-43D2-8BB6-4390CF16C671}</a:tableStyleId>
              </a:tblPr>
              <a:tblGrid>
                <a:gridCol w="2926075"/>
                <a:gridCol w="1280150"/>
                <a:gridCol w="1280150"/>
                <a:gridCol w="1280150"/>
              </a:tblGrid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CV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Official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Word LinearSVC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0.7541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0.5898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0.7498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Word + Char LinearSVC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0.7533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0.6003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0.7591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Hashed SGD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0.7030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0.6152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0.7322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Supervised fastText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0.7089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0.5384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0.6896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Complement NB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0.7054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0.4904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0.7108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34" name="Google Shape;534;p116"/>
          <p:cNvSpPr txBox="1"/>
          <p:nvPr/>
        </p:nvSpPr>
        <p:spPr>
          <a:xfrm>
            <a:off x="7589520" y="1280160"/>
            <a:ext cx="420624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Word+Char performs better on LOO and Official, but requires ~8.5× fitting time and ~11.5× inference time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Hashed SGD has the highest LOO score (0.6152) despite a CV score of only 0.7030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Model ranking changes across protocols; each score must be reported with its protocol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17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RoBERTa: Full fine-tuning vs LoRA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0" name="Google Shape;540;p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7315200" cy="4663440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17"/>
          <p:cNvSpPr txBox="1"/>
          <p:nvPr/>
        </p:nvSpPr>
        <p:spPr>
          <a:xfrm>
            <a:off x="8046720" y="1280160"/>
            <a:ext cx="3749039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Mean CV: Full 0.7853, LoRA 0.7800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LoRA performs better on React (+0.0240) and VS Code (+0.0155); Full fine-tuning performs better on TensorFlow (−0.0550)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Pooled CV: Full 0.7924, LoRA 0.7994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two training recipes differ, so the difference cannot be attributed solely to the adapter mechanism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118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SetFit: Data Size and Contrastive Iterations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7" name="Google Shape;547;p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5577840" cy="3566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" name="Google Shape;548;p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920" y="1188720"/>
            <a:ext cx="553212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18"/>
          <p:cNvSpPr txBox="1"/>
          <p:nvPr/>
        </p:nvSpPr>
        <p:spPr>
          <a:xfrm>
            <a:off x="457200" y="4892040"/>
            <a:ext cx="11292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MPNet reaches 0.7953 vs MiniLM 0.7881, but MiniLM fits faster (55.1s vs 145.4s)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Fewer labeled samples clearly reduce performance; 5 iterations are nearly as good as 80 while costing ~12× less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19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Overall Comparison (repo-specific CV)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5" name="Google Shape;555;p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6949440" cy="466344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119"/>
          <p:cNvSpPr/>
          <p:nvPr/>
        </p:nvSpPr>
        <p:spPr>
          <a:xfrm>
            <a:off x="7772400" y="1280160"/>
            <a:ext cx="3977639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+0.0317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MPNet − LR, 95% CI [0.0085, 0.0557]</a:t>
            </a:r>
            <a:endParaRPr/>
          </a:p>
        </p:txBody>
      </p:sp>
      <p:sp>
        <p:nvSpPr>
          <p:cNvPr id="557" name="Google Shape;557;p119"/>
          <p:cNvSpPr/>
          <p:nvPr/>
        </p:nvSpPr>
        <p:spPr>
          <a:xfrm>
            <a:off x="7772400" y="2743200"/>
            <a:ext cx="3977639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0.7885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Hard vote of LR + MPNet performs below MPNet alone</a:t>
            </a:r>
            <a:endParaRPr/>
          </a:p>
        </p:txBody>
      </p:sp>
      <p:sp>
        <p:nvSpPr>
          <p:cNvPr id="558" name="Google Shape;558;p119"/>
          <p:cNvSpPr txBox="1"/>
          <p:nvPr/>
        </p:nvSpPr>
        <p:spPr>
          <a:xfrm>
            <a:off x="7772400" y="4206240"/>
            <a:ext cx="3977639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Pooled CV is reported separately: LoRA 0.7994, Full 0.7924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Do not directly rank results across different protocols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20"/>
          <p:cNvSpPr txBox="1"/>
          <p:nvPr/>
        </p:nvSpPr>
        <p:spPr>
          <a:xfrm>
            <a:off x="4553712" y="1188720"/>
            <a:ext cx="722376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body is more informative than the title; transfer to unseen repositories is difficult (0.7636 → 0.5876)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Dense models achieve the strongest CV results, but the gains are moderate; sparse models remain suitable when simplicity and low cost matter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number of seeds is inconsistent; CV estimates may be optimistic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Resource measurements were collected on different hardware across model families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Evaluate more pretrained models under LOO and use consistent repeated seeds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Measure resources on a single hardware setup and add class-level error analysis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121"/>
          <p:cNvSpPr/>
          <p:nvPr/>
        </p:nvSpPr>
        <p:spPr>
          <a:xfrm>
            <a:off x="5756400" y="2824200"/>
            <a:ext cx="5136480" cy="970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THANK YOU !</a:t>
            </a:r>
            <a:endParaRPr b="0" i="0" sz="6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23"/>
          <p:cNvSpPr/>
          <p:nvPr/>
        </p:nvSpPr>
        <p:spPr>
          <a:xfrm>
            <a:off x="3209400" y="2164680"/>
            <a:ext cx="360" cy="360"/>
          </a:xfrm>
          <a:custGeom>
            <a:rect b="b" l="l" r="r" t="t"/>
            <a:pathLst>
              <a:path extrusionOk="0" h="1" w="1"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23"/>
          <p:cNvSpPr txBox="1"/>
          <p:nvPr/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24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24"/>
          <p:cNvSpPr txBox="1"/>
          <p:nvPr/>
        </p:nvSpPr>
        <p:spPr>
          <a:xfrm>
            <a:off x="337680" y="1032480"/>
            <a:ext cx="11515320" cy="49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1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1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1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1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2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2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2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2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3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3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3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3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4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4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4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4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5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5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5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5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6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6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6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6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