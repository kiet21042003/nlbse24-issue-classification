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4" r:id="rId4"/>
    <p:sldMasterId id="2147483745" r:id="rId5"/>
    <p:sldMasterId id="2147483746" r:id="rId6"/>
    <p:sldMasterId id="2147483747" r:id="rId7"/>
    <p:sldMasterId id="2147483748" r:id="rId8"/>
    <p:sldMasterId id="2147483749" r:id="rId9"/>
    <p:sldMasterId id="2147483750" r:id="rId10"/>
    <p:sldMasterId id="2147483751" r:id="rId11"/>
  </p:sldMasterIdLst>
  <p:notesMasterIdLst>
    <p:notesMasterId r:id="rId12"/>
  </p:notesMasterIdLst>
  <p:sldIdLst>
    <p:sldId id="256" r:id="rId13"/>
    <p:sldId id="276" r:id="rId37"/>
    <p:sldId id="277" r:id="rId38"/>
    <p:sldId id="257" r:id="rId14"/>
    <p:sldId id="258" r:id="rId15"/>
    <p:sldId id="278" r:id="rId39"/>
    <p:sldId id="259" r:id="rId16"/>
    <p:sldId id="260" r:id="rId17"/>
    <p:sldId id="279" r:id="rId40"/>
    <p:sldId id="261" r:id="rId18"/>
    <p:sldId id="262" r:id="rId19"/>
    <p:sldId id="263" r:id="rId20"/>
    <p:sldId id="264" r:id="rId21"/>
    <p:sldId id="265" r:id="rId22"/>
    <p:sldId id="280" r:id="rId41"/>
    <p:sldId id="266" r:id="rId23"/>
    <p:sldId id="267" r:id="rId24"/>
    <p:sldId id="268" r:id="rId25"/>
    <p:sldId id="269" r:id="rId26"/>
    <p:sldId id="270" r:id="rId27"/>
    <p:sldId id="281" r:id="rId42"/>
    <p:sldId id="271" r:id="rId28"/>
    <p:sldId id="272" r:id="rId29"/>
    <p:sldId id="273" r:id="rId30"/>
  </p:sldIdLst>
  <p:sldSz cy="6858000" cx="12192000"/>
  <p:notesSz cx="7559675" cy="10691800"/>
  <p:embeddedFontLst>
    <p:embeddedFont>
      <p:font typeface="La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C0CC1B-E2D0-43D2-8BB6-4390CF16C671}">
  <a:tblStyle styleId="{20C0CC1B-E2D0-43D2-8BB6-4390CF16C67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7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0" Type="http://schemas.openxmlformats.org/officeDocument/2006/relationships/slideMaster" Target="slideMasters/slideMaster7.xml"/><Relationship Id="rId11" Type="http://schemas.openxmlformats.org/officeDocument/2006/relationships/slideMaster" Target="slideMasters/slideMaster8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3" Type="http://schemas.openxmlformats.org/officeDocument/2006/relationships/font" Target="fonts/Lato-regular.fntdata"/><Relationship Id="rId34" Type="http://schemas.openxmlformats.org/officeDocument/2006/relationships/font" Target="fonts/Lato-bold.fntdata"/><Relationship Id="rId35" Type="http://schemas.openxmlformats.org/officeDocument/2006/relationships/font" Target="fonts/Lato-italic.fntdata"/><Relationship Id="rId36" Type="http://schemas.openxmlformats.org/officeDocument/2006/relationships/font" Target="fonts/Lato-boldItalic.fntdata"/><Relationship Id="rId37" Type="http://schemas.openxmlformats.org/officeDocument/2006/relationships/slide" Target="slides/slide2.xml"/><Relationship Id="rId38" Type="http://schemas.openxmlformats.org/officeDocument/2006/relationships/slide" Target="slides/slide3.xml"/><Relationship Id="rId39" Type="http://schemas.openxmlformats.org/officeDocument/2006/relationships/slide" Target="slides/slide6.xml"/><Relationship Id="rId40" Type="http://schemas.openxmlformats.org/officeDocument/2006/relationships/slide" Target="slides/slide9.xml"/><Relationship Id="rId41" Type="http://schemas.openxmlformats.org/officeDocument/2006/relationships/slide" Target="slides/slide15.xml"/><Relationship Id="rId42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7" name="Google Shape;417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4" name="Google Shape;424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7" name="Google Shape;437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6" name="Google Shape;446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5" name="Google Shape;455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7" name="Google Shape;567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2" name="Google Shape;572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9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0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1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1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3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5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6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6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6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7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7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8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9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9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9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9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9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9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42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43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44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4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6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7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47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7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4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4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8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4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9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50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50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5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5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51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51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2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52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52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52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52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52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55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6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57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7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9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6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60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60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61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6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61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6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6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62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63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63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6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6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64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64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65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65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65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65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65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65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68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69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70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70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2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7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73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73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74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7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74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7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7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75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76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76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7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77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77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77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77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7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78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78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78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78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78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78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81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82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83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83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8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85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86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8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86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8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87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87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87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8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8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8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88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8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89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89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9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9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90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90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9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91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91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91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91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91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91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9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94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9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9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9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96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9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9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8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9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9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99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99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0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100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10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100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0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10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0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101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0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102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102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0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10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10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103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103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0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104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104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104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104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104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104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theme" Target="../theme/theme7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theme" Target="../theme/theme1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theme" Target="../theme/theme8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<Relationship Id="rId14" Type="http://schemas.openxmlformats.org/officeDocument/2006/relationships/theme" Target="../theme/theme2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<Relationship Id="rId14" Type="http://schemas.openxmlformats.org/officeDocument/2006/relationships/theme" Target="../theme/theme9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<Relationship Id="rId14" Type="http://schemas.openxmlformats.org/officeDocument/2006/relationships/theme" Target="../theme/theme4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<Relationship Id="rId14" Type="http://schemas.openxmlformats.org/officeDocument/2006/relationships/theme" Target="../theme/theme3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<Relationship Id="rId1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4558320" y="1248480"/>
            <a:ext cx="7391160" cy="520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4558320" y="404280"/>
            <a:ext cx="739116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/>
          <p:nvPr>
            <p:ph idx="1" type="body"/>
          </p:nvPr>
        </p:nvSpPr>
        <p:spPr>
          <a:xfrm>
            <a:off x="338760" y="1058760"/>
            <a:ext cx="1151424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7"/>
          <p:cNvSpPr txBox="1"/>
          <p:nvPr>
            <p:ph type="title"/>
          </p:nvPr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0"/>
          <p:cNvSpPr txBox="1"/>
          <p:nvPr>
            <p:ph type="title"/>
          </p:nvPr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40"/>
          <p:cNvSpPr txBox="1"/>
          <p:nvPr>
            <p:ph idx="1" type="body"/>
          </p:nvPr>
        </p:nvSpPr>
        <p:spPr>
          <a:xfrm>
            <a:off x="338760" y="1406520"/>
            <a:ext cx="5756760" cy="4669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40"/>
          <p:cNvSpPr txBox="1"/>
          <p:nvPr>
            <p:ph idx="2" type="body"/>
          </p:nvPr>
        </p:nvSpPr>
        <p:spPr>
          <a:xfrm>
            <a:off x="6210360" y="1392120"/>
            <a:ext cx="5592240" cy="468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3"/>
          <p:cNvSpPr txBox="1"/>
          <p:nvPr>
            <p:ph idx="1" type="body"/>
          </p:nvPr>
        </p:nvSpPr>
        <p:spPr>
          <a:xfrm>
            <a:off x="330120" y="1406880"/>
            <a:ext cx="5765400" cy="4655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2" name="Google Shape;212;p53"/>
          <p:cNvSpPr txBox="1"/>
          <p:nvPr>
            <p:ph idx="2" type="body"/>
          </p:nvPr>
        </p:nvSpPr>
        <p:spPr>
          <a:xfrm>
            <a:off x="6238800" y="1414440"/>
            <a:ext cx="5444640" cy="465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3" name="Google Shape;213;p53"/>
          <p:cNvSpPr txBox="1"/>
          <p:nvPr>
            <p:ph type="title"/>
          </p:nvPr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4" name="Google Shape;264;p66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5" name="Google Shape;315;p79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92"/>
          <p:cNvSpPr txBox="1"/>
          <p:nvPr>
            <p:ph type="title"/>
          </p:nvPr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6" name="Google Shape;366;p92"/>
          <p:cNvSpPr txBox="1"/>
          <p:nvPr>
            <p:ph idx="1" type="body"/>
          </p:nvPr>
        </p:nvSpPr>
        <p:spPr>
          <a:xfrm>
            <a:off x="337680" y="1032480"/>
            <a:ext cx="11515320" cy="49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419" name="Google Shape;419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040" y="271440"/>
            <a:ext cx="3174120" cy="11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05"/>
          <p:cNvSpPr/>
          <p:nvPr/>
        </p:nvSpPr>
        <p:spPr>
          <a:xfrm>
            <a:off x="695520" y="2269440"/>
            <a:ext cx="8251560" cy="84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NLBSE'24 GitHub Issue Classification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1" name="Subtitle"/>
          <p:cNvSpPr/>
          <p:nvPr/>
        </p:nvSpPr>
        <p:spPr>
          <a:xfrm>
            <a:off x="695525" y="3150000"/>
            <a:ext cx="825156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>Seminar 2 · AI for Software Engineering (AI4SE)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05"/>
          <p:cNvSpPr/>
          <p:nvPr/>
        </p:nvSpPr>
        <p:spPr>
          <a:xfrm>
            <a:off x="695525" y="3650000"/>
            <a:ext cx="43290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Pham Tuan Kiet · 20252751M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Nguyen Trung Hieu · 20261059M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Le Ngoc Anh · 20252275M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Nguyen Hoang Nam · 20261081M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Bui Tien Dung · 20261204M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20"/>
          <p:cNvSpPr txBox="1"/>
          <p:nvPr/>
        </p:nvSpPr>
        <p:spPr>
          <a:xfrm>
            <a:off x="4558320" y="404280"/>
            <a:ext cx="739116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Section I."/>
          <p:cNvSpPr/>
          <p:nvPr/>
        </p:nvSpPr>
        <p:spPr>
          <a:xfrm>
            <a:off x="4553712" y="1188720"/>
            <a:ext cx="7223760" cy="860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I.  </a:t>
            </a:r>
            <a:r>
              <a:rPr b="1" i="0" lang="en-US" sz="22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Problem and project objectives</a:t>
            </a:r>
          </a:p>
        </p:txBody>
      </p:sp>
      <p:sp>
        <p:nvSpPr>
          <p:cNvPr id="911" name="Section II."/>
          <p:cNvSpPr/>
          <p:nvPr/>
        </p:nvSpPr>
        <p:spPr>
          <a:xfrm>
            <a:off x="4553712" y="2168720"/>
            <a:ext cx="7223760" cy="860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II.  </a:t>
            </a:r>
            <a:r>
              <a:rPr b="1" i="0" lang="en-US" sz="22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NLBSE'24 data and its challenges</a:t>
            </a:r>
          </a:p>
        </p:txBody>
      </p:sp>
      <p:sp>
        <p:nvSpPr>
          <p:cNvPr id="912" name="Section III."/>
          <p:cNvSpPr/>
          <p:nvPr/>
        </p:nvSpPr>
        <p:spPr>
          <a:xfrm>
            <a:off x="4553712" y="3148720"/>
            <a:ext cx="7223760" cy="860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III.  </a:t>
            </a:r>
            <a:r>
              <a:rPr b="1" i="0" lang="en-US" sz="22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Model families, background, evaluation protocols, pipeline</a:t>
            </a:r>
          </a:p>
        </p:txBody>
      </p:sp>
      <p:sp>
        <p:nvSpPr>
          <p:cNvPr id="913" name="Section IV."/>
          <p:cNvSpPr/>
          <p:nvPr/>
        </p:nvSpPr>
        <p:spPr>
          <a:xfrm>
            <a:off x="4553712" y="4128720"/>
            <a:ext cx="7223760" cy="860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IV.  </a:t>
            </a:r>
            <a:r>
              <a:rPr b="1" i="0" lang="en-US" sz="22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Experiments &amp; Results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Baseline, lightweight models, RoBERTa, SetFit, comparison</a:t>
            </a:r>
          </a:p>
        </p:txBody>
      </p:sp>
      <p:sp>
        <p:nvSpPr>
          <p:cNvPr id="914" name="Section V."/>
          <p:cNvSpPr/>
          <p:nvPr/>
        </p:nvSpPr>
        <p:spPr>
          <a:xfrm>
            <a:off x="4553712" y="5108720"/>
            <a:ext cx="7223760" cy="860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V.  </a:t>
            </a:r>
            <a:r>
              <a:rPr b="1" i="0" lang="en-US" sz="22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Key findings, limitations,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20"/>
          <p:cNvSpPr txBox="1"/>
          <p:nvPr/>
        </p:nvSpPr>
        <p:spPr>
          <a:xfrm>
            <a:off x="4558320" y="404280"/>
            <a:ext cx="739116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Section I."/>
          <p:cNvSpPr/>
          <p:nvPr/>
        </p:nvSpPr>
        <p:spPr>
          <a:xfrm>
            <a:off x="4553712" y="1188720"/>
            <a:ext cx="7223760" cy="860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I.  </a:t>
            </a:r>
            <a:r>
              <a:rPr b="1" i="0" lang="en-US" sz="22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Problem and project objectives</a:t>
            </a:r>
          </a:p>
        </p:txBody>
      </p:sp>
      <p:sp>
        <p:nvSpPr>
          <p:cNvPr id="921" name="Section II."/>
          <p:cNvSpPr/>
          <p:nvPr/>
        </p:nvSpPr>
        <p:spPr>
          <a:xfrm>
            <a:off x="4553712" y="216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NLBSE'24 data and its challenges</a:t>
            </a:r>
          </a:p>
        </p:txBody>
      </p:sp>
      <p:sp>
        <p:nvSpPr>
          <p:cNvPr id="922" name="Section III."/>
          <p:cNvSpPr/>
          <p:nvPr/>
        </p:nvSpPr>
        <p:spPr>
          <a:xfrm>
            <a:off x="4553712" y="314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III.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Model families, background, evaluation protocols, pipeline</a:t>
            </a:r>
          </a:p>
        </p:txBody>
      </p:sp>
      <p:sp>
        <p:nvSpPr>
          <p:cNvPr id="923" name="Section IV."/>
          <p:cNvSpPr/>
          <p:nvPr/>
        </p:nvSpPr>
        <p:spPr>
          <a:xfrm>
            <a:off x="4553712" y="412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IV.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Experiments &amp; Results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Baseline, lightweight models, RoBERTa, SetFit, comparison</a:t>
            </a:r>
          </a:p>
        </p:txBody>
      </p:sp>
      <p:sp>
        <p:nvSpPr>
          <p:cNvPr id="924" name="Section V."/>
          <p:cNvSpPr/>
          <p:nvPr/>
        </p:nvSpPr>
        <p:spPr>
          <a:xfrm>
            <a:off x="4553712" y="510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Key findings, limitations, future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06"/>
          <p:cNvSpPr txBox="1"/>
          <p:nvPr/>
        </p:nvSpPr>
        <p:spPr>
          <a:xfrm>
            <a:off x="4558320" y="404280"/>
            <a:ext cx="739116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Problem: GitHub Issue Classification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6"/>
          <p:cNvSpPr txBox="1"/>
          <p:nvPr/>
        </p:nvSpPr>
        <p:spPr>
          <a:xfrm>
            <a:off x="4553712" y="1234440"/>
            <a:ext cx="72237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Maintainers need to classify issues before prioritizing and assigning them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Manual labeling is time-consuming and can be inconsistent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Issues contain a mix of text, code, stack traces, URLs, and versions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Each repository has its own terminology and templates</a:t>
            </a:r>
            <a:endParaRPr/>
          </a:p>
        </p:txBody>
      </p:sp>
      <p:sp>
        <p:nvSpPr>
          <p:cNvPr id="428" name="Google Shape;428;p106"/>
          <p:cNvSpPr/>
          <p:nvPr/>
        </p:nvSpPr>
        <p:spPr>
          <a:xfrm>
            <a:off x="4553712" y="3840480"/>
            <a:ext cx="2103120" cy="137160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Issue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title + body</a:t>
            </a:r>
            <a:endParaRPr/>
          </a:p>
        </p:txBody>
      </p:sp>
      <p:sp>
        <p:nvSpPr>
          <p:cNvPr id="429" name="Google Shape;429;p106"/>
          <p:cNvSpPr txBox="1"/>
          <p:nvPr/>
        </p:nvSpPr>
        <p:spPr>
          <a:xfrm>
            <a:off x="6675120" y="42519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430" name="Google Shape;430;p106"/>
          <p:cNvSpPr/>
          <p:nvPr/>
        </p:nvSpPr>
        <p:spPr>
          <a:xfrm>
            <a:off x="7269480" y="3840480"/>
            <a:ext cx="1828800" cy="1371600"/>
          </a:xfrm>
          <a:prstGeom prst="roundRect">
            <a:avLst>
              <a:gd fmla="val 6000" name="adj"/>
            </a:avLst>
          </a:prstGeom>
          <a:solidFill>
            <a:srgbClr val="0B2E63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Classifier</a:t>
            </a:r>
            <a:endParaRPr/>
          </a:p>
        </p:txBody>
      </p:sp>
      <p:sp>
        <p:nvSpPr>
          <p:cNvPr id="431" name="Google Shape;431;p106"/>
          <p:cNvSpPr txBox="1"/>
          <p:nvPr/>
        </p:nvSpPr>
        <p:spPr>
          <a:xfrm>
            <a:off x="9098280" y="42519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432" name="Google Shape;432;p106"/>
          <p:cNvSpPr/>
          <p:nvPr/>
        </p:nvSpPr>
        <p:spPr>
          <a:xfrm>
            <a:off x="9646920" y="3611880"/>
            <a:ext cx="2148840" cy="493776"/>
          </a:xfrm>
          <a:prstGeom prst="roundRect">
            <a:avLst>
              <a:gd fmla="val 6000" name="adj"/>
            </a:avLst>
          </a:prstGeom>
          <a:solidFill>
            <a:srgbClr val="BE1E2D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  ·  incorrect behavior or defect</a:t>
            </a:r>
            <a:endParaRPr/>
          </a:p>
        </p:txBody>
      </p:sp>
      <p:sp>
        <p:nvSpPr>
          <p:cNvPr id="433" name="Google Shape;433;p106"/>
          <p:cNvSpPr/>
          <p:nvPr/>
        </p:nvSpPr>
        <p:spPr>
          <a:xfrm>
            <a:off x="9646920" y="4178808"/>
            <a:ext cx="2148840" cy="493776"/>
          </a:xfrm>
          <a:prstGeom prst="roundRect">
            <a:avLst>
              <a:gd fmla="val 6000" name="adj"/>
            </a:avLst>
          </a:prstGeom>
          <a:solidFill>
            <a:srgbClr val="BE1E2D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 ·  feature request</a:t>
            </a:r>
            <a:endParaRPr/>
          </a:p>
        </p:txBody>
      </p:sp>
      <p:sp>
        <p:nvSpPr>
          <p:cNvPr id="434" name="Google Shape;434;p106"/>
          <p:cNvSpPr/>
          <p:nvPr/>
        </p:nvSpPr>
        <p:spPr>
          <a:xfrm>
            <a:off x="9646920" y="4745736"/>
            <a:ext cx="2148840" cy="493776"/>
          </a:xfrm>
          <a:prstGeom prst="roundRect">
            <a:avLst>
              <a:gd fmla="val 6000" name="adj"/>
            </a:avLst>
          </a:prstGeom>
          <a:solidFill>
            <a:srgbClr val="BE1E2D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  ·  question or help request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07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7"/>
          <p:cNvSpPr/>
          <p:nvPr/>
        </p:nvSpPr>
        <p:spPr>
          <a:xfrm>
            <a:off x="457200" y="1280160"/>
            <a:ext cx="3611880" cy="246888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1. Model Comparison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From TF-IDF to dense encoders (RoBERTa, SetFit)</a:t>
            </a:r>
            <a:endParaRPr/>
          </a:p>
        </p:txBody>
      </p:sp>
      <p:sp>
        <p:nvSpPr>
          <p:cNvPr id="441" name="Google Shape;441;p107"/>
          <p:cNvSpPr/>
          <p:nvPr/>
        </p:nvSpPr>
        <p:spPr>
          <a:xfrm>
            <a:off x="4297680" y="1280160"/>
            <a:ext cx="3611880" cy="246888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2. Multiple Evaluation Protocols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Repo-specific CV, Pooled CV, LOO, Official Test</a:t>
            </a:r>
            <a:endParaRPr/>
          </a:p>
        </p:txBody>
      </p:sp>
      <p:sp>
        <p:nvSpPr>
          <p:cNvPr id="442" name="Google Shape;442;p107"/>
          <p:cNvSpPr/>
          <p:nvPr/>
        </p:nvSpPr>
        <p:spPr>
          <a:xfrm>
            <a:off x="8138160" y="1280160"/>
            <a:ext cx="3611880" cy="246888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3. Performance and Cost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Consider fitting time, inference time, and implementation complexity</a:t>
            </a:r>
            <a:endParaRPr/>
          </a:p>
        </p:txBody>
      </p:sp>
      <p:sp>
        <p:nvSpPr>
          <p:cNvPr id="443" name="Google Shape;443;p107"/>
          <p:cNvSpPr/>
          <p:nvPr/>
        </p:nvSpPr>
        <p:spPr>
          <a:xfrm>
            <a:off x="457200" y="4114800"/>
            <a:ext cx="11292840" cy="1371600"/>
          </a:xfrm>
          <a:prstGeom prst="roundRect">
            <a:avLst>
              <a:gd fmla="val 6000" name="adj"/>
            </a:avLst>
          </a:prstGeom>
          <a:solidFill>
            <a:srgbClr val="0B2E63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Metric: Macro-F1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Computed per repository and then averaged across 5 repositories; predictions are not pooled across repositories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20"/>
          <p:cNvSpPr txBox="1"/>
          <p:nvPr/>
        </p:nvSpPr>
        <p:spPr>
          <a:xfrm>
            <a:off x="4558320" y="404280"/>
            <a:ext cx="739116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Section I."/>
          <p:cNvSpPr/>
          <p:nvPr/>
        </p:nvSpPr>
        <p:spPr>
          <a:xfrm>
            <a:off x="4553712" y="118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Problem and project objectives</a:t>
            </a:r>
          </a:p>
        </p:txBody>
      </p:sp>
      <p:sp>
        <p:nvSpPr>
          <p:cNvPr id="931" name="Section II."/>
          <p:cNvSpPr/>
          <p:nvPr/>
        </p:nvSpPr>
        <p:spPr>
          <a:xfrm>
            <a:off x="4553712" y="2168720"/>
            <a:ext cx="7223760" cy="860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II.  </a:t>
            </a:r>
            <a:r>
              <a:rPr b="1" i="0" lang="en-US" sz="22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NLBSE'24 data and its challenges</a:t>
            </a:r>
          </a:p>
        </p:txBody>
      </p:sp>
      <p:sp>
        <p:nvSpPr>
          <p:cNvPr id="932" name="Section III."/>
          <p:cNvSpPr/>
          <p:nvPr/>
        </p:nvSpPr>
        <p:spPr>
          <a:xfrm>
            <a:off x="4553712" y="314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III.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Model families, background, evaluation protocols, pipeline</a:t>
            </a:r>
          </a:p>
        </p:txBody>
      </p:sp>
      <p:sp>
        <p:nvSpPr>
          <p:cNvPr id="933" name="Section IV."/>
          <p:cNvSpPr/>
          <p:nvPr/>
        </p:nvSpPr>
        <p:spPr>
          <a:xfrm>
            <a:off x="4553712" y="412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IV.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Experiments &amp; Results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Baseline, lightweight models, RoBERTa, SetFit, comparison</a:t>
            </a:r>
          </a:p>
        </p:txBody>
      </p:sp>
      <p:sp>
        <p:nvSpPr>
          <p:cNvPr id="934" name="Section V."/>
          <p:cNvSpPr/>
          <p:nvPr/>
        </p:nvSpPr>
        <p:spPr>
          <a:xfrm>
            <a:off x="4553712" y="510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Key findings, limitations, future 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08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NLBSE'24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8"/>
          <p:cNvSpPr/>
          <p:nvPr/>
        </p:nvSpPr>
        <p:spPr>
          <a:xfrm>
            <a:off x="457200" y="1280160"/>
            <a:ext cx="3383280" cy="128016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1,500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training issues</a:t>
            </a:r>
            <a:endParaRPr/>
          </a:p>
        </p:txBody>
      </p:sp>
      <p:sp>
        <p:nvSpPr>
          <p:cNvPr id="450" name="Google Shape;450;p108"/>
          <p:cNvSpPr/>
          <p:nvPr/>
        </p:nvSpPr>
        <p:spPr>
          <a:xfrm>
            <a:off x="457200" y="2743200"/>
            <a:ext cx="3383280" cy="128016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1,500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official test issues</a:t>
            </a:r>
            <a:endParaRPr/>
          </a:p>
        </p:txBody>
      </p:sp>
      <p:sp>
        <p:nvSpPr>
          <p:cNvPr id="451" name="Google Shape;451;p108"/>
          <p:cNvSpPr/>
          <p:nvPr/>
        </p:nvSpPr>
        <p:spPr>
          <a:xfrm>
            <a:off x="457200" y="4206240"/>
            <a:ext cx="3383280" cy="128016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5 × 3 × 100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repositories × labels × samples per split</a:t>
            </a:r>
            <a:endParaRPr/>
          </a:p>
        </p:txBody>
      </p:sp>
      <p:graphicFrame>
        <p:nvGraphicFramePr>
          <p:cNvPr id="452" name="Google Shape;452;p108"/>
          <p:cNvGraphicFramePr/>
          <p:nvPr/>
        </p:nvGraphicFramePr>
        <p:xfrm>
          <a:off x="4206240" y="1280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{20C0CC1B-E2D0-43D2-8BB6-4390CF16C671}</a:tableStyleId>
              </a:tblPr>
              <a:tblGrid>
                <a:gridCol w="2194550"/>
                <a:gridCol w="5349250"/>
              </a:tblGrid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Property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B2E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B2E63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 / Test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1,500 / 1,500 issue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Repositories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bitcoin, react, vscode, opencv, tensorflow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Labels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bug; feature; question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 balance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 samples per label, per repository, per split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title and body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09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Challenges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09"/>
          <p:cNvSpPr/>
          <p:nvPr/>
        </p:nvSpPr>
        <p:spPr>
          <a:xfrm>
            <a:off x="457200" y="1280160"/>
            <a:ext cx="3611880" cy="214884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Repository-specific language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Different templates and terminology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Hard to transfer to unseen repositories</a:t>
            </a:r>
            <a:endParaRPr/>
          </a:p>
        </p:txBody>
      </p:sp>
      <p:sp>
        <p:nvSpPr>
          <p:cNvPr id="459" name="Google Shape;459;p109"/>
          <p:cNvSpPr/>
          <p:nvPr/>
        </p:nvSpPr>
        <p:spPr>
          <a:xfrm>
            <a:off x="4297680" y="1280160"/>
            <a:ext cx="3611880" cy="214884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Duplicate leakage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 shared normalized keys between train and test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 pair has conflicting labels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CV keeps identical texts in the same fold</a:t>
            </a:r>
            <a:endParaRPr/>
          </a:p>
        </p:txBody>
      </p:sp>
      <p:sp>
        <p:nvSpPr>
          <p:cNvPr id="460" name="Google Shape;460;p109"/>
          <p:cNvSpPr/>
          <p:nvPr/>
        </p:nvSpPr>
        <p:spPr>
          <a:xfrm>
            <a:off x="8138160" y="1280160"/>
            <a:ext cx="3611880" cy="214884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Technical content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Code, paths, and version strings are retained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Because they may carry predictive signals</a:t>
            </a:r>
            <a:endParaRPr/>
          </a:p>
        </p:txBody>
      </p:sp>
      <p:sp>
        <p:nvSpPr>
          <p:cNvPr id="461" name="Google Shape;461;p109"/>
          <p:cNvSpPr/>
          <p:nvPr/>
        </p:nvSpPr>
        <p:spPr>
          <a:xfrm>
            <a:off x="457200" y="3657600"/>
            <a:ext cx="3611880" cy="214884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Label overlap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Questions can resemble both bugs and features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Feature requests may be phrased as questions</a:t>
            </a:r>
            <a:endParaRPr/>
          </a:p>
        </p:txBody>
      </p:sp>
      <p:sp>
        <p:nvSpPr>
          <p:cNvPr id="462" name="Google Shape;462;p109"/>
          <p:cNvSpPr/>
          <p:nvPr/>
        </p:nvSpPr>
        <p:spPr>
          <a:xfrm>
            <a:off x="4297680" y="3657600"/>
            <a:ext cx="3611880" cy="214884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Highly skewed text length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Train median: 150 words; P95: 536 words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Train maximum: 21,595 words → truncation is required</a:t>
            </a:r>
            <a:endParaRPr/>
          </a:p>
        </p:txBody>
      </p:sp>
      <p:sp>
        <p:nvSpPr>
          <p:cNvPr id="463" name="Google Shape;463;p109"/>
          <p:cNvSpPr/>
          <p:nvPr/>
        </p:nvSpPr>
        <p:spPr>
          <a:xfrm>
            <a:off x="8138160" y="3657600"/>
            <a:ext cx="3611880" cy="214884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Missing data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 test bodies are missing → replaced with empty strings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Train has no missing bodies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20"/>
          <p:cNvSpPr txBox="1"/>
          <p:nvPr/>
        </p:nvSpPr>
        <p:spPr>
          <a:xfrm>
            <a:off x="4558320" y="404280"/>
            <a:ext cx="739116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Section I."/>
          <p:cNvSpPr/>
          <p:nvPr/>
        </p:nvSpPr>
        <p:spPr>
          <a:xfrm>
            <a:off x="4553712" y="118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Problem and project objectives</a:t>
            </a:r>
          </a:p>
        </p:txBody>
      </p:sp>
      <p:sp>
        <p:nvSpPr>
          <p:cNvPr id="941" name="Section II."/>
          <p:cNvSpPr/>
          <p:nvPr/>
        </p:nvSpPr>
        <p:spPr>
          <a:xfrm>
            <a:off x="4553712" y="216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NLBSE'24 data and its challenges</a:t>
            </a:r>
          </a:p>
        </p:txBody>
      </p:sp>
      <p:sp>
        <p:nvSpPr>
          <p:cNvPr id="942" name="Section III."/>
          <p:cNvSpPr/>
          <p:nvPr/>
        </p:nvSpPr>
        <p:spPr>
          <a:xfrm>
            <a:off x="4553712" y="3148720"/>
            <a:ext cx="7223760" cy="860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III.  </a:t>
            </a:r>
            <a:r>
              <a:rPr b="1" i="0" lang="en-US" sz="22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Model families, background, evaluation protocols, pipeline</a:t>
            </a:r>
          </a:p>
        </p:txBody>
      </p:sp>
      <p:sp>
        <p:nvSpPr>
          <p:cNvPr id="943" name="Section IV."/>
          <p:cNvSpPr/>
          <p:nvPr/>
        </p:nvSpPr>
        <p:spPr>
          <a:xfrm>
            <a:off x="4553712" y="412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IV.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Experiments &amp; Results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Baseline, lightweight models, RoBERTa, SetFit, comparison</a:t>
            </a:r>
          </a:p>
        </p:txBody>
      </p:sp>
      <p:sp>
        <p:nvSpPr>
          <p:cNvPr id="944" name="Section V."/>
          <p:cNvSpPr/>
          <p:nvPr/>
        </p:nvSpPr>
        <p:spPr>
          <a:xfrm>
            <a:off x="4553712" y="510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Key findings, limitations, future 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10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Model Families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0"/>
          <p:cNvSpPr/>
          <p:nvPr/>
        </p:nvSpPr>
        <p:spPr>
          <a:xfrm>
            <a:off x="457200" y="1280160"/>
            <a:ext cx="3611880" cy="325000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Sparse / Lightweight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TF-IDF + Logistic Regression (baseline)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LinearSVC: word, word + char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Complement NB, Hashed SGD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fastText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Evaluated under CV, LOO, and Official Test</a:t>
            </a:r>
            <a:endParaRPr/>
          </a:p>
        </p:txBody>
      </p:sp>
      <p:sp>
        <p:nvSpPr>
          <p:cNvPr id="470" name="Google Shape;470;p110"/>
          <p:cNvSpPr/>
          <p:nvPr/>
        </p:nvSpPr>
        <p:spPr>
          <a:xfrm>
            <a:off x="4297680" y="1280160"/>
            <a:ext cx="3611880" cy="325000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RoBERTa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RoBERTa-base, max 160 tokens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Full fine-tuning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LoRA: low-rank adapters (r = 48)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Repo-specific CV and pooled CV</a:t>
            </a:r>
            <a:endParaRPr/>
          </a:p>
        </p:txBody>
      </p:sp>
      <p:sp>
        <p:nvSpPr>
          <p:cNvPr id="471" name="Google Shape;471;p110"/>
          <p:cNvSpPr/>
          <p:nvPr/>
        </p:nvSpPr>
        <p:spPr>
          <a:xfrm>
            <a:off x="8138160" y="1280160"/>
            <a:ext cx="3611880" cy="325000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SetFit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Sentence encoder: MPNet, MiniLM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Few-shot k = 8 / 16 / 32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Contrastive iterations: 5–80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Data-size and iteration ablations</a:t>
            </a:r>
            <a:endParaRPr/>
          </a:p>
        </p:txBody>
      </p:sp>
      <p:sp>
        <p:nvSpPr>
          <p:cNvPr id="472" name="Google Shape;472;p110"/>
          <p:cNvSpPr/>
          <p:nvPr/>
        </p:nvSpPr>
        <p:spPr>
          <a:xfrm>
            <a:off x="457200" y="4720000"/>
            <a:ext cx="11292840" cy="640080"/>
          </a:xfrm>
          <a:prstGeom prst="roundRect">
            <a:avLst>
              <a:gd fmla="val 6000" name="adj"/>
            </a:avLst>
          </a:prstGeom>
          <a:solidFill>
            <a:srgbClr val="0B2E63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same data and evaluation pipeline is used for all model families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11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Background: Transformer and RoBERTa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ansformer.png" id="478" name="Google Shape;478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5120640" cy="403934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11"/>
          <p:cNvSpPr txBox="1"/>
          <p:nvPr/>
        </p:nvSpPr>
        <p:spPr>
          <a:xfrm>
            <a:off x="457200" y="54406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Fig. 2.1. Transformer architecture (Vaswani et al.)</a:t>
            </a:r>
            <a:endParaRPr/>
          </a:p>
        </p:txBody>
      </p:sp>
      <p:sp>
        <p:nvSpPr>
          <p:cNvPr id="480" name="Google Shape;480;p111"/>
          <p:cNvSpPr txBox="1"/>
          <p:nvPr/>
        </p:nvSpPr>
        <p:spPr>
          <a:xfrm>
            <a:off x="5943600" y="1234440"/>
            <a:ext cx="585216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Transformer encoder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Self-attention and multi-head attention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Positional information for token order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Feed-forward + residual + normalization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RoBERTa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Optimized BERT pretraining: removes Next Sentence Prediction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Dynamic masking and more pretraining data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Add a classification head and fine-tune on issue data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12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LoRA and SetFit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LoRA: learn only low-rank updates</a:t>
            </a:r>
            <a:endParaRPr/>
          </a:p>
        </p:txBody>
      </p:sp>
      <p:sp>
        <p:nvSpPr>
          <p:cNvPr id="487" name="Google Shape;487;p112"/>
          <p:cNvSpPr/>
          <p:nvPr/>
        </p:nvSpPr>
        <p:spPr>
          <a:xfrm>
            <a:off x="457200" y="1920240"/>
            <a:ext cx="1371600" cy="82296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488" name="Google Shape;488;p112"/>
          <p:cNvSpPr/>
          <p:nvPr/>
        </p:nvSpPr>
        <p:spPr>
          <a:xfrm>
            <a:off x="2286000" y="1783080"/>
            <a:ext cx="2011680" cy="822960"/>
          </a:xfrm>
          <a:prstGeom prst="roundRect">
            <a:avLst>
              <a:gd fmla="val 6000" name="adj"/>
            </a:avLst>
          </a:prstGeom>
          <a:solidFill>
            <a:srgbClr val="D5D9E0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W₀ (frozen)</a:t>
            </a:r>
            <a:endParaRPr/>
          </a:p>
        </p:txBody>
      </p:sp>
      <p:sp>
        <p:nvSpPr>
          <p:cNvPr id="489" name="Google Shape;489;p112"/>
          <p:cNvSpPr/>
          <p:nvPr/>
        </p:nvSpPr>
        <p:spPr>
          <a:xfrm>
            <a:off x="2286000" y="2788920"/>
            <a:ext cx="2011680" cy="822960"/>
          </a:xfrm>
          <a:prstGeom prst="roundRect">
            <a:avLst>
              <a:gd fmla="val 6000" name="adj"/>
            </a:avLst>
          </a:prstGeom>
          <a:solidFill>
            <a:srgbClr val="BE1E2D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 · A (trainable)</a:t>
            </a:r>
            <a:endParaRPr/>
          </a:p>
        </p:txBody>
      </p:sp>
      <p:sp>
        <p:nvSpPr>
          <p:cNvPr id="490" name="Google Shape;490;p112"/>
          <p:cNvSpPr txBox="1"/>
          <p:nvPr/>
        </p:nvSpPr>
        <p:spPr>
          <a:xfrm>
            <a:off x="4389120" y="21945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</p:txBody>
      </p:sp>
      <p:sp>
        <p:nvSpPr>
          <p:cNvPr id="491" name="Google Shape;491;p112"/>
          <p:cNvSpPr/>
          <p:nvPr/>
        </p:nvSpPr>
        <p:spPr>
          <a:xfrm>
            <a:off x="4846320" y="2011680"/>
            <a:ext cx="1280160" cy="1097280"/>
          </a:xfrm>
          <a:prstGeom prst="roundRect">
            <a:avLst>
              <a:gd fmla="val 6000" name="adj"/>
            </a:avLst>
          </a:prstGeom>
          <a:solidFill>
            <a:srgbClr val="0B2E63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/>
          </a:p>
        </p:txBody>
      </p:sp>
      <p:sp>
        <p:nvSpPr>
          <p:cNvPr id="492" name="Google Shape;492;p112"/>
          <p:cNvSpPr txBox="1"/>
          <p:nvPr/>
        </p:nvSpPr>
        <p:spPr>
          <a:xfrm>
            <a:off x="457200" y="3840480"/>
            <a:ext cx="56692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 = W₀x + BAx, with rank r ≪ matrix dimension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Configuration: rank 48, alpha 96, dropout 0.1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Reduces trainable parameters and memory usage</a:t>
            </a:r>
            <a:endParaRPr/>
          </a:p>
        </p:txBody>
      </p:sp>
      <p:sp>
        <p:nvSpPr>
          <p:cNvPr id="493" name="Google Shape;493;p112"/>
          <p:cNvSpPr txBox="1"/>
          <p:nvPr/>
        </p:nvSpPr>
        <p:spPr>
          <a:xfrm>
            <a:off x="6492240" y="118872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SetFit: two stages</a:t>
            </a:r>
            <a:endParaRPr/>
          </a:p>
        </p:txBody>
      </p:sp>
      <p:sp>
        <p:nvSpPr>
          <p:cNvPr id="494" name="Google Shape;494;p112"/>
          <p:cNvSpPr/>
          <p:nvPr/>
        </p:nvSpPr>
        <p:spPr>
          <a:xfrm>
            <a:off x="6492240" y="1828800"/>
            <a:ext cx="5303520" cy="68580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Labeled issues</a:t>
            </a:r>
            <a:endParaRPr/>
          </a:p>
        </p:txBody>
      </p:sp>
      <p:sp>
        <p:nvSpPr>
          <p:cNvPr id="495" name="Google Shape;495;p112"/>
          <p:cNvSpPr txBox="1"/>
          <p:nvPr/>
        </p:nvSpPr>
        <p:spPr>
          <a:xfrm>
            <a:off x="8778240" y="2487168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496" name="Google Shape;496;p112"/>
          <p:cNvSpPr/>
          <p:nvPr/>
        </p:nvSpPr>
        <p:spPr>
          <a:xfrm>
            <a:off x="6492240" y="2834640"/>
            <a:ext cx="5303520" cy="685800"/>
          </a:xfrm>
          <a:prstGeom prst="roundRect">
            <a:avLst>
              <a:gd fmla="val 6000" name="adj"/>
            </a:avLst>
          </a:prstGeom>
          <a:solidFill>
            <a:srgbClr val="0B2E63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Contrastive fine-tune sentence encoder</a:t>
            </a:r>
            <a:endParaRPr/>
          </a:p>
        </p:txBody>
      </p:sp>
      <p:sp>
        <p:nvSpPr>
          <p:cNvPr id="497" name="Google Shape;497;p112"/>
          <p:cNvSpPr txBox="1"/>
          <p:nvPr/>
        </p:nvSpPr>
        <p:spPr>
          <a:xfrm>
            <a:off x="8778240" y="3493008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498" name="Google Shape;498;p112"/>
          <p:cNvSpPr/>
          <p:nvPr/>
        </p:nvSpPr>
        <p:spPr>
          <a:xfrm>
            <a:off x="6492240" y="3840480"/>
            <a:ext cx="5303520" cy="685800"/>
          </a:xfrm>
          <a:prstGeom prst="roundRect">
            <a:avLst>
              <a:gd fmla="val 6000" name="adj"/>
            </a:avLst>
          </a:prstGeom>
          <a:solidFill>
            <a:srgbClr val="0B2E63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Embedding → classification head</a:t>
            </a:r>
            <a:endParaRPr/>
          </a:p>
        </p:txBody>
      </p:sp>
      <p:sp>
        <p:nvSpPr>
          <p:cNvPr id="499" name="Google Shape;499;p112"/>
          <p:cNvSpPr txBox="1"/>
          <p:nvPr/>
        </p:nvSpPr>
        <p:spPr>
          <a:xfrm>
            <a:off x="8778240" y="4498848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500" name="Google Shape;500;p112"/>
          <p:cNvSpPr/>
          <p:nvPr/>
        </p:nvSpPr>
        <p:spPr>
          <a:xfrm>
            <a:off x="6492240" y="4846320"/>
            <a:ext cx="5303520" cy="685800"/>
          </a:xfrm>
          <a:prstGeom prst="roundRect">
            <a:avLst>
              <a:gd fmla="val 6000" name="adj"/>
            </a:avLst>
          </a:prstGeom>
          <a:solidFill>
            <a:srgbClr val="BE1E2D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 / feature / question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13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Four Evaluation Protocols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31.png" id="506" name="Google Shape;506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360" y="1143000"/>
            <a:ext cx="8686800" cy="321610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13"/>
          <p:cNvSpPr/>
          <p:nvPr/>
        </p:nvSpPr>
        <p:spPr>
          <a:xfrm>
            <a:off x="457200" y="4526280"/>
            <a:ext cx="2724912" cy="137160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Repo-specific CV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5 folds per repository; duplicates stay in the same fold</a:t>
            </a:r>
            <a:endParaRPr/>
          </a:p>
        </p:txBody>
      </p:sp>
      <p:sp>
        <p:nvSpPr>
          <p:cNvPr id="508" name="Google Shape;508;p113"/>
          <p:cNvSpPr/>
          <p:nvPr/>
        </p:nvSpPr>
        <p:spPr>
          <a:xfrm>
            <a:off x="3310128" y="4526280"/>
            <a:ext cx="2724912" cy="137160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Pooled CV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Train on the pooled training folds of all 5 repositories; held-out folds are used only for evaluation</a:t>
            </a:r>
            <a:endParaRPr/>
          </a:p>
        </p:txBody>
      </p:sp>
      <p:sp>
        <p:nvSpPr>
          <p:cNvPr id="509" name="Google Shape;509;p113"/>
          <p:cNvSpPr/>
          <p:nvPr/>
        </p:nvSpPr>
        <p:spPr>
          <a:xfrm>
            <a:off x="6163056" y="4526280"/>
            <a:ext cx="2724912" cy="137160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LOO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Train on 1,200 official-train issues from 4 repositories; test on 300 issues from the held-out repository</a:t>
            </a:r>
            <a:endParaRPr/>
          </a:p>
        </p:txBody>
      </p:sp>
      <p:sp>
        <p:nvSpPr>
          <p:cNvPr id="510" name="Google Shape;510;p113"/>
          <p:cNvSpPr/>
          <p:nvPr/>
        </p:nvSpPr>
        <p:spPr>
          <a:xfrm>
            <a:off x="9015984" y="4526280"/>
            <a:ext cx="2724912" cy="137160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Official Test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5 separate classifiers, each with 300 training / 300 test issues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14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Pipeline and Contributions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41.png" id="516" name="Google Shape;516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43000"/>
            <a:ext cx="4754880" cy="47548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7" name="Google Shape;517;p114"/>
          <p:cNvGraphicFramePr/>
          <p:nvPr/>
        </p:nvGraphicFramePr>
        <p:xfrm>
          <a:off x="5852160" y="1280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{20C0CC1B-E2D0-43D2-8BB6-4390CF16C671}</a:tableStyleId>
              </a:tblPr>
              <a:tblGrid>
                <a:gridCol w="640075"/>
                <a:gridCol w="2194550"/>
                <a:gridCol w="30632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B2E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B2E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Contribution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B2E63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Pham Tuan Kiet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Leader, data, splits, LR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Nguyen Trung Hieu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Sparse models, fastText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 Ngoc Anh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RoBERTa full / LoRA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Nguyen Hoang Nam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SetFit MPNet / MiniLM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 Tien Dung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Evaluation, ensemble, demo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518" name="Google Shape;518;p114"/>
          <p:cNvSpPr txBox="1"/>
          <p:nvPr/>
        </p:nvSpPr>
        <p:spPr>
          <a:xfrm>
            <a:off x="5852160" y="4480560"/>
            <a:ext cx="5897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vectorizer is fitted only on the training partition to avoid leakage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Interchangeable storage: in-memory, CSV, JSON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20"/>
          <p:cNvSpPr txBox="1"/>
          <p:nvPr/>
        </p:nvSpPr>
        <p:spPr>
          <a:xfrm>
            <a:off x="4558320" y="404280"/>
            <a:ext cx="739116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Section I."/>
          <p:cNvSpPr/>
          <p:nvPr/>
        </p:nvSpPr>
        <p:spPr>
          <a:xfrm>
            <a:off x="4553712" y="118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Problem and project objectives</a:t>
            </a:r>
          </a:p>
        </p:txBody>
      </p:sp>
      <p:sp>
        <p:nvSpPr>
          <p:cNvPr id="951" name="Section II."/>
          <p:cNvSpPr/>
          <p:nvPr/>
        </p:nvSpPr>
        <p:spPr>
          <a:xfrm>
            <a:off x="4553712" y="216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NLBSE'24 data and its challenges</a:t>
            </a:r>
          </a:p>
        </p:txBody>
      </p:sp>
      <p:sp>
        <p:nvSpPr>
          <p:cNvPr id="952" name="Section III."/>
          <p:cNvSpPr/>
          <p:nvPr/>
        </p:nvSpPr>
        <p:spPr>
          <a:xfrm>
            <a:off x="4553712" y="314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III.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Model families, background, evaluation protocols, pipeline</a:t>
            </a:r>
          </a:p>
        </p:txBody>
      </p:sp>
      <p:sp>
        <p:nvSpPr>
          <p:cNvPr id="953" name="Section IV."/>
          <p:cNvSpPr/>
          <p:nvPr/>
        </p:nvSpPr>
        <p:spPr>
          <a:xfrm>
            <a:off x="4553712" y="4128720"/>
            <a:ext cx="7223760" cy="860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IV.  </a:t>
            </a:r>
            <a:r>
              <a:rPr b="1" i="0" lang="en-US" sz="22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Experiments &amp; Results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Baseline, lightweight models, RoBERTa, SetFit, comparison</a:t>
            </a:r>
          </a:p>
        </p:txBody>
      </p:sp>
      <p:sp>
        <p:nvSpPr>
          <p:cNvPr id="954" name="Section V."/>
          <p:cNvSpPr/>
          <p:nvPr/>
        </p:nvSpPr>
        <p:spPr>
          <a:xfrm>
            <a:off x="4553712" y="510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Key findings, limitations, future work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15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Baseline: TF-IDF + Logistic Regression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8" name="Picture 527" descr="Bar chart: Macro-F1 of TF-IDF + Logistic Regression with title+body vs title only, under CV and LO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168" y="1188720"/>
            <a:ext cx="6423743" cy="4663440"/>
          </a:xfrm>
          <a:prstGeom prst="rect">
            <a:avLst/>
          </a:prstGeom>
        </p:spPr>
      </p:pic>
      <p:sp>
        <p:nvSpPr>
          <p:cNvPr id="525" name="Google Shape;525;p115"/>
          <p:cNvSpPr/>
          <p:nvPr/>
        </p:nvSpPr>
        <p:spPr>
          <a:xfrm>
            <a:off x="7406640" y="1280160"/>
            <a:ext cx="4343400" cy="137160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+0.0801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Title + body vs title only (LOO), paired bootstrap 95% CI [0.0484, 0.1120]</a:t>
            </a:r>
            <a:endParaRPr/>
          </a:p>
        </p:txBody>
      </p:sp>
      <p:sp>
        <p:nvSpPr>
          <p:cNvPr id="526" name="Google Shape;526;p115"/>
          <p:cNvSpPr/>
          <p:nvPr/>
        </p:nvSpPr>
        <p:spPr>
          <a:xfrm>
            <a:off x="7406640" y="2834640"/>
            <a:ext cx="4343400" cy="137160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0.7636 → 0.5876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CV → LOO: unseen repositories are much harder (training data also changes)</a:t>
            </a:r>
            <a:endParaRPr/>
          </a:p>
        </p:txBody>
      </p:sp>
      <p:sp>
        <p:nvSpPr>
          <p:cNvPr id="527" name="Google Shape;527;p115"/>
          <p:cNvSpPr txBox="1"/>
          <p:nvPr/>
        </p:nvSpPr>
        <p:spPr>
          <a:xfrm>
            <a:off x="7406640" y="4389120"/>
            <a:ext cx="4343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Word 1–2 gram, min_df 2, 50,000 features, C = 4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Title-only is an ablation that removes the body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CI uses fixed predictions: excludes training variability and new-repository uncertainty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16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Lightweight Models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3" name="Google Shape;533;p116"/>
          <p:cNvGraphicFramePr/>
          <p:nvPr/>
        </p:nvGraphicFramePr>
        <p:xfrm>
          <a:off x="457200" y="1280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{20C0CC1B-E2D0-43D2-8BB6-4390CF16C671}</a:tableStyleId>
              </a:tblPr>
              <a:tblGrid>
                <a:gridCol w="2926075"/>
                <a:gridCol w="1280150"/>
                <a:gridCol w="1280150"/>
                <a:gridCol w="128015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B2E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B2E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B2E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Official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B2E63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Word LinearSVC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0.7541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0.5898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0.7498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Word + Char LinearSVC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0.7533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0.6003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0.7591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Hashed SGD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0.7030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0.6152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0.7322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Supervised fastText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0.7089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0.5384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0.6896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Complement NB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0.7054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0.4904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0.7108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534" name="Google Shape;534;p116"/>
          <p:cNvSpPr txBox="1"/>
          <p:nvPr/>
        </p:nvSpPr>
        <p:spPr>
          <a:xfrm>
            <a:off x="7589520" y="128016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Word+Char beats Word-only on LOO and Official, but needs ~8.5× the fitting time and ~11.5× the inference time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Hashed SGD has the highest LOO score (0.6152) despite a CV score of only 0.7030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Model ranking changes across protocols; each score must be reported with its protocol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17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RoBERTa: Full fine-tuning vs LoRA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2" name="Picture 541" descr="Dot plot: Macro-F1 by repository for RoBERTa full fine-tuning vs LoR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28622"/>
            <a:ext cx="7315200" cy="4583635"/>
          </a:xfrm>
          <a:prstGeom prst="rect">
            <a:avLst/>
          </a:prstGeom>
        </p:spPr>
      </p:pic>
      <p:sp>
        <p:nvSpPr>
          <p:cNvPr id="541" name="Google Shape;541;p117"/>
          <p:cNvSpPr txBox="1"/>
          <p:nvPr/>
        </p:nvSpPr>
        <p:spPr>
          <a:xfrm>
            <a:off x="8046720" y="1280160"/>
            <a:ext cx="3749039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Repo-specific CV mean: Full 0.7853, LoRA 0.7800 (LoRA − Full = −0.0052)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LoRA − Full by repository: React +0.0240, VS Code +0.0155, TensorFlow −0.0550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Pooled CV (reported separately): Full 0.7924, LoRA 0.7994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two training recipes differ, so the difference cannot be attributed solely to the adapter mechanism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18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SetFit: Data Size and Contrastive Iterations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0" name="Picture 549" descr="Line chart: SetFit MPNet Macro-F1 by samples per clas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662" y="1188720"/>
            <a:ext cx="5462915" cy="3566160"/>
          </a:xfrm>
          <a:prstGeom prst="rect">
            <a:avLst/>
          </a:prstGeom>
        </p:spPr>
      </p:pic>
      <p:pic>
        <p:nvPicPr>
          <p:cNvPr id="551" name="Picture 550" descr="Bar chart: SetFit MPNet fit time by contrastive iteration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4699" y="1188720"/>
            <a:ext cx="5118561" cy="3566160"/>
          </a:xfrm>
          <a:prstGeom prst="rect">
            <a:avLst/>
          </a:prstGeom>
        </p:spPr>
      </p:pic>
      <p:sp>
        <p:nvSpPr>
          <p:cNvPr id="549" name="Google Shape;549;p118"/>
          <p:cNvSpPr txBox="1"/>
          <p:nvPr/>
        </p:nvSpPr>
        <p:spPr>
          <a:xfrm>
            <a:off x="457200" y="4892040"/>
            <a:ext cx="11292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MPNet reaches 0.7953 vs MiniLM 0.7881, but MiniLM fits faster: 55.1 s vs 145.4 s (mean per run)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Fewer labeled samples clearly reduce performance; 5 iterations are nearly as good as 80 (0.7976 vs 0.7970) at ~12× lower fit time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19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Overall Comparison (repo-specific CV)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9" name="Picture 558" descr="Dot plot: repo-specific CV Macro-F1 of the main models and the LR+MPNet hard vo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94899"/>
            <a:ext cx="6949440" cy="4051082"/>
          </a:xfrm>
          <a:prstGeom prst="rect">
            <a:avLst/>
          </a:prstGeom>
        </p:spPr>
      </p:pic>
      <p:sp>
        <p:nvSpPr>
          <p:cNvPr id="556" name="Google Shape;556;p119"/>
          <p:cNvSpPr/>
          <p:nvPr/>
        </p:nvSpPr>
        <p:spPr>
          <a:xfrm>
            <a:off x="7772400" y="1280160"/>
            <a:ext cx="3977639" cy="128016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+0.0317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MPNet − LR, paired bootstrap 95% CI [0.0085, 0.0557]</a:t>
            </a:r>
            <a:endParaRPr/>
          </a:p>
        </p:txBody>
      </p:sp>
      <p:sp>
        <p:nvSpPr>
          <p:cNvPr id="557" name="Google Shape;557;p119"/>
          <p:cNvSpPr/>
          <p:nvPr/>
        </p:nvSpPr>
        <p:spPr>
          <a:xfrm>
            <a:off x="7772400" y="2743200"/>
            <a:ext cx="3977639" cy="1280160"/>
          </a:xfrm>
          <a:prstGeom prst="roundRect">
            <a:avLst>
              <a:gd fmla="val 6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73150" lIns="137150" spcFirstLastPara="1" rIns="137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0.7885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Hard vote of LR + MPNet is below MPNet alone (0.7953)</a:t>
            </a:r>
            <a:endParaRPr/>
          </a:p>
        </p:txBody>
      </p:sp>
      <p:sp>
        <p:nvSpPr>
          <p:cNvPr id="558" name="Google Shape;558;p119"/>
          <p:cNvSpPr txBox="1"/>
          <p:nvPr/>
        </p:nvSpPr>
        <p:spPr>
          <a:xfrm>
            <a:off x="7772400" y="4206240"/>
            <a:ext cx="3977639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CIs condition on fixed predictions: no training variability, no new-repository uncertainty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Pooled CV is reported separately: LoRA 0.7994, Full 0.7924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 not rank results across different protocols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20"/>
          <p:cNvSpPr txBox="1"/>
          <p:nvPr/>
        </p:nvSpPr>
        <p:spPr>
          <a:xfrm>
            <a:off x="4558320" y="404280"/>
            <a:ext cx="739116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Section I."/>
          <p:cNvSpPr/>
          <p:nvPr/>
        </p:nvSpPr>
        <p:spPr>
          <a:xfrm>
            <a:off x="4553712" y="118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Problem and project objectives</a:t>
            </a:r>
          </a:p>
        </p:txBody>
      </p:sp>
      <p:sp>
        <p:nvSpPr>
          <p:cNvPr id="961" name="Section II."/>
          <p:cNvSpPr/>
          <p:nvPr/>
        </p:nvSpPr>
        <p:spPr>
          <a:xfrm>
            <a:off x="4553712" y="216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NLBSE'24 data and its challenges</a:t>
            </a:r>
          </a:p>
        </p:txBody>
      </p:sp>
      <p:sp>
        <p:nvSpPr>
          <p:cNvPr id="962" name="Section III."/>
          <p:cNvSpPr/>
          <p:nvPr/>
        </p:nvSpPr>
        <p:spPr>
          <a:xfrm>
            <a:off x="4553712" y="314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III.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Model families, background, evaluation protocols, pipeline</a:t>
            </a:r>
          </a:p>
        </p:txBody>
      </p:sp>
      <p:sp>
        <p:nvSpPr>
          <p:cNvPr id="963" name="Section IV."/>
          <p:cNvSpPr/>
          <p:nvPr/>
        </p:nvSpPr>
        <p:spPr>
          <a:xfrm>
            <a:off x="4553712" y="4128720"/>
            <a:ext cx="7223760" cy="860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IV.  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Experiments &amp; Results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Baseline, lightweight models, RoBERTa, SetFit, comparison</a:t>
            </a:r>
          </a:p>
        </p:txBody>
      </p:sp>
      <p:sp>
        <p:nvSpPr>
          <p:cNvPr id="964" name="Section V."/>
          <p:cNvSpPr/>
          <p:nvPr/>
        </p:nvSpPr>
        <p:spPr>
          <a:xfrm>
            <a:off x="4553712" y="5108720"/>
            <a:ext cx="7223760" cy="860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E1E2D"/>
                </a:solidFill>
                <a:latin typeface="Calibri"/>
                <a:ea typeface="Calibri"/>
                <a:cs typeface="Calibri"/>
                <a:sym typeface="Calibri"/>
              </a:rPr>
              <a:t>V.  </a:t>
            </a:r>
            <a:r>
              <a:rPr b="1" i="0" lang="en-US" sz="22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Key findings, limitations, future work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20"/>
          <p:cNvSpPr txBox="1"/>
          <p:nvPr/>
        </p:nvSpPr>
        <p:spPr>
          <a:xfrm>
            <a:off x="4558320" y="404280"/>
            <a:ext cx="739116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20"/>
          <p:cNvSpPr txBox="1"/>
          <p:nvPr/>
        </p:nvSpPr>
        <p:spPr>
          <a:xfrm>
            <a:off x="4553712" y="1188720"/>
            <a:ext cx="722376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body is more informative than the title; transfer to unseen repositories is difficult (LR: 0.7636 CV → 0.5876 LOO)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Dense models achieve the strongest CV results (SetFit MPNet 0.7953 vs LR 0.7636), but the gains are moderate; sparse models remain suitable when simplicity and low cost matter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hard-vote ensemble of LR + MPNet (0.7885) does not outperform MPNet alone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Seed counts differ across model families, and configurations were selected on CV, so CV scores may be optimistic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Hardware and measurement conditions are not documented, so cost results are descriptive, not a controlled Pareto comparison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B2E63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Evaluate more pretrained models under LOO with consistent repeated seeds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Benchmark cost on one documented hardware setup and extend class-level error analysis beyond Logistic Regression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21"/>
          <p:cNvSpPr/>
          <p:nvPr/>
        </p:nvSpPr>
        <p:spPr>
          <a:xfrm>
            <a:off x="5756400" y="2824200"/>
            <a:ext cx="5136480" cy="970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THANK YOU !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